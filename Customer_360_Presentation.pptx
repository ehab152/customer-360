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4.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5.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6B5C60"/>
                </a:solidFill>
                <a:latin typeface="Calibri"/>
              </a:defRPr>
            </a:pPr>
            <a:r>
              <a:rPr sz="1200" b="0" i="0" u="none" strike="noStrike">
                <a:solidFill>
                  <a:srgbClr val="6B5C60"/>
                </a:solidFill>
                <a:latin typeface="Calibri"/>
              </a:rPr>
              <a:t>Revenue by month (£ thousands)</a:t>
            </a:r>
          </a:p>
        </c:rich>
      </c:tx>
      <c:layout/>
      <c:overlay val="0"/>
    </c:title>
    <c:autoTitleDeleted val="0"/>
    <c:plotArea>
      <c:layout/>
      <c:lineChart>
        <c:varyColors val="0"/>
        <c:ser>
          <c:idx val="0"/>
          <c:order val="0"/>
          <c:tx>
            <c:strRef>
              <c:f>Sheet1!$B$1</c:f>
              <c:strCache>
                <c:ptCount val="1"/>
                <c:pt idx="0">
                  <c:v>Monthly revenue (£)</c:v>
                </c:pt>
              </c:strCache>
            </c:strRef>
          </c:tx>
          <c:spPr>
            <a:solidFill>
              <a:srgbClr val="6D2E46"/>
            </a:solidFill>
            <a:ln w="38100" cap="flat">
              <a:solidFill>
                <a:srgbClr val="6D2E46"/>
              </a:solidFill>
              <a:prstDash val="solid"/>
              <a:round/>
            </a:ln>
            <a:effectLst/>
          </c:spPr>
          <c:invertIfNegative val="0"/>
          <c:dLbls>
            <c:numFmt formatCode="#,##0" sourceLinked="0"/>
            <c:txPr>
              <a:bodyPr/>
              <a:lstStyle/>
              <a:p>
                <a:pPr>
                  <a:defRPr b="0" i="0" strike="noStrike" sz="900" u="none">
                    <a:solidFill>
                      <a:srgbClr val="2B2124"/>
                    </a:solidFill>
                    <a:latin typeface="Calibri"/>
                  </a:defRPr>
                </a:pPr>
              </a:p>
            </c:txPr>
            <c:showLegendKey val="0"/>
            <c:showVal val="0"/>
            <c:showCatName val="0"/>
            <c:showSerName val="0"/>
            <c:showPercent val="0"/>
            <c:showBubbleSize val="0"/>
            <c:showLeaderLines val="0"/>
          </c:dLbls>
          <c:marker>
            <c:symbol val="circle"/>
            <c:size val="6"/>
            <c:spPr>
              <a:solidFill>
                <a:srgbClr val="6D2E46"/>
              </a:solidFill>
              <a:ln w="9525" cap="flat">
                <a:solidFill>
                  <a:srgbClr val="6D2E46"/>
                </a:solidFill>
                <a:prstDash val="solid"/>
                <a:round/>
              </a:ln>
              <a:effectLst/>
            </c:spPr>
          </c:marker>
          <c:cat>
            <c:multiLvlStrRef>
              <c:f>Sheet1!$A$2:$A$26</c:f>
              <c:multiLvlStrCache>
                <c:ptCount val="25"/>
                <c:lvl>
                  <c:pt idx="0">
                    <c:v>Dec 09</c:v>
                  </c:pt>
                  <c:pt idx="1">
                    <c:v>Jan 10</c:v>
                  </c:pt>
                  <c:pt idx="2">
                    <c:v>Feb</c:v>
                  </c:pt>
                  <c:pt idx="3">
                    <c:v>Mar</c:v>
                  </c:pt>
                  <c:pt idx="4">
                    <c:v>Apr</c:v>
                  </c:pt>
                  <c:pt idx="5">
                    <c:v>May</c:v>
                  </c:pt>
                  <c:pt idx="6">
                    <c:v>Jun</c:v>
                  </c:pt>
                  <c:pt idx="7">
                    <c:v>Jul</c:v>
                  </c:pt>
                  <c:pt idx="8">
                    <c:v>Aug</c:v>
                  </c:pt>
                  <c:pt idx="9">
                    <c:v>Sep</c:v>
                  </c:pt>
                  <c:pt idx="10">
                    <c:v>Oct</c:v>
                  </c:pt>
                  <c:pt idx="11">
                    <c:v>Nov</c:v>
                  </c:pt>
                  <c:pt idx="12">
                    <c:v>Dec 10</c:v>
                  </c:pt>
                  <c:pt idx="13">
                    <c:v>Jan 11</c:v>
                  </c:pt>
                  <c:pt idx="14">
                    <c:v>Feb</c:v>
                  </c:pt>
                  <c:pt idx="15">
                    <c:v>Mar</c:v>
                  </c:pt>
                  <c:pt idx="16">
                    <c:v>Apr</c:v>
                  </c:pt>
                  <c:pt idx="17">
                    <c:v>May</c:v>
                  </c:pt>
                  <c:pt idx="18">
                    <c:v>Jun</c:v>
                  </c:pt>
                  <c:pt idx="19">
                    <c:v>Jul</c:v>
                  </c:pt>
                  <c:pt idx="20">
                    <c:v>Aug</c:v>
                  </c:pt>
                  <c:pt idx="21">
                    <c:v>Sep</c:v>
                  </c:pt>
                  <c:pt idx="22">
                    <c:v>Oct</c:v>
                  </c:pt>
                  <c:pt idx="23">
                    <c:v>Nov</c:v>
                  </c:pt>
                  <c:pt idx="24">
                    <c:v>Dec 11</c:v>
                  </c:pt>
                </c:lvl>
              </c:multiLvlStrCache>
            </c:multiLvlStrRef>
          </c:cat>
          <c:val>
            <c:numRef>
              <c:f>Sheet1!$B$2:$B$26</c:f>
              <c:numCache>
                <c:formatCode>General</c:formatCode>
                <c:ptCount val="25"/>
                <c:pt idx="0">
                  <c:v>797</c:v>
                </c:pt>
                <c:pt idx="1">
                  <c:v>622</c:v>
                </c:pt>
                <c:pt idx="2">
                  <c:v>531</c:v>
                </c:pt>
                <c:pt idx="3">
                  <c:v>763</c:v>
                </c:pt>
                <c:pt idx="4">
                  <c:v>588</c:v>
                </c:pt>
                <c:pt idx="5">
                  <c:v>613</c:v>
                </c:pt>
                <c:pt idx="6">
                  <c:v>677</c:v>
                </c:pt>
                <c:pt idx="7">
                  <c:v>573</c:v>
                </c:pt>
                <c:pt idx="8">
                  <c:v>655</c:v>
                </c:pt>
                <c:pt idx="9">
                  <c:v>851</c:v>
                </c:pt>
                <c:pt idx="10">
                  <c:v>1042</c:v>
                </c:pt>
                <c:pt idx="11">
                  <c:v>1417</c:v>
                </c:pt>
                <c:pt idx="12">
                  <c:v>747</c:v>
                </c:pt>
                <c:pt idx="13">
                  <c:v>558</c:v>
                </c:pt>
                <c:pt idx="14">
                  <c:v>497</c:v>
                </c:pt>
                <c:pt idx="15">
                  <c:v>682</c:v>
                </c:pt>
                <c:pt idx="16">
                  <c:v>492</c:v>
                </c:pt>
                <c:pt idx="17">
                  <c:v>722</c:v>
                </c:pt>
                <c:pt idx="18">
                  <c:v>690</c:v>
                </c:pt>
                <c:pt idx="19">
                  <c:v>680</c:v>
                </c:pt>
                <c:pt idx="20">
                  <c:v>681</c:v>
                </c:pt>
                <c:pt idx="21">
                  <c:v>1018</c:v>
                </c:pt>
                <c:pt idx="22">
                  <c:v>1069</c:v>
                </c:pt>
                <c:pt idx="23">
                  <c:v>1456</c:v>
                </c:pt>
                <c:pt idx="24">
                  <c:v>433</c:v>
                </c:pt>
              </c:numCache>
            </c:numRef>
          </c:val>
          <c:smooth val="0"/>
        </c:ser>
        <c:dLbls>
          <c:numFmt formatCode="#,##0" sourceLinked="0"/>
          <c:txPr>
            <a:bodyPr/>
            <a:lstStyle/>
            <a:p>
              <a:pPr>
                <a:defRPr b="0" i="0" strike="noStrike" sz="900" u="none">
                  <a:solidFill>
                    <a:srgbClr val="2B2124"/>
                  </a:solidFill>
                  <a:latin typeface="Calibri"/>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18000000"/>
          <a:lstStyle/>
          <a:p>
            <a:pPr>
              <a:defRPr sz="850" b="0" i="0" u="none" strike="noStrike">
                <a:solidFill>
                  <a:srgbClr val="6B5C60"/>
                </a:solidFill>
                <a:latin typeface="Calibri"/>
              </a:defRPr>
            </a:pPr>
            <a:endParaRPr lang="en-US"/>
          </a:p>
        </c:txPr>
        <c:crossAx val="2094734552"/>
        <c:crosses val="autoZero"/>
        <c:auto val="1"/>
        <c:lblAlgn val="ctr"/>
        <c:noMultiLvlLbl val="1"/>
      </c:catAx>
      <c:valAx>
        <c:axId val="2094734552"/>
        <c:scaling>
          <c:orientation val="minMax"/>
          <c:max val="1600"/>
          <c:min val="0"/>
        </c:scaling>
        <c:delete val="0"/>
        <c:axPos val="l"/>
        <c:majorGridlines>
          <c:spPr>
            <a:ln w="12700" cap="flat">
              <a:solidFill>
                <a:srgbClr val="E8E0E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5C60"/>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6B5C60"/>
                </a:solidFill>
                <a:latin typeface="Calibri"/>
              </a:defRPr>
            </a:pPr>
            <a:r>
              <a:rPr sz="1200" b="0" i="0" u="none" strike="noStrike">
                <a:solidFill>
                  <a:srgbClr val="6B5C60"/>
                </a:solidFill>
                <a:latin typeface="Calibri"/>
              </a:rPr>
              <a:t>Largest export markets — revenue (£ thousands)</a:t>
            </a:r>
          </a:p>
        </c:rich>
      </c:tx>
      <c:layout/>
      <c:overlay val="0"/>
    </c:title>
    <c:autoTitleDeleted val="0"/>
    <c:plotArea>
      <c:layout/>
      <c:barChart>
        <c:barDir val="bar"/>
        <c:grouping val="clustered"/>
        <c:varyColors val="0"/>
        <c:ser>
          <c:idx val="0"/>
          <c:order val="0"/>
          <c:tx>
            <c:strRef>
              <c:f>Sheet1!$B$1</c:f>
              <c:strCache>
                <c:ptCount val="1"/>
                <c:pt idx="0">
                  <c:v>Revenue (£k)</c:v>
                </c:pt>
              </c:strCache>
            </c:strRef>
          </c:tx>
          <c:spPr>
            <a:solidFill>
              <a:srgbClr val="A26769"/>
            </a:solidFill>
            <a:effectLst/>
          </c:spPr>
          <c:invertIfNegative val="0"/>
          <c:dLbls>
            <c:numFmt formatCode="#,##0" sourceLinked="0"/>
            <c:txPr>
              <a:bodyPr/>
              <a:lstStyle/>
              <a:p>
                <a:pPr>
                  <a:defRPr b="0" i="0" strike="noStrike" sz="900" u="none">
                    <a:solidFill>
                      <a:srgbClr val="2B2124"/>
                    </a:solidFill>
                    <a:latin typeface="Calibri"/>
                  </a:defRPr>
                </a:pPr>
              </a:p>
            </c:txPr>
            <c:showLegendKey val="0"/>
            <c:showVal val="1"/>
            <c:showCatName val="0"/>
            <c:showSerName val="0"/>
            <c:showPercent val="0"/>
            <c:showBubbleSize val="0"/>
            <c:showLeaderLines val="0"/>
          </c:dLbls>
          <c:cat>
            <c:multiLvlStrRef>
              <c:f>Sheet1!$A$2:$A$9</c:f>
              <c:multiLvlStrCache>
                <c:ptCount val="8"/>
                <c:lvl>
                  <c:pt idx="0">
                    <c:v>EIRE</c:v>
                  </c:pt>
                  <c:pt idx="1">
                    <c:v>Netherlands</c:v>
                  </c:pt>
                  <c:pt idx="2">
                    <c:v>Germany</c:v>
                  </c:pt>
                  <c:pt idx="3">
                    <c:v>France</c:v>
                  </c:pt>
                  <c:pt idx="4">
                    <c:v>Australia</c:v>
                  </c:pt>
                  <c:pt idx="5">
                    <c:v>Switzerland</c:v>
                  </c:pt>
                  <c:pt idx="6">
                    <c:v>Spain</c:v>
                  </c:pt>
                  <c:pt idx="7">
                    <c:v>Sweden</c:v>
                  </c:pt>
                </c:lvl>
              </c:multiLvlStrCache>
            </c:multiLvlStrRef>
          </c:cat>
          <c:val>
            <c:numRef>
              <c:f>Sheet1!$B$2:$B$9</c:f>
              <c:numCache>
                <c:formatCode>General</c:formatCode>
                <c:ptCount val="8"/>
                <c:pt idx="0">
                  <c:v>610</c:v>
                </c:pt>
                <c:pt idx="1">
                  <c:v>548</c:v>
                </c:pt>
                <c:pt idx="2">
                  <c:v>412</c:v>
                </c:pt>
                <c:pt idx="3">
                  <c:v>322</c:v>
                </c:pt>
                <c:pt idx="4">
                  <c:v>166</c:v>
                </c:pt>
                <c:pt idx="5">
                  <c:v>99</c:v>
                </c:pt>
                <c:pt idx="6">
                  <c:v>91</c:v>
                </c:pt>
                <c:pt idx="7">
                  <c:v>88</c:v>
                </c:pt>
              </c:numCache>
            </c:numRef>
          </c:val>
        </c:ser>
        <c:dLbls>
          <c:numFmt formatCode="#,##0" sourceLinked="0"/>
          <c:txPr>
            <a:bodyPr/>
            <a:lstStyle/>
            <a:p>
              <a:pPr>
                <a:defRPr b="0" i="0" strike="noStrike" sz="900" u="none">
                  <a:solidFill>
                    <a:srgbClr val="2B2124"/>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6B5C60"/>
                </a:solidFill>
                <a:latin typeface="Calibri"/>
              </a:defRPr>
            </a:pPr>
            <a:endParaRPr lang="en-US"/>
          </a:p>
        </c:txPr>
        <c:crossAx val="2094734552"/>
        <c:crosses val="autoZero"/>
        <c:auto val="1"/>
        <c:lblAlgn val="ctr"/>
        <c:noMultiLvlLbl val="1"/>
      </c:catAx>
      <c:valAx>
        <c:axId val="2094734552"/>
        <c:scaling>
          <c:orientation val="minMax"/>
          <c:max val="700"/>
          <c:min val="0"/>
        </c:scaling>
        <c:delete val="0"/>
        <c:axPos val="b"/>
        <c:majorGridlines>
          <c:spPr>
            <a:ln w="12700" cap="flat">
              <a:solidFill>
                <a:srgbClr val="E8E0E2"/>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B5C60"/>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ROC-AUC</c:v>
                </c:pt>
              </c:strCache>
            </c:strRef>
          </c:tx>
          <c:spPr>
            <a:solidFill>
              <a:srgbClr val="6D2E46"/>
            </a:solidFill>
            <a:effectLst/>
          </c:spPr>
          <c:invertIfNegative val="0"/>
          <c:dLbls>
            <c:numFmt formatCode="#,##0" sourceLinked="0"/>
            <c:txPr>
              <a:bodyPr/>
              <a:lstStyle/>
              <a:p>
                <a:pPr>
                  <a:defRPr b="0" i="0" strike="noStrike" sz="900" u="none">
                    <a:solidFill>
                      <a:srgbClr val="2B2124"/>
                    </a:solidFill>
                    <a:latin typeface="Calibri"/>
                  </a:defRPr>
                </a:pPr>
              </a:p>
            </c:txPr>
            <c:showLegendKey val="0"/>
            <c:showVal val="0"/>
            <c:showCatName val="0"/>
            <c:showSerName val="0"/>
            <c:showPercent val="0"/>
            <c:showBubbleSize val="0"/>
            <c:showLeaderLines val="0"/>
          </c:dLbls>
          <c:cat>
            <c:multiLvlStrRef>
              <c:f>Sheet1!$A$2:$A$7</c:f>
              <c:multiLvlStrCache>
                <c:ptCount val="6"/>
                <c:lvl>
                  <c:pt idx="0">
                    <c:v>Gradient Boosting</c:v>
                  </c:pt>
                  <c:pt idx="1">
                    <c:v>MLP (64,32)</c:v>
                  </c:pt>
                  <c:pt idx="2">
                    <c:v>MLP (64,32,16)</c:v>
                  </c:pt>
                  <c:pt idx="3">
                    <c:v>Logistic Regression</c:v>
                  </c:pt>
                  <c:pt idx="4">
                    <c:v>Random Forest</c:v>
                  </c:pt>
                  <c:pt idx="5">
                    <c:v>MLP (32,16)</c:v>
                  </c:pt>
                </c:lvl>
              </c:multiLvlStrCache>
            </c:multiLvlStrRef>
          </c:cat>
          <c:val>
            <c:numRef>
              <c:f>Sheet1!$B$2:$B$7</c:f>
              <c:numCache>
                <c:formatCode>General</c:formatCode>
                <c:ptCount val="6"/>
                <c:pt idx="0">
                  <c:v>0.806</c:v>
                </c:pt>
                <c:pt idx="1">
                  <c:v>0.804</c:v>
                </c:pt>
                <c:pt idx="2">
                  <c:v>0.804</c:v>
                </c:pt>
                <c:pt idx="3">
                  <c:v>0.802</c:v>
                </c:pt>
                <c:pt idx="4">
                  <c:v>0.79</c:v>
                </c:pt>
                <c:pt idx="5">
                  <c:v>0.8</c:v>
                </c:pt>
              </c:numCache>
            </c:numRef>
          </c:val>
        </c:ser>
        <c:ser>
          <c:idx val="1"/>
          <c:order val="1"/>
          <c:tx>
            <c:strRef>
              <c:f>Sheet1!$C$1</c:f>
              <c:strCache>
                <c:ptCount val="1"/>
                <c:pt idx="0">
                  <c:v>PR-AUC</c:v>
                </c:pt>
              </c:strCache>
            </c:strRef>
          </c:tx>
          <c:spPr>
            <a:solidFill>
              <a:srgbClr val="A26769"/>
            </a:solidFill>
            <a:effectLst/>
          </c:spPr>
          <c:invertIfNegative val="0"/>
          <c:dLbls>
            <c:numFmt formatCode="#,##0" sourceLinked="0"/>
            <c:txPr>
              <a:bodyPr/>
              <a:lstStyle/>
              <a:p>
                <a:pPr>
                  <a:defRPr b="0" i="0" strike="noStrike" sz="900" u="none">
                    <a:solidFill>
                      <a:srgbClr val="2B2124"/>
                    </a:solidFill>
                    <a:latin typeface="Calibri"/>
                  </a:defRPr>
                </a:pPr>
              </a:p>
            </c:txPr>
            <c:showLegendKey val="0"/>
            <c:showVal val="0"/>
            <c:showCatName val="0"/>
            <c:showSerName val="0"/>
            <c:showPercent val="0"/>
            <c:showBubbleSize val="0"/>
            <c:showLeaderLines val="0"/>
          </c:dLbls>
          <c:cat>
            <c:multiLvlStrRef>
              <c:f>Sheet1!$A$2:$A$7</c:f>
              <c:multiLvlStrCache>
                <c:ptCount val="6"/>
                <c:lvl>
                  <c:pt idx="0">
                    <c:v>Gradient Boosting</c:v>
                  </c:pt>
                  <c:pt idx="1">
                    <c:v>MLP (64,32)</c:v>
                  </c:pt>
                  <c:pt idx="2">
                    <c:v>MLP (64,32,16)</c:v>
                  </c:pt>
                  <c:pt idx="3">
                    <c:v>Logistic Regression</c:v>
                  </c:pt>
                  <c:pt idx="4">
                    <c:v>Random Forest</c:v>
                  </c:pt>
                  <c:pt idx="5">
                    <c:v>MLP (32,16)</c:v>
                  </c:pt>
                </c:lvl>
              </c:multiLvlStrCache>
            </c:multiLvlStrRef>
          </c:cat>
          <c:val>
            <c:numRef>
              <c:f>Sheet1!$C$2:$C$7</c:f>
              <c:numCache>
                <c:formatCode>General</c:formatCode>
                <c:ptCount val="6"/>
                <c:pt idx="0">
                  <c:v>0.77</c:v>
                </c:pt>
                <c:pt idx="1">
                  <c:v>0.768</c:v>
                </c:pt>
                <c:pt idx="2">
                  <c:v>0.767</c:v>
                </c:pt>
                <c:pt idx="3">
                  <c:v>0.764</c:v>
                </c:pt>
                <c:pt idx="4">
                  <c:v>0.758</c:v>
                </c:pt>
                <c:pt idx="5">
                  <c:v>0.757</c:v>
                </c:pt>
              </c:numCache>
            </c:numRef>
          </c:val>
        </c:ser>
        <c:ser>
          <c:idx val="2"/>
          <c:order val="2"/>
          <c:tx>
            <c:strRef>
              <c:f>Sheet1!$D$1</c:f>
              <c:strCache>
                <c:ptCount val="1"/>
                <c:pt idx="0">
                  <c:v>F1</c:v>
                </c:pt>
              </c:strCache>
            </c:strRef>
          </c:tx>
          <c:spPr>
            <a:solidFill>
              <a:srgbClr val="C08A2E"/>
            </a:solidFill>
            <a:effectLst/>
          </c:spPr>
          <c:invertIfNegative val="0"/>
          <c:dLbls>
            <c:numFmt formatCode="#,##0" sourceLinked="0"/>
            <c:txPr>
              <a:bodyPr/>
              <a:lstStyle/>
              <a:p>
                <a:pPr>
                  <a:defRPr b="0" i="0" strike="noStrike" sz="900" u="none">
                    <a:solidFill>
                      <a:srgbClr val="2B2124"/>
                    </a:solidFill>
                    <a:latin typeface="Calibri"/>
                  </a:defRPr>
                </a:pPr>
              </a:p>
            </c:txPr>
            <c:showLegendKey val="0"/>
            <c:showVal val="0"/>
            <c:showCatName val="0"/>
            <c:showSerName val="0"/>
            <c:showPercent val="0"/>
            <c:showBubbleSize val="0"/>
            <c:showLeaderLines val="0"/>
          </c:dLbls>
          <c:cat>
            <c:multiLvlStrRef>
              <c:f>Sheet1!$A$2:$A$7</c:f>
              <c:multiLvlStrCache>
                <c:ptCount val="6"/>
                <c:lvl>
                  <c:pt idx="0">
                    <c:v>Gradient Boosting</c:v>
                  </c:pt>
                  <c:pt idx="1">
                    <c:v>MLP (64,32)</c:v>
                  </c:pt>
                  <c:pt idx="2">
                    <c:v>MLP (64,32,16)</c:v>
                  </c:pt>
                  <c:pt idx="3">
                    <c:v>Logistic Regression</c:v>
                  </c:pt>
                  <c:pt idx="4">
                    <c:v>Random Forest</c:v>
                  </c:pt>
                  <c:pt idx="5">
                    <c:v>MLP (32,16)</c:v>
                  </c:pt>
                </c:lvl>
              </c:multiLvlStrCache>
            </c:multiLvlStrRef>
          </c:cat>
          <c:val>
            <c:numRef>
              <c:f>Sheet1!$D$2:$D$7</c:f>
              <c:numCache>
                <c:formatCode>General</c:formatCode>
                <c:ptCount val="6"/>
                <c:pt idx="0">
                  <c:v>0.675</c:v>
                </c:pt>
                <c:pt idx="1">
                  <c:v>0.682</c:v>
                </c:pt>
                <c:pt idx="2">
                  <c:v>0.675</c:v>
                </c:pt>
                <c:pt idx="3">
                  <c:v>0.699</c:v>
                </c:pt>
                <c:pt idx="4">
                  <c:v>0.669</c:v>
                </c:pt>
                <c:pt idx="5">
                  <c:v>0.687</c:v>
                </c:pt>
              </c:numCache>
            </c:numRef>
          </c:val>
        </c:ser>
        <c:dLbls>
          <c:numFmt formatCode="#,##0" sourceLinked="0"/>
          <c:txPr>
            <a:bodyPr/>
            <a:lstStyle/>
            <a:p>
              <a:pPr>
                <a:defRPr b="0" i="0" strike="noStrike" sz="900" u="none">
                  <a:solidFill>
                    <a:srgbClr val="2B2124"/>
                  </a:solidFill>
                  <a:latin typeface="Calibri"/>
                </a:defRPr>
              </a:pPr>
            </a:p>
          </c:txPr>
          <c:showLegendKey val="0"/>
          <c:showVal val="0"/>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B5C60"/>
                </a:solidFill>
                <a:latin typeface="Calibri"/>
              </a:defRPr>
            </a:pPr>
            <a:endParaRPr lang="en-US"/>
          </a:p>
        </c:txPr>
        <c:crossAx val="2094734552"/>
        <c:crosses val="autoZero"/>
        <c:auto val="1"/>
        <c:lblAlgn val="ctr"/>
        <c:noMultiLvlLbl val="1"/>
      </c:catAx>
      <c:valAx>
        <c:axId val="2094734552"/>
        <c:scaling>
          <c:orientation val="minMax"/>
          <c:max val="0.85"/>
          <c:min val="0.6"/>
        </c:scaling>
        <c:delete val="0"/>
        <c:axPos val="l"/>
        <c:majorGridlines>
          <c:spPr>
            <a:ln w="12700" cap="flat">
              <a:solidFill>
                <a:srgbClr val="E8E0E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5C60"/>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000">
              <a:solidFill>
                <a:srgbClr val="6B5C60"/>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6B5C60"/>
                </a:solidFill>
                <a:latin typeface="Calibri"/>
              </a:defRPr>
            </a:pPr>
            <a:r>
              <a:rPr sz="1200" b="0" i="0" u="none" strike="noStrike">
                <a:solidFill>
                  <a:srgbClr val="6B5C60"/>
                </a:solidFill>
                <a:latin typeface="Calibri"/>
              </a:rPr>
              <a:t>Relative contribution to the prediction</a:t>
            </a:r>
          </a:p>
        </c:rich>
      </c:tx>
      <c:layout/>
      <c:overlay val="0"/>
    </c:title>
    <c:autoTitleDeleted val="0"/>
    <c:plotArea>
      <c:layout/>
      <c:barChart>
        <c:barDir val="bar"/>
        <c:grouping val="clustered"/>
        <c:varyColors val="0"/>
        <c:ser>
          <c:idx val="0"/>
          <c:order val="0"/>
          <c:tx>
            <c:strRef>
              <c:f>Sheet1!$B$1</c:f>
              <c:strCache>
                <c:ptCount val="1"/>
                <c:pt idx="0">
                  <c:v>Importance</c:v>
                </c:pt>
              </c:strCache>
            </c:strRef>
          </c:tx>
          <c:spPr>
            <a:solidFill>
              <a:srgbClr val="6D2E46"/>
            </a:solidFill>
            <a:effectLst/>
          </c:spPr>
          <c:invertIfNegative val="0"/>
          <c:dLbls>
            <c:numFmt formatCode="0.00" sourceLinked="0"/>
            <c:txPr>
              <a:bodyPr/>
              <a:lstStyle/>
              <a:p>
                <a:pPr>
                  <a:defRPr b="0" i="0" strike="noStrike" sz="900" u="none">
                    <a:solidFill>
                      <a:srgbClr val="2B2124"/>
                    </a:solidFill>
                    <a:latin typeface="Calibri"/>
                  </a:defRPr>
                </a:pPr>
              </a:p>
            </c:txPr>
            <c:showLegendKey val="0"/>
            <c:showVal val="1"/>
            <c:showCatName val="0"/>
            <c:showSerName val="0"/>
            <c:showPercent val="0"/>
            <c:showBubbleSize val="0"/>
            <c:showLeaderLines val="0"/>
          </c:dLbls>
          <c:cat>
            <c:multiLvlStrRef>
              <c:f>Sheet1!$A$2:$A$9</c:f>
              <c:multiLvlStrCache>
                <c:ptCount val="8"/>
                <c:lvl>
                  <c:pt idx="0">
                    <c:v>Return count</c:v>
                  </c:pt>
                  <c:pt idx="1">
                    <c:v>Avg transaction value</c:v>
                  </c:pt>
                  <c:pt idx="2">
                    <c:v>Total items</c:v>
                  </c:pt>
                  <c:pt idx="3">
                    <c:v>Lifetime days</c:v>
                  </c:pt>
                  <c:pt idx="4">
                    <c:v>Unique products</c:v>
                  </c:pt>
                  <c:pt idx="5">
                    <c:v>Total revenue</c:v>
                  </c:pt>
                  <c:pt idx="6">
                    <c:v>Frequency</c:v>
                  </c:pt>
                  <c:pt idx="7">
                    <c:v>Days since last order</c:v>
                  </c:pt>
                </c:lvl>
              </c:multiLvlStrCache>
            </c:multiLvlStrRef>
          </c:cat>
          <c:val>
            <c:numRef>
              <c:f>Sheet1!$B$2:$B$9</c:f>
              <c:numCache>
                <c:formatCode>General</c:formatCode>
                <c:ptCount val="8"/>
                <c:pt idx="0">
                  <c:v>0.003</c:v>
                </c:pt>
                <c:pt idx="1">
                  <c:v>0.01</c:v>
                </c:pt>
                <c:pt idx="2">
                  <c:v>0.037</c:v>
                </c:pt>
                <c:pt idx="3">
                  <c:v>0.047</c:v>
                </c:pt>
                <c:pt idx="4">
                  <c:v>0.06</c:v>
                </c:pt>
                <c:pt idx="5">
                  <c:v>0.109</c:v>
                </c:pt>
                <c:pt idx="6">
                  <c:v>0.135</c:v>
                </c:pt>
                <c:pt idx="7">
                  <c:v>0.599</c:v>
                </c:pt>
              </c:numCache>
            </c:numRef>
          </c:val>
        </c:ser>
        <c:dLbls>
          <c:numFmt formatCode="0.00" sourceLinked="0"/>
          <c:txPr>
            <a:bodyPr/>
            <a:lstStyle/>
            <a:p>
              <a:pPr>
                <a:defRPr b="0" i="0" strike="noStrike" sz="900" u="none">
                  <a:solidFill>
                    <a:srgbClr val="2B2124"/>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6B5C60"/>
                </a:solidFill>
                <a:latin typeface="Calibri"/>
              </a:defRPr>
            </a:pPr>
            <a:endParaRPr lang="en-US"/>
          </a:p>
        </c:txPr>
        <c:crossAx val="2094734552"/>
        <c:crosses val="autoZero"/>
        <c:auto val="1"/>
        <c:lblAlgn val="ctr"/>
        <c:noMultiLvlLbl val="1"/>
      </c:catAx>
      <c:valAx>
        <c:axId val="2094734552"/>
        <c:scaling>
          <c:orientation val="minMax"/>
          <c:max val="0.7"/>
          <c:min val="0"/>
        </c:scaling>
        <c:delete val="0"/>
        <c:axPos val="b"/>
        <c:majorGridlines>
          <c:spPr>
            <a:ln w="12700" cap="flat">
              <a:solidFill>
                <a:srgbClr val="E8E0E2"/>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B5C60"/>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Hit Rate@10</c:v>
                </c:pt>
              </c:strCache>
            </c:strRef>
          </c:tx>
          <c:spPr>
            <a:solidFill>
              <a:srgbClr val="6D2E46"/>
            </a:solidFill>
            <a:effectLst/>
          </c:spPr>
          <c:invertIfNegative val="0"/>
          <c:dLbls>
            <c:numFmt formatCode="0.00" sourceLinked="0"/>
            <c:txPr>
              <a:bodyPr/>
              <a:lstStyle/>
              <a:p>
                <a:pPr>
                  <a:defRPr b="0" i="0" strike="noStrike" sz="900" u="none">
                    <a:solidFill>
                      <a:srgbClr val="2B2124"/>
                    </a:solidFill>
                    <a:latin typeface="Calibri"/>
                  </a:defRPr>
                </a:pPr>
              </a:p>
            </c:txPr>
            <c:showLegendKey val="0"/>
            <c:showVal val="1"/>
            <c:showCatName val="0"/>
            <c:showSerName val="0"/>
            <c:showPercent val="0"/>
            <c:showBubbleSize val="0"/>
            <c:showLeaderLines val="0"/>
          </c:dLbls>
          <c:cat>
            <c:multiLvlStrRef>
              <c:f>Sheet1!$A$2:$A$5</c:f>
              <c:multiLvlStrCache>
                <c:ptCount val="4"/>
                <c:lvl>
                  <c:pt idx="0">
                    <c:v>Popularity</c:v>
                  </c:pt>
                  <c:pt idx="1">
                    <c:v>SVD matrix factorisation</c:v>
                  </c:pt>
                  <c:pt idx="2">
                    <c:v>Neural CF</c:v>
                  </c:pt>
                  <c:pt idx="3">
                    <c:v>Sequence RNN</c:v>
                  </c:pt>
                </c:lvl>
              </c:multiLvlStrCache>
            </c:multiLvlStrRef>
          </c:cat>
          <c:val>
            <c:numRef>
              <c:f>Sheet1!$B$2:$B$5</c:f>
              <c:numCache>
                <c:formatCode>General</c:formatCode>
                <c:ptCount val="4"/>
                <c:pt idx="0">
                  <c:v>0.063</c:v>
                </c:pt>
                <c:pt idx="1">
                  <c:v>0.102</c:v>
                </c:pt>
                <c:pt idx="2">
                  <c:v>0.061</c:v>
                </c:pt>
                <c:pt idx="3">
                  <c:v>0.298</c:v>
                </c:pt>
              </c:numCache>
            </c:numRef>
          </c:val>
        </c:ser>
        <c:ser>
          <c:idx val="1"/>
          <c:order val="1"/>
          <c:tx>
            <c:strRef>
              <c:f>Sheet1!$C$1</c:f>
              <c:strCache>
                <c:ptCount val="1"/>
                <c:pt idx="0">
                  <c:v>MRR@10</c:v>
                </c:pt>
              </c:strCache>
            </c:strRef>
          </c:tx>
          <c:spPr>
            <a:solidFill>
              <a:srgbClr val="A26769"/>
            </a:solidFill>
            <a:effectLst/>
          </c:spPr>
          <c:invertIfNegative val="0"/>
          <c:dLbls>
            <c:numFmt formatCode="0.00" sourceLinked="0"/>
            <c:txPr>
              <a:bodyPr/>
              <a:lstStyle/>
              <a:p>
                <a:pPr>
                  <a:defRPr b="0" i="0" strike="noStrike" sz="900" u="none">
                    <a:solidFill>
                      <a:srgbClr val="2B2124"/>
                    </a:solidFill>
                    <a:latin typeface="Calibri"/>
                  </a:defRPr>
                </a:pPr>
              </a:p>
            </c:txPr>
            <c:showLegendKey val="0"/>
            <c:showVal val="1"/>
            <c:showCatName val="0"/>
            <c:showSerName val="0"/>
            <c:showPercent val="0"/>
            <c:showBubbleSize val="0"/>
            <c:showLeaderLines val="0"/>
          </c:dLbls>
          <c:cat>
            <c:multiLvlStrRef>
              <c:f>Sheet1!$A$2:$A$5</c:f>
              <c:multiLvlStrCache>
                <c:ptCount val="4"/>
                <c:lvl>
                  <c:pt idx="0">
                    <c:v>Popularity</c:v>
                  </c:pt>
                  <c:pt idx="1">
                    <c:v>SVD matrix factorisation</c:v>
                  </c:pt>
                  <c:pt idx="2">
                    <c:v>Neural CF</c:v>
                  </c:pt>
                  <c:pt idx="3">
                    <c:v>Sequence RNN</c:v>
                  </c:pt>
                </c:lvl>
              </c:multiLvlStrCache>
            </c:multiLvlStrRef>
          </c:cat>
          <c:val>
            <c:numRef>
              <c:f>Sheet1!$C$2:$C$5</c:f>
              <c:numCache>
                <c:formatCode>General</c:formatCode>
                <c:ptCount val="4"/>
                <c:pt idx="0">
                  <c:v>0.036</c:v>
                </c:pt>
                <c:pt idx="1">
                  <c:v>0.04</c:v>
                </c:pt>
                <c:pt idx="2">
                  <c:v>0.034</c:v>
                </c:pt>
                <c:pt idx="3">
                  <c:v>0.186</c:v>
                </c:pt>
              </c:numCache>
            </c:numRef>
          </c:val>
        </c:ser>
        <c:ser>
          <c:idx val="2"/>
          <c:order val="2"/>
          <c:tx>
            <c:strRef>
              <c:f>Sheet1!$D$1</c:f>
              <c:strCache>
                <c:ptCount val="1"/>
                <c:pt idx="0">
                  <c:v>NDCG@10</c:v>
                </c:pt>
              </c:strCache>
            </c:strRef>
          </c:tx>
          <c:spPr>
            <a:solidFill>
              <a:srgbClr val="C08A2E"/>
            </a:solidFill>
            <a:effectLst/>
          </c:spPr>
          <c:invertIfNegative val="0"/>
          <c:dLbls>
            <c:numFmt formatCode="0.00" sourceLinked="0"/>
            <c:txPr>
              <a:bodyPr/>
              <a:lstStyle/>
              <a:p>
                <a:pPr>
                  <a:defRPr b="0" i="0" strike="noStrike" sz="900" u="none">
                    <a:solidFill>
                      <a:srgbClr val="2B2124"/>
                    </a:solidFill>
                    <a:latin typeface="Calibri"/>
                  </a:defRPr>
                </a:pPr>
              </a:p>
            </c:txPr>
            <c:showLegendKey val="0"/>
            <c:showVal val="1"/>
            <c:showCatName val="0"/>
            <c:showSerName val="0"/>
            <c:showPercent val="0"/>
            <c:showBubbleSize val="0"/>
            <c:showLeaderLines val="0"/>
          </c:dLbls>
          <c:cat>
            <c:multiLvlStrRef>
              <c:f>Sheet1!$A$2:$A$5</c:f>
              <c:multiLvlStrCache>
                <c:ptCount val="4"/>
                <c:lvl>
                  <c:pt idx="0">
                    <c:v>Popularity</c:v>
                  </c:pt>
                  <c:pt idx="1">
                    <c:v>SVD matrix factorisation</c:v>
                  </c:pt>
                  <c:pt idx="2">
                    <c:v>Neural CF</c:v>
                  </c:pt>
                  <c:pt idx="3">
                    <c:v>Sequence RNN</c:v>
                  </c:pt>
                </c:lvl>
              </c:multiLvlStrCache>
            </c:multiLvlStrRef>
          </c:cat>
          <c:val>
            <c:numRef>
              <c:f>Sheet1!$D$2:$D$5</c:f>
              <c:numCache>
                <c:formatCode>General</c:formatCode>
                <c:ptCount val="4"/>
                <c:pt idx="0">
                  <c:v>0.042</c:v>
                </c:pt>
                <c:pt idx="1">
                  <c:v>0.054</c:v>
                </c:pt>
                <c:pt idx="2">
                  <c:v>0.04</c:v>
                </c:pt>
                <c:pt idx="3">
                  <c:v>0.213</c:v>
                </c:pt>
              </c:numCache>
            </c:numRef>
          </c:val>
        </c:ser>
        <c:dLbls>
          <c:numFmt formatCode="0.00" sourceLinked="0"/>
          <c:txPr>
            <a:bodyPr/>
            <a:lstStyle/>
            <a:p>
              <a:pPr>
                <a:defRPr b="0" i="0" strike="noStrike" sz="900" u="none">
                  <a:solidFill>
                    <a:srgbClr val="2B2124"/>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6B5C60"/>
                </a:solidFill>
                <a:latin typeface="Calibri"/>
              </a:defRPr>
            </a:pPr>
            <a:endParaRPr lang="en-US"/>
          </a:p>
        </c:txPr>
        <c:crossAx val="2094734552"/>
        <c:crosses val="autoZero"/>
        <c:auto val="1"/>
        <c:lblAlgn val="ctr"/>
        <c:noMultiLvlLbl val="1"/>
      </c:catAx>
      <c:valAx>
        <c:axId val="2094734552"/>
        <c:scaling>
          <c:orientation val="minMax"/>
          <c:max val="0.35"/>
          <c:min val="0"/>
        </c:scaling>
        <c:delete val="0"/>
        <c:axPos val="l"/>
        <c:majorGridlines>
          <c:spPr>
            <a:ln w="12700" cap="flat">
              <a:solidFill>
                <a:srgbClr val="E8E0E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5C60"/>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000">
              <a:solidFill>
                <a:srgbClr val="6B5C60"/>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Two-year transaction log from a UK-based online gift retailer (UCI Online Retail II). All monetary values are GBP. The project runs the full lifecycle: cleaning, a SQL analytics layer, exploratory analysis, segmentation, predictive modelling, neural recommenders, and production-readiness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Headline scale of the work. Every downstream number in this deck traces back to this cleaned base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reproducibility: fixed random_state=42, preprocessing fitted on training data only, fitted pipelines persisted with joblib.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Missing customer IDs are a known characteristic of this dataset — they are guest or untracked checkouts. Dropping them entirely would understate revenue by roughly a fifth, so they are retained for financial aggregates and excluded only from customer-level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Indexes were added on customer_id, stock_code, invoice_date_only and the two revenue columns so the analytical joins stay fast as the transaction table grows.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December 2011 looks like a collapse but is an artefact — the dataset ends on 9 December 2011, so that month is truncated. Say so before anyone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Concentration cuts both ways: it makes the UK customer base the right place to spend retention effort, but it also means a UK-specific shock has no offset. The Netherlands and EIRE punch far above their customer counts — a handful of high-volume wholesale accounts.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Silhouette scores tested for k = 2 to 6; k = 3 scored highest at 0.4435. The segments are behaviourally distinct rather than cosmetically split — the active core spends roughly nine times the lapsing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slide for methodological credibility. A random split on the same period would let future behaviour leak into the features and inflate every metric that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Tuned via grid search on average precision. Winning configuration: 100 estimators, learning rate 0.05, max depth 3 — deliberately shallow, which is part of why it generalises.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that the test set was touched once. Precision and recall are threshold-dependent; ROC-AUC and PR-AUC are not, which is why selection was done on PR-AUC.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Permutation importance on the test set ranks the features in the same order — recency 0.171 mean PR-AUC drop, frequency 0.060, revenue 0.034. Agreement between an in-model and a model-agnostic method is the reassurance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Already-purchased products are masked out of the scores so the model can never win by recommending something the customer has already bought. The NCF and RNN were implemented from scratch in NumPy because no deep-learning framework was available in the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honest framing matters. Neural CF actually underperformed the SVD baseline here, which supports the point that the win comes from sequence information, not from neural architecture per 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Implemented from scratch: pairwise co-occurrence counting over customer baskets with support, confidence and lift computed directly, rather than mlxtend. 481,947 valid customer-product interactions feed it. If asked why lift is so high: these are low-support niche variants, where lift inflates naturally. Confidence is the more operationally useful number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get one question about 'is this production code', this slide is the answer. Point at the passing test suite and the leakage boundary test in particular.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naming the limitations before the audience does — it is the fastest way to establish that the numbers elsewhere in the deck are trustworthy.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3172B"/>
        </a:solidFill>
      </p:bgPr>
    </p:bg>
    <p:spTree>
      <p:nvGrpSpPr>
        <p:cNvPr id="1" name=""/>
        <p:cNvGrpSpPr/>
        <p:nvPr/>
      </p:nvGrpSpPr>
      <p:grpSpPr>
        <a:xfrm>
          <a:off x="0" y="0"/>
          <a:ext cx="0" cy="0"/>
          <a:chOff x="0" y="0"/>
          <a:chExt cx="0" cy="0"/>
        </a:xfrm>
      </p:grpSpPr>
      <p:sp>
        <p:nvSpPr>
          <p:cNvPr id="2" name="Shape 0"/>
          <p:cNvSpPr/>
          <p:nvPr/>
        </p:nvSpPr>
        <p:spPr>
          <a:xfrm>
            <a:off x="7223760" y="-1280160"/>
            <a:ext cx="6583680" cy="6583680"/>
          </a:xfrm>
          <a:prstGeom prst="roundRect">
            <a:avLst>
              <a:gd name="adj" fmla="val 8333"/>
            </a:avLst>
          </a:prstGeom>
          <a:solidFill>
            <a:srgbClr val="6D2E46"/>
          </a:solidFill>
          <a:ln w="12700">
            <a:solidFill>
              <a:srgbClr val="6D2E46"/>
            </a:solidFill>
            <a:prstDash val="solid"/>
          </a:ln>
        </p:spPr>
      </p:sp>
      <p:sp>
        <p:nvSpPr>
          <p:cNvPr id="3" name="Shape 1"/>
          <p:cNvSpPr/>
          <p:nvPr/>
        </p:nvSpPr>
        <p:spPr>
          <a:xfrm>
            <a:off x="8321040" y="2651760"/>
            <a:ext cx="5120640" cy="5486400"/>
          </a:xfrm>
          <a:prstGeom prst="roundRect">
            <a:avLst>
              <a:gd name="adj" fmla="val 10714"/>
            </a:avLst>
          </a:prstGeom>
          <a:solidFill>
            <a:srgbClr val="A26769"/>
          </a:solidFill>
          <a:ln w="12700">
            <a:solidFill>
              <a:srgbClr val="A26769"/>
            </a:solidFill>
            <a:prstDash val="solid"/>
          </a:ln>
        </p:spPr>
      </p:sp>
      <p:sp>
        <p:nvSpPr>
          <p:cNvPr id="4" name="Shape 2"/>
          <p:cNvSpPr/>
          <p:nvPr/>
        </p:nvSpPr>
        <p:spPr>
          <a:xfrm>
            <a:off x="548640" y="1417320"/>
            <a:ext cx="2286000" cy="310896"/>
          </a:xfrm>
          <a:prstGeom prst="roundRect">
            <a:avLst>
              <a:gd name="adj" fmla="val 47059"/>
            </a:avLst>
          </a:prstGeom>
          <a:solidFill>
            <a:srgbClr val="C08A2E"/>
          </a:solidFill>
          <a:ln w="12700">
            <a:solidFill>
              <a:srgbClr val="C08A2E"/>
            </a:solidFill>
            <a:prstDash val="solid"/>
          </a:ln>
        </p:spPr>
      </p:sp>
      <p:sp>
        <p:nvSpPr>
          <p:cNvPr id="5" name="Text 3"/>
          <p:cNvSpPr txBox="1"/>
          <p:nvPr/>
        </p:nvSpPr>
        <p:spPr>
          <a:xfrm>
            <a:off x="548640" y="1417320"/>
            <a:ext cx="2286000" cy="310896"/>
          </a:xfrm>
          <a:prstGeom prst="rect">
            <a:avLst/>
          </a:prstGeom>
          <a:noFill/>
          <a:ln/>
        </p:spPr>
        <p:txBody>
          <a:bodyPr wrap="square" lIns="0" tIns="0" rIns="0" bIns="0" rtlCol="0" anchor="ctr"/>
          <a:lstStyle/>
          <a:p>
            <a:pPr algn="ctr" indent="0" marL="0">
              <a:buNone/>
            </a:pPr>
            <a:r>
              <a:rPr lang="en-US" sz="1000" b="1" spc="100" kern="0" dirty="0">
                <a:solidFill>
                  <a:srgbClr val="43172B"/>
                </a:solidFill>
                <a:latin typeface="Calibri" pitchFamily="34" charset="0"/>
                <a:ea typeface="Calibri" pitchFamily="34" charset="-122"/>
                <a:cs typeface="Calibri" pitchFamily="34" charset="-120"/>
              </a:rPr>
              <a:t>END-TO-END CASE STUDY</a:t>
            </a:r>
            <a:endParaRPr lang="en-US" sz="1000" dirty="0"/>
          </a:p>
        </p:txBody>
      </p:sp>
      <p:sp>
        <p:nvSpPr>
          <p:cNvPr id="6" name="Text 4"/>
          <p:cNvSpPr txBox="1"/>
          <p:nvPr/>
        </p:nvSpPr>
        <p:spPr>
          <a:xfrm>
            <a:off x="548640" y="1874520"/>
            <a:ext cx="6949440" cy="91440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Customer 360</a:t>
            </a:r>
            <a:endParaRPr lang="en-US" sz="5400" dirty="0"/>
          </a:p>
        </p:txBody>
      </p:sp>
      <p:sp>
        <p:nvSpPr>
          <p:cNvPr id="7" name="Text 5"/>
          <p:cNvSpPr txBox="1"/>
          <p:nvPr/>
        </p:nvSpPr>
        <p:spPr>
          <a:xfrm>
            <a:off x="548640" y="2834640"/>
            <a:ext cx="6400800" cy="914400"/>
          </a:xfrm>
          <a:prstGeom prst="rect">
            <a:avLst/>
          </a:prstGeom>
          <a:noFill/>
          <a:ln/>
        </p:spPr>
        <p:txBody>
          <a:bodyPr wrap="square" lIns="0" tIns="0" rIns="0" bIns="0" rtlCol="0" anchor="ctr"/>
          <a:lstStyle/>
          <a:p>
            <a:pPr indent="0" marL="0">
              <a:lnSpc>
                <a:spcPts val="2800"/>
              </a:lnSpc>
              <a:buNone/>
            </a:pPr>
            <a:r>
              <a:rPr lang="en-US" sz="1900" dirty="0">
                <a:solidFill>
                  <a:srgbClr val="ECE2D0"/>
                </a:solidFill>
                <a:latin typeface="Calibri" pitchFamily="34" charset="0"/>
                <a:ea typeface="Calibri" pitchFamily="34" charset="-122"/>
                <a:cs typeface="Calibri" pitchFamily="34" charset="-120"/>
              </a:rPr>
              <a:t>From raw transactions to production-ready</a:t>
            </a:r>
            <a:endParaRPr lang="en-US" sz="1900" dirty="0"/>
          </a:p>
          <a:p>
            <a:pPr indent="0" marL="0">
              <a:lnSpc>
                <a:spcPts val="2800"/>
              </a:lnSpc>
              <a:buNone/>
            </a:pPr>
            <a:r>
              <a:rPr lang="en-US" sz="1900" dirty="0">
                <a:solidFill>
                  <a:srgbClr val="ECE2D0"/>
                </a:solidFill>
                <a:latin typeface="Calibri" pitchFamily="34" charset="0"/>
                <a:ea typeface="Calibri" pitchFamily="34" charset="-122"/>
                <a:cs typeface="Calibri" pitchFamily="34" charset="-120"/>
              </a:rPr>
              <a:t>customer intelligence</a:t>
            </a:r>
            <a:endParaRPr lang="en-US" sz="1900" dirty="0"/>
          </a:p>
        </p:txBody>
      </p:sp>
      <p:sp>
        <p:nvSpPr>
          <p:cNvPr id="8" name="Text 6"/>
          <p:cNvSpPr txBox="1"/>
          <p:nvPr/>
        </p:nvSpPr>
        <p:spPr>
          <a:xfrm>
            <a:off x="548640" y="3977640"/>
            <a:ext cx="6583680" cy="822960"/>
          </a:xfrm>
          <a:prstGeom prst="rect">
            <a:avLst/>
          </a:prstGeom>
          <a:noFill/>
          <a:ln/>
        </p:spPr>
        <p:txBody>
          <a:bodyPr wrap="square" lIns="0" tIns="0" rIns="0" bIns="0" rtlCol="0" anchor="ctr"/>
          <a:lstStyle/>
          <a:p>
            <a:pPr indent="0" marL="0">
              <a:lnSpc>
                <a:spcPts val="2200"/>
              </a:lnSpc>
              <a:buNone/>
            </a:pPr>
            <a:r>
              <a:rPr lang="en-US" sz="1250" dirty="0">
                <a:solidFill>
                  <a:srgbClr val="D3ABB1"/>
                </a:solidFill>
                <a:latin typeface="Calibri" pitchFamily="34" charset="0"/>
                <a:ea typeface="Calibri" pitchFamily="34" charset="-122"/>
                <a:cs typeface="Calibri" pitchFamily="34" charset="-120"/>
              </a:rPr>
              <a:t>Online Retail II  ·  1.03M transactions  ·  Dec 2009 – Dec 2011</a:t>
            </a:r>
            <a:endParaRPr lang="en-US" sz="1250" dirty="0"/>
          </a:p>
          <a:p>
            <a:pPr indent="0" marL="0">
              <a:lnSpc>
                <a:spcPts val="2200"/>
              </a:lnSpc>
              <a:buNone/>
            </a:pPr>
            <a:r>
              <a:rPr lang="en-US" sz="1250" dirty="0">
                <a:solidFill>
                  <a:srgbClr val="D3ABB1"/>
                </a:solidFill>
                <a:latin typeface="Calibri" pitchFamily="34" charset="0"/>
                <a:ea typeface="Calibri" pitchFamily="34" charset="-122"/>
                <a:cs typeface="Calibri" pitchFamily="34" charset="-120"/>
              </a:rPr>
              <a:t>ETL  ·  SQL warehouse  ·  EDA  ·  Machine learning  ·  Deep learning  ·  MLOps</a:t>
            </a:r>
            <a:endParaRPr lang="en-US" sz="1250" dirty="0"/>
          </a:p>
        </p:txBody>
      </p:sp>
      <p:sp>
        <p:nvSpPr>
          <p:cNvPr id="9" name="Shape 7"/>
          <p:cNvSpPr/>
          <p:nvPr/>
        </p:nvSpPr>
        <p:spPr>
          <a:xfrm>
            <a:off x="548640" y="5029200"/>
            <a:ext cx="2011680" cy="0"/>
          </a:xfrm>
          <a:prstGeom prst="line">
            <a:avLst/>
          </a:prstGeom>
          <a:noFill/>
          <a:ln w="25400">
            <a:solidFill>
              <a:srgbClr val="C08A2E"/>
            </a:solidFill>
            <a:prstDash val="solid"/>
          </a:ln>
        </p:spPr>
      </p:sp>
      <p:sp>
        <p:nvSpPr>
          <p:cNvPr id="10" name="Text 8"/>
          <p:cNvSpPr txBox="1"/>
          <p:nvPr/>
        </p:nvSpPr>
        <p:spPr>
          <a:xfrm>
            <a:off x="548640" y="5166360"/>
            <a:ext cx="6400800" cy="320040"/>
          </a:xfrm>
          <a:prstGeom prst="rect">
            <a:avLst/>
          </a:prstGeom>
          <a:noFill/>
          <a:ln/>
        </p:spPr>
        <p:txBody>
          <a:bodyPr wrap="square" lIns="0" tIns="0" rIns="0" bIns="0" rtlCol="0" anchor="ctr"/>
          <a:lstStyle/>
          <a:p>
            <a:pPr indent="0" marL="0">
              <a:buNone/>
            </a:pPr>
            <a:r>
              <a:rPr lang="en-US" sz="1100" i="1" dirty="0">
                <a:solidFill>
                  <a:srgbClr val="D3ABB1"/>
                </a:solidFill>
                <a:latin typeface="Calibri" pitchFamily="34" charset="0"/>
                <a:ea typeface="Calibri" pitchFamily="34" charset="-122"/>
                <a:cs typeface="Calibri" pitchFamily="34" charset="-120"/>
              </a:rPr>
              <a:t>Prepared from the Customer_360 analysis notebook</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086307" cy="274320"/>
          </a:xfrm>
          <a:prstGeom prst="roundRect">
            <a:avLst>
              <a:gd name="adj" fmla="val 46667"/>
            </a:avLst>
          </a:prstGeom>
          <a:solidFill>
            <a:srgbClr val="ECE2D0"/>
          </a:solidFill>
          <a:ln w="12700">
            <a:solidFill>
              <a:srgbClr val="ECE2D0"/>
            </a:solidFill>
            <a:prstDash val="solid"/>
          </a:ln>
        </p:spPr>
      </p:sp>
      <p:sp>
        <p:nvSpPr>
          <p:cNvPr id="3" name="Text 1"/>
          <p:cNvSpPr txBox="1"/>
          <p:nvPr/>
        </p:nvSpPr>
        <p:spPr>
          <a:xfrm>
            <a:off x="548640" y="384048"/>
            <a:ext cx="1086307" cy="274320"/>
          </a:xfrm>
          <a:prstGeom prst="rect">
            <a:avLst/>
          </a:prstGeom>
          <a:noFill/>
          <a:ln/>
        </p:spPr>
        <p:txBody>
          <a:bodyPr wrap="square" lIns="0" tIns="0" rIns="0" bIns="0" rtlCol="0" anchor="ctr"/>
          <a:lstStyle/>
          <a:p>
            <a:pPr algn="ctr" indent="0" marL="0">
              <a:buNone/>
            </a:pPr>
            <a:r>
              <a:rPr lang="en-US" sz="1050" b="1" spc="120" kern="0" dirty="0">
                <a:solidFill>
                  <a:srgbClr val="6D2E46"/>
                </a:solidFill>
                <a:latin typeface="Calibri" pitchFamily="34" charset="0"/>
                <a:ea typeface="Calibri" pitchFamily="34" charset="-122"/>
                <a:cs typeface="Calibri" pitchFamily="34" charset="-120"/>
              </a:rPr>
              <a:t>AT A GLANCE</a:t>
            </a:r>
            <a:endParaRPr lang="en-US" sz="1050" dirty="0"/>
          </a:p>
        </p:txBody>
      </p:sp>
      <p:sp>
        <p:nvSpPr>
          <p:cNvPr id="4" name="Text 2"/>
          <p:cNvSpPr txBox="1"/>
          <p:nvPr/>
        </p:nvSpPr>
        <p:spPr>
          <a:xfrm>
            <a:off x="548640" y="749808"/>
            <a:ext cx="11064240" cy="658368"/>
          </a:xfrm>
          <a:prstGeom prst="rect">
            <a:avLst/>
          </a:prstGeom>
          <a:noFill/>
          <a:ln/>
        </p:spPr>
        <p:txBody>
          <a:bodyPr wrap="square" lIns="0" tIns="0" rIns="0" bIns="0" rtlCol="0" anchor="ctr"/>
          <a:lstStyle/>
          <a:p>
            <a:pPr indent="0" marL="0">
              <a:buNone/>
            </a:pPr>
            <a:r>
              <a:rPr lang="en-US" sz="3200" b="1" dirty="0">
                <a:solidFill>
                  <a:srgbClr val="2B2124"/>
                </a:solidFill>
                <a:latin typeface="Cambria" pitchFamily="34" charset="0"/>
                <a:ea typeface="Cambria" pitchFamily="34" charset="-122"/>
                <a:cs typeface="Cambria" pitchFamily="34" charset="-120"/>
              </a:rPr>
              <a:t>The dataset behind the analysis</a:t>
            </a:r>
            <a:endParaRPr lang="en-US" sz="3200" dirty="0"/>
          </a:p>
        </p:txBody>
      </p:sp>
      <p:sp>
        <p:nvSpPr>
          <p:cNvPr id="5" name="Text 3"/>
          <p:cNvSpPr txBox="1"/>
          <p:nvPr/>
        </p:nvSpPr>
        <p:spPr>
          <a:xfrm>
            <a:off x="548640" y="1389888"/>
            <a:ext cx="11064240" cy="365760"/>
          </a:xfrm>
          <a:prstGeom prst="rect">
            <a:avLst/>
          </a:prstGeom>
          <a:noFill/>
          <a:ln/>
        </p:spPr>
        <p:txBody>
          <a:bodyPr wrap="square" lIns="0" tIns="0" rIns="0" bIns="0" rtlCol="0" anchor="t"/>
          <a:lstStyle/>
          <a:p>
            <a:pPr indent="0" marL="0">
              <a:buNone/>
            </a:pPr>
            <a:r>
              <a:rPr lang="en-US" sz="1400" dirty="0">
                <a:solidFill>
                  <a:srgbClr val="6B5C60"/>
                </a:solidFill>
                <a:latin typeface="Calibri" pitchFamily="34" charset="0"/>
                <a:ea typeface="Calibri" pitchFamily="34" charset="-122"/>
                <a:cs typeface="Calibri" pitchFamily="34" charset="-120"/>
              </a:rPr>
              <a:t>Two years of transactions from a UK-based online gift retailer, cleaned and modelled end to end.</a:t>
            </a:r>
            <a:endParaRPr lang="en-US" sz="1400" dirty="0"/>
          </a:p>
        </p:txBody>
      </p:sp>
      <p:sp>
        <p:nvSpPr>
          <p:cNvPr id="6" name="Shape 4"/>
          <p:cNvSpPr/>
          <p:nvPr/>
        </p:nvSpPr>
        <p:spPr>
          <a:xfrm>
            <a:off x="548640" y="2011680"/>
            <a:ext cx="2697480" cy="1828800"/>
          </a:xfrm>
          <a:prstGeom prst="roundRect">
            <a:avLst>
              <a:gd name="adj" fmla="val 5000"/>
            </a:avLst>
          </a:prstGeom>
          <a:solidFill>
            <a:srgbClr val="6D2E46"/>
          </a:solidFill>
          <a:ln w="12700">
            <a:solidFill>
              <a:srgbClr val="6D2E46"/>
            </a:solidFill>
            <a:prstDash val="solid"/>
          </a:ln>
          <a:effectLst>
            <a:outerShdw sx="100000" sy="100000" kx="0" ky="0" algn="bl" rotWithShape="0" blurRad="101600" dist="12700" dir="5400000">
              <a:srgbClr val="000000">
                <a:alpha val="8000"/>
              </a:srgbClr>
            </a:outerShdw>
          </a:effectLst>
        </p:spPr>
      </p:sp>
      <p:sp>
        <p:nvSpPr>
          <p:cNvPr id="7" name="Text 5"/>
          <p:cNvSpPr txBox="1"/>
          <p:nvPr/>
        </p:nvSpPr>
        <p:spPr>
          <a:xfrm>
            <a:off x="749808" y="2212848"/>
            <a:ext cx="2295144" cy="658368"/>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1.03M</a:t>
            </a:r>
            <a:endParaRPr lang="en-US" sz="3400" dirty="0"/>
          </a:p>
        </p:txBody>
      </p:sp>
      <p:sp>
        <p:nvSpPr>
          <p:cNvPr id="8" name="Text 6"/>
          <p:cNvSpPr txBox="1"/>
          <p:nvPr/>
        </p:nvSpPr>
        <p:spPr>
          <a:xfrm>
            <a:off x="749808" y="2880360"/>
            <a:ext cx="2295144" cy="274320"/>
          </a:xfrm>
          <a:prstGeom prst="rect">
            <a:avLst/>
          </a:prstGeom>
          <a:noFill/>
          <a:ln/>
        </p:spPr>
        <p:txBody>
          <a:bodyPr wrap="square" lIns="0" tIns="0" rIns="0" bIns="0" rtlCol="0" anchor="ctr"/>
          <a:lstStyle/>
          <a:p>
            <a:pPr indent="0" marL="0">
              <a:buNone/>
            </a:pPr>
            <a:r>
              <a:rPr lang="en-US" sz="1300" b="1" dirty="0">
                <a:solidFill>
                  <a:srgbClr val="ECE2D0"/>
                </a:solidFill>
                <a:latin typeface="Calibri" pitchFamily="34" charset="0"/>
                <a:ea typeface="Calibri" pitchFamily="34" charset="-122"/>
                <a:cs typeface="Calibri" pitchFamily="34" charset="-120"/>
              </a:rPr>
              <a:t>Clean transactions</a:t>
            </a:r>
            <a:endParaRPr lang="en-US" sz="1300" dirty="0"/>
          </a:p>
        </p:txBody>
      </p:sp>
      <p:sp>
        <p:nvSpPr>
          <p:cNvPr id="9" name="Text 7"/>
          <p:cNvSpPr txBox="1"/>
          <p:nvPr/>
        </p:nvSpPr>
        <p:spPr>
          <a:xfrm>
            <a:off x="749808" y="3154680"/>
            <a:ext cx="2295144" cy="548640"/>
          </a:xfrm>
          <a:prstGeom prst="rect">
            <a:avLst/>
          </a:prstGeom>
          <a:noFill/>
          <a:ln/>
        </p:spPr>
        <p:txBody>
          <a:bodyPr wrap="square" lIns="0" tIns="0" rIns="0" bIns="0" rtlCol="0" anchor="ctr"/>
          <a:lstStyle/>
          <a:p>
            <a:pPr indent="0" marL="0">
              <a:buNone/>
            </a:pPr>
            <a:r>
              <a:rPr lang="en-US" sz="1050" dirty="0">
                <a:solidFill>
                  <a:srgbClr val="D3ABB1"/>
                </a:solidFill>
                <a:latin typeface="Calibri" pitchFamily="34" charset="0"/>
                <a:ea typeface="Calibri" pitchFamily="34" charset="-122"/>
                <a:cs typeface="Calibri" pitchFamily="34" charset="-120"/>
              </a:rPr>
              <a:t>after de-duplication and validation</a:t>
            </a:r>
            <a:endParaRPr lang="en-US" sz="1050" dirty="0"/>
          </a:p>
        </p:txBody>
      </p:sp>
      <p:sp>
        <p:nvSpPr>
          <p:cNvPr id="10" name="Shape 8"/>
          <p:cNvSpPr/>
          <p:nvPr/>
        </p:nvSpPr>
        <p:spPr>
          <a:xfrm>
            <a:off x="3502152" y="2011680"/>
            <a:ext cx="2697480" cy="1828800"/>
          </a:xfrm>
          <a:prstGeom prst="roundRect">
            <a:avLst>
              <a:gd name="adj" fmla="val 5000"/>
            </a:avLst>
          </a:prstGeom>
          <a:solidFill>
            <a:srgbClr val="F7F2EA"/>
          </a:solidFill>
          <a:ln w="12700">
            <a:solidFill>
              <a:srgbClr val="ECE2D0"/>
            </a:solidFill>
            <a:prstDash val="solid"/>
          </a:ln>
          <a:effectLst>
            <a:outerShdw sx="100000" sy="100000" kx="0" ky="0" algn="bl" rotWithShape="0" blurRad="101600" dist="12700" dir="5400000">
              <a:srgbClr val="000000">
                <a:alpha val="8000"/>
              </a:srgbClr>
            </a:outerShdw>
          </a:effectLst>
        </p:spPr>
      </p:sp>
      <p:sp>
        <p:nvSpPr>
          <p:cNvPr id="11" name="Text 9"/>
          <p:cNvSpPr txBox="1"/>
          <p:nvPr/>
        </p:nvSpPr>
        <p:spPr>
          <a:xfrm>
            <a:off x="3703320" y="2212848"/>
            <a:ext cx="2295144" cy="658368"/>
          </a:xfrm>
          <a:prstGeom prst="rect">
            <a:avLst/>
          </a:prstGeom>
          <a:noFill/>
          <a:ln/>
        </p:spPr>
        <p:txBody>
          <a:bodyPr wrap="square" lIns="0" tIns="0" rIns="0" bIns="0" rtlCol="0" anchor="ctr"/>
          <a:lstStyle/>
          <a:p>
            <a:pPr indent="0" marL="0">
              <a:buNone/>
            </a:pPr>
            <a:r>
              <a:rPr lang="en-US" sz="3400" b="1" dirty="0">
                <a:solidFill>
                  <a:srgbClr val="6D2E46"/>
                </a:solidFill>
                <a:latin typeface="Cambria" pitchFamily="34" charset="0"/>
                <a:ea typeface="Cambria" pitchFamily="34" charset="-122"/>
                <a:cs typeface="Cambria" pitchFamily="34" charset="-120"/>
              </a:rPr>
              <a:t>£18.9M</a:t>
            </a:r>
            <a:endParaRPr lang="en-US" sz="3400" dirty="0"/>
          </a:p>
        </p:txBody>
      </p:sp>
      <p:sp>
        <p:nvSpPr>
          <p:cNvPr id="12" name="Text 10"/>
          <p:cNvSpPr txBox="1"/>
          <p:nvPr/>
        </p:nvSpPr>
        <p:spPr>
          <a:xfrm>
            <a:off x="3703320" y="2880360"/>
            <a:ext cx="2295144" cy="274320"/>
          </a:xfrm>
          <a:prstGeom prst="rect">
            <a:avLst/>
          </a:prstGeom>
          <a:noFill/>
          <a:ln/>
        </p:spPr>
        <p:txBody>
          <a:bodyPr wrap="square" lIns="0" tIns="0" rIns="0" bIns="0" rtlCol="0" anchor="ctr"/>
          <a:lstStyle/>
          <a:p>
            <a:pPr indent="0" marL="0">
              <a:buNone/>
            </a:pPr>
            <a:r>
              <a:rPr lang="en-US" sz="1300" b="1" dirty="0">
                <a:solidFill>
                  <a:srgbClr val="2B2124"/>
                </a:solidFill>
                <a:latin typeface="Calibri" pitchFamily="34" charset="0"/>
                <a:ea typeface="Calibri" pitchFamily="34" charset="-122"/>
                <a:cs typeface="Calibri" pitchFamily="34" charset="-120"/>
              </a:rPr>
              <a:t>Total revenue</a:t>
            </a:r>
            <a:endParaRPr lang="en-US" sz="1300" dirty="0"/>
          </a:p>
        </p:txBody>
      </p:sp>
      <p:sp>
        <p:nvSpPr>
          <p:cNvPr id="13" name="Text 11"/>
          <p:cNvSpPr txBox="1"/>
          <p:nvPr/>
        </p:nvSpPr>
        <p:spPr>
          <a:xfrm>
            <a:off x="3703320" y="3154680"/>
            <a:ext cx="2295144" cy="548640"/>
          </a:xfrm>
          <a:prstGeom prst="rect">
            <a:avLst/>
          </a:prstGeom>
          <a:noFill/>
          <a:ln/>
        </p:spPr>
        <p:txBody>
          <a:bodyPr wrap="square" lIns="0" tIns="0" rIns="0" bIns="0" rtlCol="0" anchor="ctr"/>
          <a:lstStyle/>
          <a:p>
            <a:pPr indent="0" marL="0">
              <a:buNone/>
            </a:pPr>
            <a:r>
              <a:rPr lang="en-US" sz="1050" dirty="0">
                <a:solidFill>
                  <a:srgbClr val="6B5C60"/>
                </a:solidFill>
                <a:latin typeface="Calibri" pitchFamily="34" charset="0"/>
                <a:ea typeface="Calibri" pitchFamily="34" charset="-122"/>
                <a:cs typeface="Calibri" pitchFamily="34" charset="-120"/>
              </a:rPr>
              <a:t>Dec 2009 – Dec 2011</a:t>
            </a:r>
            <a:endParaRPr lang="en-US" sz="1050" dirty="0"/>
          </a:p>
        </p:txBody>
      </p:sp>
      <p:sp>
        <p:nvSpPr>
          <p:cNvPr id="14" name="Shape 12"/>
          <p:cNvSpPr/>
          <p:nvPr/>
        </p:nvSpPr>
        <p:spPr>
          <a:xfrm>
            <a:off x="6455664" y="2011680"/>
            <a:ext cx="2697480" cy="1828800"/>
          </a:xfrm>
          <a:prstGeom prst="roundRect">
            <a:avLst>
              <a:gd name="adj" fmla="val 5000"/>
            </a:avLst>
          </a:prstGeom>
          <a:solidFill>
            <a:srgbClr val="F7F2EA"/>
          </a:solidFill>
          <a:ln w="12700">
            <a:solidFill>
              <a:srgbClr val="ECE2D0"/>
            </a:solidFill>
            <a:prstDash val="solid"/>
          </a:ln>
          <a:effectLst>
            <a:outerShdw sx="100000" sy="100000" kx="0" ky="0" algn="bl" rotWithShape="0" blurRad="101600" dist="12700" dir="5400000">
              <a:srgbClr val="000000">
                <a:alpha val="8000"/>
              </a:srgbClr>
            </a:outerShdw>
          </a:effectLst>
        </p:spPr>
      </p:sp>
      <p:sp>
        <p:nvSpPr>
          <p:cNvPr id="15" name="Text 13"/>
          <p:cNvSpPr txBox="1"/>
          <p:nvPr/>
        </p:nvSpPr>
        <p:spPr>
          <a:xfrm>
            <a:off x="6656832" y="2212848"/>
            <a:ext cx="2295144" cy="658368"/>
          </a:xfrm>
          <a:prstGeom prst="rect">
            <a:avLst/>
          </a:prstGeom>
          <a:noFill/>
          <a:ln/>
        </p:spPr>
        <p:txBody>
          <a:bodyPr wrap="square" lIns="0" tIns="0" rIns="0" bIns="0" rtlCol="0" anchor="ctr"/>
          <a:lstStyle/>
          <a:p>
            <a:pPr indent="0" marL="0">
              <a:buNone/>
            </a:pPr>
            <a:r>
              <a:rPr lang="en-US" sz="3400" b="1" dirty="0">
                <a:solidFill>
                  <a:srgbClr val="6D2E46"/>
                </a:solidFill>
                <a:latin typeface="Cambria" pitchFamily="34" charset="0"/>
                <a:ea typeface="Cambria" pitchFamily="34" charset="-122"/>
                <a:cs typeface="Cambria" pitchFamily="34" charset="-120"/>
              </a:rPr>
              <a:t>5,942</a:t>
            </a:r>
            <a:endParaRPr lang="en-US" sz="3400" dirty="0"/>
          </a:p>
        </p:txBody>
      </p:sp>
      <p:sp>
        <p:nvSpPr>
          <p:cNvPr id="16" name="Text 14"/>
          <p:cNvSpPr txBox="1"/>
          <p:nvPr/>
        </p:nvSpPr>
        <p:spPr>
          <a:xfrm>
            <a:off x="6656832" y="2880360"/>
            <a:ext cx="2295144" cy="274320"/>
          </a:xfrm>
          <a:prstGeom prst="rect">
            <a:avLst/>
          </a:prstGeom>
          <a:noFill/>
          <a:ln/>
        </p:spPr>
        <p:txBody>
          <a:bodyPr wrap="square" lIns="0" tIns="0" rIns="0" bIns="0" rtlCol="0" anchor="ctr"/>
          <a:lstStyle/>
          <a:p>
            <a:pPr indent="0" marL="0">
              <a:buNone/>
            </a:pPr>
            <a:r>
              <a:rPr lang="en-US" sz="1300" b="1" dirty="0">
                <a:solidFill>
                  <a:srgbClr val="2B2124"/>
                </a:solidFill>
                <a:latin typeface="Calibri" pitchFamily="34" charset="0"/>
                <a:ea typeface="Calibri" pitchFamily="34" charset="-122"/>
                <a:cs typeface="Calibri" pitchFamily="34" charset="-120"/>
              </a:rPr>
              <a:t>Identified customers</a:t>
            </a:r>
            <a:endParaRPr lang="en-US" sz="1300" dirty="0"/>
          </a:p>
        </p:txBody>
      </p:sp>
      <p:sp>
        <p:nvSpPr>
          <p:cNvPr id="17" name="Text 15"/>
          <p:cNvSpPr txBox="1"/>
          <p:nvPr/>
        </p:nvSpPr>
        <p:spPr>
          <a:xfrm>
            <a:off x="6656832" y="3154680"/>
            <a:ext cx="2295144" cy="548640"/>
          </a:xfrm>
          <a:prstGeom prst="rect">
            <a:avLst/>
          </a:prstGeom>
          <a:noFill/>
          <a:ln/>
        </p:spPr>
        <p:txBody>
          <a:bodyPr wrap="square" lIns="0" tIns="0" rIns="0" bIns="0" rtlCol="0" anchor="ctr"/>
          <a:lstStyle/>
          <a:p>
            <a:pPr indent="0" marL="0">
              <a:buNone/>
            </a:pPr>
            <a:r>
              <a:rPr lang="en-US" sz="1050" dirty="0">
                <a:solidFill>
                  <a:srgbClr val="6B5C60"/>
                </a:solidFill>
                <a:latin typeface="Calibri" pitchFamily="34" charset="0"/>
                <a:ea typeface="Calibri" pitchFamily="34" charset="-122"/>
                <a:cs typeface="Calibri" pitchFamily="34" charset="-120"/>
              </a:rPr>
              <a:t>with full behavioural profiles</a:t>
            </a:r>
            <a:endParaRPr lang="en-US" sz="1050" dirty="0"/>
          </a:p>
        </p:txBody>
      </p:sp>
      <p:sp>
        <p:nvSpPr>
          <p:cNvPr id="18" name="Shape 16"/>
          <p:cNvSpPr/>
          <p:nvPr/>
        </p:nvSpPr>
        <p:spPr>
          <a:xfrm>
            <a:off x="9409176" y="2011680"/>
            <a:ext cx="2697480" cy="1828800"/>
          </a:xfrm>
          <a:prstGeom prst="roundRect">
            <a:avLst>
              <a:gd name="adj" fmla="val 5000"/>
            </a:avLst>
          </a:prstGeom>
          <a:solidFill>
            <a:srgbClr val="F7F2EA"/>
          </a:solidFill>
          <a:ln w="12700">
            <a:solidFill>
              <a:srgbClr val="ECE2D0"/>
            </a:solidFill>
            <a:prstDash val="solid"/>
          </a:ln>
          <a:effectLst>
            <a:outerShdw sx="100000" sy="100000" kx="0" ky="0" algn="bl" rotWithShape="0" blurRad="101600" dist="12700" dir="5400000">
              <a:srgbClr val="000000">
                <a:alpha val="8000"/>
              </a:srgbClr>
            </a:outerShdw>
          </a:effectLst>
        </p:spPr>
      </p:sp>
      <p:sp>
        <p:nvSpPr>
          <p:cNvPr id="19" name="Text 17"/>
          <p:cNvSpPr txBox="1"/>
          <p:nvPr/>
        </p:nvSpPr>
        <p:spPr>
          <a:xfrm>
            <a:off x="9610344" y="2212848"/>
            <a:ext cx="2295144" cy="658368"/>
          </a:xfrm>
          <a:prstGeom prst="rect">
            <a:avLst/>
          </a:prstGeom>
          <a:noFill/>
          <a:ln/>
        </p:spPr>
        <p:txBody>
          <a:bodyPr wrap="square" lIns="0" tIns="0" rIns="0" bIns="0" rtlCol="0" anchor="ctr"/>
          <a:lstStyle/>
          <a:p>
            <a:pPr indent="0" marL="0">
              <a:buNone/>
            </a:pPr>
            <a:r>
              <a:rPr lang="en-US" sz="3400" b="1" dirty="0">
                <a:solidFill>
                  <a:srgbClr val="6D2E46"/>
                </a:solidFill>
                <a:latin typeface="Cambria" pitchFamily="34" charset="0"/>
                <a:ea typeface="Cambria" pitchFamily="34" charset="-122"/>
                <a:cs typeface="Cambria" pitchFamily="34" charset="-120"/>
              </a:rPr>
              <a:t>5,304</a:t>
            </a:r>
            <a:endParaRPr lang="en-US" sz="3400" dirty="0"/>
          </a:p>
        </p:txBody>
      </p:sp>
      <p:sp>
        <p:nvSpPr>
          <p:cNvPr id="20" name="Text 18"/>
          <p:cNvSpPr txBox="1"/>
          <p:nvPr/>
        </p:nvSpPr>
        <p:spPr>
          <a:xfrm>
            <a:off x="9610344" y="2880360"/>
            <a:ext cx="2295144" cy="274320"/>
          </a:xfrm>
          <a:prstGeom prst="rect">
            <a:avLst/>
          </a:prstGeom>
          <a:noFill/>
          <a:ln/>
        </p:spPr>
        <p:txBody>
          <a:bodyPr wrap="square" lIns="0" tIns="0" rIns="0" bIns="0" rtlCol="0" anchor="ctr"/>
          <a:lstStyle/>
          <a:p>
            <a:pPr indent="0" marL="0">
              <a:buNone/>
            </a:pPr>
            <a:r>
              <a:rPr lang="en-US" sz="1300" b="1" dirty="0">
                <a:solidFill>
                  <a:srgbClr val="2B2124"/>
                </a:solidFill>
                <a:latin typeface="Calibri" pitchFamily="34" charset="0"/>
                <a:ea typeface="Calibri" pitchFamily="34" charset="-122"/>
                <a:cs typeface="Calibri" pitchFamily="34" charset="-120"/>
              </a:rPr>
              <a:t>Distinct products</a:t>
            </a:r>
            <a:endParaRPr lang="en-US" sz="1300" dirty="0"/>
          </a:p>
        </p:txBody>
      </p:sp>
      <p:sp>
        <p:nvSpPr>
          <p:cNvPr id="21" name="Text 19"/>
          <p:cNvSpPr txBox="1"/>
          <p:nvPr/>
        </p:nvSpPr>
        <p:spPr>
          <a:xfrm>
            <a:off x="9610344" y="3154680"/>
            <a:ext cx="2295144" cy="548640"/>
          </a:xfrm>
          <a:prstGeom prst="rect">
            <a:avLst/>
          </a:prstGeom>
          <a:noFill/>
          <a:ln/>
        </p:spPr>
        <p:txBody>
          <a:bodyPr wrap="square" lIns="0" tIns="0" rIns="0" bIns="0" rtlCol="0" anchor="ctr"/>
          <a:lstStyle/>
          <a:p>
            <a:pPr indent="0" marL="0">
              <a:buNone/>
            </a:pPr>
            <a:r>
              <a:rPr lang="en-US" sz="1050" dirty="0">
                <a:solidFill>
                  <a:srgbClr val="6B5C60"/>
                </a:solidFill>
                <a:latin typeface="Calibri" pitchFamily="34" charset="0"/>
                <a:ea typeface="Calibri" pitchFamily="34" charset="-122"/>
                <a:cs typeface="Calibri" pitchFamily="34" charset="-120"/>
              </a:rPr>
              <a:t>across 43 countries</a:t>
            </a:r>
            <a:endParaRPr lang="en-US" sz="1050" dirty="0"/>
          </a:p>
        </p:txBody>
      </p:sp>
      <p:sp>
        <p:nvSpPr>
          <p:cNvPr id="22" name="Shape 20"/>
          <p:cNvSpPr/>
          <p:nvPr/>
        </p:nvSpPr>
        <p:spPr>
          <a:xfrm>
            <a:off x="548640" y="4160520"/>
            <a:ext cx="11064240" cy="1600200"/>
          </a:xfrm>
          <a:prstGeom prst="roundRect">
            <a:avLst>
              <a:gd name="adj" fmla="val 5714"/>
            </a:avLst>
          </a:prstGeom>
          <a:solidFill>
            <a:srgbClr val="F7F2EA"/>
          </a:solidFill>
          <a:ln w="12700">
            <a:solidFill>
              <a:srgbClr val="ECE2D0"/>
            </a:solidFill>
            <a:prstDash val="solid"/>
          </a:ln>
          <a:effectLst>
            <a:outerShdw sx="100000" sy="100000" kx="0" ky="0" algn="bl" rotWithShape="0" blurRad="101600" dist="12700" dir="5400000">
              <a:srgbClr val="000000">
                <a:alpha val="8000"/>
              </a:srgbClr>
            </a:outerShdw>
          </a:effectLst>
        </p:spPr>
      </p:sp>
      <p:sp>
        <p:nvSpPr>
          <p:cNvPr id="23" name="Text 21"/>
          <p:cNvSpPr txBox="1"/>
          <p:nvPr/>
        </p:nvSpPr>
        <p:spPr>
          <a:xfrm>
            <a:off x="822960" y="4343400"/>
            <a:ext cx="4572000" cy="292608"/>
          </a:xfrm>
          <a:prstGeom prst="rect">
            <a:avLst/>
          </a:prstGeom>
          <a:noFill/>
          <a:ln/>
        </p:spPr>
        <p:txBody>
          <a:bodyPr wrap="square" lIns="0" tIns="0" rIns="0" bIns="0" rtlCol="0" anchor="ctr"/>
          <a:lstStyle/>
          <a:p>
            <a:pPr indent="0" marL="0">
              <a:buNone/>
            </a:pPr>
            <a:r>
              <a:rPr lang="en-US" sz="1300" b="1" dirty="0">
                <a:solidFill>
                  <a:srgbClr val="6D2E46"/>
                </a:solidFill>
                <a:latin typeface="Calibri" pitchFamily="34" charset="0"/>
                <a:ea typeface="Calibri" pitchFamily="34" charset="-122"/>
                <a:cs typeface="Calibri" pitchFamily="34" charset="-120"/>
              </a:rPr>
              <a:t>What was built on top of it</a:t>
            </a:r>
            <a:endParaRPr lang="en-US" sz="1300" dirty="0"/>
          </a:p>
        </p:txBody>
      </p:sp>
      <p:sp>
        <p:nvSpPr>
          <p:cNvPr id="24" name="Shape 22"/>
          <p:cNvSpPr/>
          <p:nvPr/>
        </p:nvSpPr>
        <p:spPr>
          <a:xfrm>
            <a:off x="822960" y="4773168"/>
            <a:ext cx="146304" cy="146304"/>
          </a:xfrm>
          <a:prstGeom prst="ellipse">
            <a:avLst/>
          </a:prstGeom>
          <a:solidFill>
            <a:srgbClr val="C08A2E"/>
          </a:solidFill>
          <a:ln w="12700">
            <a:solidFill>
              <a:srgbClr val="C08A2E"/>
            </a:solidFill>
            <a:prstDash val="solid"/>
          </a:ln>
        </p:spPr>
      </p:sp>
      <p:sp>
        <p:nvSpPr>
          <p:cNvPr id="25" name="Text 23"/>
          <p:cNvSpPr txBox="1"/>
          <p:nvPr/>
        </p:nvSpPr>
        <p:spPr>
          <a:xfrm>
            <a:off x="1060704" y="4690872"/>
            <a:ext cx="1874520" cy="274320"/>
          </a:xfrm>
          <a:prstGeom prst="rect">
            <a:avLst/>
          </a:prstGeom>
          <a:noFill/>
          <a:ln/>
        </p:spPr>
        <p:txBody>
          <a:bodyPr wrap="square" lIns="0" tIns="0" rIns="0" bIns="0" rtlCol="0" anchor="ctr"/>
          <a:lstStyle/>
          <a:p>
            <a:pPr indent="0" marL="0">
              <a:buNone/>
            </a:pPr>
            <a:r>
              <a:rPr lang="en-US" sz="1200" b="1" dirty="0">
                <a:solidFill>
                  <a:srgbClr val="2B2124"/>
                </a:solidFill>
                <a:latin typeface="Calibri" pitchFamily="34" charset="0"/>
                <a:ea typeface="Calibri" pitchFamily="34" charset="-122"/>
                <a:cs typeface="Calibri" pitchFamily="34" charset="-120"/>
              </a:rPr>
              <a:t>SQL warehouse</a:t>
            </a:r>
            <a:endParaRPr lang="en-US" sz="1200" dirty="0"/>
          </a:p>
        </p:txBody>
      </p:sp>
      <p:sp>
        <p:nvSpPr>
          <p:cNvPr id="26" name="Text 24"/>
          <p:cNvSpPr txBox="1"/>
          <p:nvPr/>
        </p:nvSpPr>
        <p:spPr>
          <a:xfrm>
            <a:off x="1060704" y="4965192"/>
            <a:ext cx="1874520" cy="640080"/>
          </a:xfrm>
          <a:prstGeom prst="rect">
            <a:avLst/>
          </a:prstGeom>
          <a:noFill/>
          <a:ln/>
        </p:spPr>
        <p:txBody>
          <a:bodyPr wrap="square" lIns="0" tIns="0" rIns="0" bIns="0" rtlCol="0" anchor="ctr"/>
          <a:lstStyle/>
          <a:p>
            <a:pPr indent="0" marL="0">
              <a:buNone/>
            </a:pPr>
            <a:r>
              <a:rPr lang="en-US" sz="1050" dirty="0">
                <a:solidFill>
                  <a:srgbClr val="6B5C60"/>
                </a:solidFill>
                <a:latin typeface="Calibri" pitchFamily="34" charset="0"/>
                <a:ea typeface="Calibri" pitchFamily="34" charset="-122"/>
                <a:cs typeface="Calibri" pitchFamily="34" charset="-120"/>
              </a:rPr>
              <a:t>4 indexed tables, 10 analytical queries</a:t>
            </a:r>
            <a:endParaRPr lang="en-US" sz="1050" dirty="0"/>
          </a:p>
        </p:txBody>
      </p:sp>
      <p:sp>
        <p:nvSpPr>
          <p:cNvPr id="27" name="Shape 25"/>
          <p:cNvSpPr/>
          <p:nvPr/>
        </p:nvSpPr>
        <p:spPr>
          <a:xfrm>
            <a:off x="2980944" y="4773168"/>
            <a:ext cx="146304" cy="146304"/>
          </a:xfrm>
          <a:prstGeom prst="ellipse">
            <a:avLst/>
          </a:prstGeom>
          <a:solidFill>
            <a:srgbClr val="C08A2E"/>
          </a:solidFill>
          <a:ln w="12700">
            <a:solidFill>
              <a:srgbClr val="C08A2E"/>
            </a:solidFill>
            <a:prstDash val="solid"/>
          </a:ln>
        </p:spPr>
      </p:sp>
      <p:sp>
        <p:nvSpPr>
          <p:cNvPr id="28" name="Text 26"/>
          <p:cNvSpPr txBox="1"/>
          <p:nvPr/>
        </p:nvSpPr>
        <p:spPr>
          <a:xfrm>
            <a:off x="3218688" y="4690872"/>
            <a:ext cx="1874520" cy="274320"/>
          </a:xfrm>
          <a:prstGeom prst="rect">
            <a:avLst/>
          </a:prstGeom>
          <a:noFill/>
          <a:ln/>
        </p:spPr>
        <p:txBody>
          <a:bodyPr wrap="square" lIns="0" tIns="0" rIns="0" bIns="0" rtlCol="0" anchor="ctr"/>
          <a:lstStyle/>
          <a:p>
            <a:pPr indent="0" marL="0">
              <a:buNone/>
            </a:pPr>
            <a:r>
              <a:rPr lang="en-US" sz="1200" b="1" dirty="0">
                <a:solidFill>
                  <a:srgbClr val="2B2124"/>
                </a:solidFill>
                <a:latin typeface="Calibri" pitchFamily="34" charset="0"/>
                <a:ea typeface="Calibri" pitchFamily="34" charset="-122"/>
                <a:cs typeface="Calibri" pitchFamily="34" charset="-120"/>
              </a:rPr>
              <a:t>Segmentation</a:t>
            </a:r>
            <a:endParaRPr lang="en-US" sz="1200" dirty="0"/>
          </a:p>
        </p:txBody>
      </p:sp>
      <p:sp>
        <p:nvSpPr>
          <p:cNvPr id="29" name="Text 27"/>
          <p:cNvSpPr txBox="1"/>
          <p:nvPr/>
        </p:nvSpPr>
        <p:spPr>
          <a:xfrm>
            <a:off x="3218688" y="4965192"/>
            <a:ext cx="1874520" cy="640080"/>
          </a:xfrm>
          <a:prstGeom prst="rect">
            <a:avLst/>
          </a:prstGeom>
          <a:noFill/>
          <a:ln/>
        </p:spPr>
        <p:txBody>
          <a:bodyPr wrap="square" lIns="0" tIns="0" rIns="0" bIns="0" rtlCol="0" anchor="ctr"/>
          <a:lstStyle/>
          <a:p>
            <a:pPr indent="0" marL="0">
              <a:buNone/>
            </a:pPr>
            <a:r>
              <a:rPr lang="en-US" sz="1050" dirty="0">
                <a:solidFill>
                  <a:srgbClr val="6B5C60"/>
                </a:solidFill>
                <a:latin typeface="Calibri" pitchFamily="34" charset="0"/>
                <a:ea typeface="Calibri" pitchFamily="34" charset="-122"/>
                <a:cs typeface="Calibri" pitchFamily="34" charset="-120"/>
              </a:rPr>
              <a:t>3 RFM segments, silhouette 0.44</a:t>
            </a:r>
            <a:endParaRPr lang="en-US" sz="1050" dirty="0"/>
          </a:p>
        </p:txBody>
      </p:sp>
      <p:sp>
        <p:nvSpPr>
          <p:cNvPr id="30" name="Shape 28"/>
          <p:cNvSpPr/>
          <p:nvPr/>
        </p:nvSpPr>
        <p:spPr>
          <a:xfrm>
            <a:off x="5138928" y="4773168"/>
            <a:ext cx="146304" cy="146304"/>
          </a:xfrm>
          <a:prstGeom prst="ellipse">
            <a:avLst/>
          </a:prstGeom>
          <a:solidFill>
            <a:srgbClr val="C08A2E"/>
          </a:solidFill>
          <a:ln w="12700">
            <a:solidFill>
              <a:srgbClr val="C08A2E"/>
            </a:solidFill>
            <a:prstDash val="solid"/>
          </a:ln>
        </p:spPr>
      </p:sp>
      <p:sp>
        <p:nvSpPr>
          <p:cNvPr id="31" name="Text 29"/>
          <p:cNvSpPr txBox="1"/>
          <p:nvPr/>
        </p:nvSpPr>
        <p:spPr>
          <a:xfrm>
            <a:off x="5376672" y="4690872"/>
            <a:ext cx="1874520" cy="274320"/>
          </a:xfrm>
          <a:prstGeom prst="rect">
            <a:avLst/>
          </a:prstGeom>
          <a:noFill/>
          <a:ln/>
        </p:spPr>
        <p:txBody>
          <a:bodyPr wrap="square" lIns="0" tIns="0" rIns="0" bIns="0" rtlCol="0" anchor="ctr"/>
          <a:lstStyle/>
          <a:p>
            <a:pPr indent="0" marL="0">
              <a:buNone/>
            </a:pPr>
            <a:r>
              <a:rPr lang="en-US" sz="1200" b="1" dirty="0">
                <a:solidFill>
                  <a:srgbClr val="2B2124"/>
                </a:solidFill>
                <a:latin typeface="Calibri" pitchFamily="34" charset="0"/>
                <a:ea typeface="Calibri" pitchFamily="34" charset="-122"/>
                <a:cs typeface="Calibri" pitchFamily="34" charset="-120"/>
              </a:rPr>
              <a:t>Churn model</a:t>
            </a:r>
            <a:endParaRPr lang="en-US" sz="1200" dirty="0"/>
          </a:p>
        </p:txBody>
      </p:sp>
      <p:sp>
        <p:nvSpPr>
          <p:cNvPr id="32" name="Text 30"/>
          <p:cNvSpPr txBox="1"/>
          <p:nvPr/>
        </p:nvSpPr>
        <p:spPr>
          <a:xfrm>
            <a:off x="5376672" y="4965192"/>
            <a:ext cx="1874520" cy="640080"/>
          </a:xfrm>
          <a:prstGeom prst="rect">
            <a:avLst/>
          </a:prstGeom>
          <a:noFill/>
          <a:ln/>
        </p:spPr>
        <p:txBody>
          <a:bodyPr wrap="square" lIns="0" tIns="0" rIns="0" bIns="0" rtlCol="0" anchor="ctr"/>
          <a:lstStyle/>
          <a:p>
            <a:pPr indent="0" marL="0">
              <a:buNone/>
            </a:pPr>
            <a:r>
              <a:rPr lang="en-US" sz="1050" dirty="0">
                <a:solidFill>
                  <a:srgbClr val="6B5C60"/>
                </a:solidFill>
                <a:latin typeface="Calibri" pitchFamily="34" charset="0"/>
                <a:ea typeface="Calibri" pitchFamily="34" charset="-122"/>
                <a:cs typeface="Calibri" pitchFamily="34" charset="-120"/>
              </a:rPr>
              <a:t>Gradient Boosting, PR-AUC 0.77</a:t>
            </a:r>
            <a:endParaRPr lang="en-US" sz="1050" dirty="0"/>
          </a:p>
        </p:txBody>
      </p:sp>
      <p:sp>
        <p:nvSpPr>
          <p:cNvPr id="33" name="Shape 31"/>
          <p:cNvSpPr/>
          <p:nvPr/>
        </p:nvSpPr>
        <p:spPr>
          <a:xfrm>
            <a:off x="7296912" y="4773168"/>
            <a:ext cx="146304" cy="146304"/>
          </a:xfrm>
          <a:prstGeom prst="ellipse">
            <a:avLst/>
          </a:prstGeom>
          <a:solidFill>
            <a:srgbClr val="C08A2E"/>
          </a:solidFill>
          <a:ln w="12700">
            <a:solidFill>
              <a:srgbClr val="C08A2E"/>
            </a:solidFill>
            <a:prstDash val="solid"/>
          </a:ln>
        </p:spPr>
      </p:sp>
      <p:sp>
        <p:nvSpPr>
          <p:cNvPr id="34" name="Text 32"/>
          <p:cNvSpPr txBox="1"/>
          <p:nvPr/>
        </p:nvSpPr>
        <p:spPr>
          <a:xfrm>
            <a:off x="7534656" y="4690872"/>
            <a:ext cx="1874520" cy="274320"/>
          </a:xfrm>
          <a:prstGeom prst="rect">
            <a:avLst/>
          </a:prstGeom>
          <a:noFill/>
          <a:ln/>
        </p:spPr>
        <p:txBody>
          <a:bodyPr wrap="square" lIns="0" tIns="0" rIns="0" bIns="0" rtlCol="0" anchor="ctr"/>
          <a:lstStyle/>
          <a:p>
            <a:pPr indent="0" marL="0">
              <a:buNone/>
            </a:pPr>
            <a:r>
              <a:rPr lang="en-US" sz="1200" b="1" dirty="0">
                <a:solidFill>
                  <a:srgbClr val="2B2124"/>
                </a:solidFill>
                <a:latin typeface="Calibri" pitchFamily="34" charset="0"/>
                <a:ea typeface="Calibri" pitchFamily="34" charset="-122"/>
                <a:cs typeface="Calibri" pitchFamily="34" charset="-120"/>
              </a:rPr>
              <a:t>Recommender</a:t>
            </a:r>
            <a:endParaRPr lang="en-US" sz="1200" dirty="0"/>
          </a:p>
        </p:txBody>
      </p:sp>
      <p:sp>
        <p:nvSpPr>
          <p:cNvPr id="35" name="Text 33"/>
          <p:cNvSpPr txBox="1"/>
          <p:nvPr/>
        </p:nvSpPr>
        <p:spPr>
          <a:xfrm>
            <a:off x="7534656" y="4965192"/>
            <a:ext cx="1874520" cy="640080"/>
          </a:xfrm>
          <a:prstGeom prst="rect">
            <a:avLst/>
          </a:prstGeom>
          <a:noFill/>
          <a:ln/>
        </p:spPr>
        <p:txBody>
          <a:bodyPr wrap="square" lIns="0" tIns="0" rIns="0" bIns="0" rtlCol="0" anchor="ctr"/>
          <a:lstStyle/>
          <a:p>
            <a:pPr indent="0" marL="0">
              <a:buNone/>
            </a:pPr>
            <a:r>
              <a:rPr lang="en-US" sz="1050" dirty="0">
                <a:solidFill>
                  <a:srgbClr val="6B5C60"/>
                </a:solidFill>
                <a:latin typeface="Calibri" pitchFamily="34" charset="0"/>
                <a:ea typeface="Calibri" pitchFamily="34" charset="-122"/>
                <a:cs typeface="Calibri" pitchFamily="34" charset="-120"/>
              </a:rPr>
              <a:t>Sequence RNN, Hit Rate@10 29.8%</a:t>
            </a:r>
            <a:endParaRPr lang="en-US" sz="1050" dirty="0"/>
          </a:p>
        </p:txBody>
      </p:sp>
      <p:sp>
        <p:nvSpPr>
          <p:cNvPr id="36" name="Shape 34"/>
          <p:cNvSpPr/>
          <p:nvPr/>
        </p:nvSpPr>
        <p:spPr>
          <a:xfrm>
            <a:off x="9454896" y="4773168"/>
            <a:ext cx="146304" cy="146304"/>
          </a:xfrm>
          <a:prstGeom prst="ellipse">
            <a:avLst/>
          </a:prstGeom>
          <a:solidFill>
            <a:srgbClr val="C08A2E"/>
          </a:solidFill>
          <a:ln w="12700">
            <a:solidFill>
              <a:srgbClr val="C08A2E"/>
            </a:solidFill>
            <a:prstDash val="solid"/>
          </a:ln>
        </p:spPr>
      </p:sp>
      <p:sp>
        <p:nvSpPr>
          <p:cNvPr id="37" name="Text 35"/>
          <p:cNvSpPr txBox="1"/>
          <p:nvPr/>
        </p:nvSpPr>
        <p:spPr>
          <a:xfrm>
            <a:off x="9692640" y="4690872"/>
            <a:ext cx="1874520" cy="274320"/>
          </a:xfrm>
          <a:prstGeom prst="rect">
            <a:avLst/>
          </a:prstGeom>
          <a:noFill/>
          <a:ln/>
        </p:spPr>
        <p:txBody>
          <a:bodyPr wrap="square" lIns="0" tIns="0" rIns="0" bIns="0" rtlCol="0" anchor="ctr"/>
          <a:lstStyle/>
          <a:p>
            <a:pPr indent="0" marL="0">
              <a:buNone/>
            </a:pPr>
            <a:r>
              <a:rPr lang="en-US" sz="1200" b="1" dirty="0">
                <a:solidFill>
                  <a:srgbClr val="2B2124"/>
                </a:solidFill>
                <a:latin typeface="Calibri" pitchFamily="34" charset="0"/>
                <a:ea typeface="Calibri" pitchFamily="34" charset="-122"/>
                <a:cs typeface="Calibri" pitchFamily="34" charset="-120"/>
              </a:rPr>
              <a:t>Market basket</a:t>
            </a:r>
            <a:endParaRPr lang="en-US" sz="1200" dirty="0"/>
          </a:p>
        </p:txBody>
      </p:sp>
      <p:sp>
        <p:nvSpPr>
          <p:cNvPr id="38" name="Text 36"/>
          <p:cNvSpPr txBox="1"/>
          <p:nvPr/>
        </p:nvSpPr>
        <p:spPr>
          <a:xfrm>
            <a:off x="9692640" y="4965192"/>
            <a:ext cx="1874520" cy="640080"/>
          </a:xfrm>
          <a:prstGeom prst="rect">
            <a:avLst/>
          </a:prstGeom>
          <a:noFill/>
          <a:ln/>
        </p:spPr>
        <p:txBody>
          <a:bodyPr wrap="square" lIns="0" tIns="0" rIns="0" bIns="0" rtlCol="0" anchor="ctr"/>
          <a:lstStyle/>
          <a:p>
            <a:pPr indent="0" marL="0">
              <a:buNone/>
            </a:pPr>
            <a:r>
              <a:rPr lang="en-US" sz="1050" dirty="0">
                <a:solidFill>
                  <a:srgbClr val="6B5C60"/>
                </a:solidFill>
                <a:latin typeface="Calibri" pitchFamily="34" charset="0"/>
                <a:ea typeface="Calibri" pitchFamily="34" charset="-122"/>
                <a:cs typeface="Calibri" pitchFamily="34" charset="-120"/>
              </a:rPr>
              <a:t>122,750 rules, lift up to 52.7×</a:t>
            </a:r>
            <a:endParaRPr lang="en-US" sz="1050" dirty="0"/>
          </a:p>
        </p:txBody>
      </p:sp>
      <p:sp>
        <p:nvSpPr>
          <p:cNvPr id="40" name="Text 37"/>
          <p:cNvSpPr txBox="1"/>
          <p:nvPr/>
        </p:nvSpPr>
        <p:spPr>
          <a:xfrm>
            <a:off x="548640" y="6236208"/>
            <a:ext cx="5486400" cy="274320"/>
          </a:xfrm>
          <a:prstGeom prst="rect">
            <a:avLst/>
          </a:prstGeom>
          <a:noFill/>
          <a:ln/>
        </p:spPr>
        <p:txBody>
          <a:bodyPr wrap="square" lIns="0" tIns="0" rIns="0" bIns="0" rtlCol="0" anchor="ctr"/>
          <a:lstStyle/>
          <a:p>
            <a:pPr indent="0" marL="0">
              <a:buNone/>
            </a:pPr>
            <a:r>
              <a:rPr lang="en-US" sz="950" dirty="0">
                <a:solidFill>
                  <a:srgbClr val="A9989C"/>
                </a:solidFill>
                <a:latin typeface="Calibri" pitchFamily="34" charset="0"/>
                <a:ea typeface="Calibri" pitchFamily="34" charset="-122"/>
                <a:cs typeface="Calibri" pitchFamily="34" charset="-120"/>
              </a:rPr>
              <a:t>Customer 360  ·  Online Retail II</a:t>
            </a:r>
            <a:endParaRPr lang="en-US" sz="950" dirty="0"/>
          </a:p>
        </p:txBody>
      </p:sp>
      <p:sp>
        <p:nvSpPr>
          <p:cNvPr id="41" name="Text 38"/>
          <p:cNvSpPr txBox="1"/>
          <p:nvPr/>
        </p:nvSpPr>
        <p:spPr>
          <a:xfrm>
            <a:off x="10515600" y="6236208"/>
            <a:ext cx="1097280" cy="274320"/>
          </a:xfrm>
          <a:prstGeom prst="rect">
            <a:avLst/>
          </a:prstGeom>
          <a:noFill/>
          <a:ln/>
        </p:spPr>
        <p:txBody>
          <a:bodyPr wrap="square" lIns="0" tIns="0" rIns="0" bIns="0" rtlCol="0" anchor="ctr"/>
          <a:lstStyle/>
          <a:p>
            <a:pPr algn="r" indent="0" marL="0">
              <a:buNone/>
            </a:pPr>
            <a:r>
              <a:rPr lang="en-US" sz="950" b="1" dirty="0">
                <a:solidFill>
                  <a:srgbClr val="A26769"/>
                </a:solidFill>
                <a:latin typeface="Calibri" pitchFamily="34" charset="0"/>
                <a:ea typeface="Calibri" pitchFamily="34" charset="-122"/>
                <a:cs typeface="Calibri" pitchFamily="34" charset="-120"/>
              </a:rPr>
              <a:t>02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166774" cy="274320"/>
          </a:xfrm>
          <a:prstGeom prst="roundRect">
            <a:avLst>
              <a:gd name="adj" fmla="val 46667"/>
            </a:avLst>
          </a:prstGeom>
          <a:solidFill>
            <a:srgbClr val="ECE2D0"/>
          </a:solidFill>
          <a:ln w="12700">
            <a:solidFill>
              <a:srgbClr val="ECE2D0"/>
            </a:solidFill>
            <a:prstDash val="solid"/>
          </a:ln>
        </p:spPr>
      </p:sp>
      <p:sp>
        <p:nvSpPr>
          <p:cNvPr id="3" name="Text 1"/>
          <p:cNvSpPr txBox="1"/>
          <p:nvPr/>
        </p:nvSpPr>
        <p:spPr>
          <a:xfrm>
            <a:off x="548640" y="384048"/>
            <a:ext cx="1166774" cy="274320"/>
          </a:xfrm>
          <a:prstGeom prst="rect">
            <a:avLst/>
          </a:prstGeom>
          <a:noFill/>
          <a:ln/>
        </p:spPr>
        <p:txBody>
          <a:bodyPr wrap="square" lIns="0" tIns="0" rIns="0" bIns="0" rtlCol="0" anchor="ctr"/>
          <a:lstStyle/>
          <a:p>
            <a:pPr algn="ctr" indent="0" marL="0">
              <a:buNone/>
            </a:pPr>
            <a:r>
              <a:rPr lang="en-US" sz="1050" b="1" spc="120" kern="0" dirty="0">
                <a:solidFill>
                  <a:srgbClr val="6D2E46"/>
                </a:solidFill>
                <a:latin typeface="Calibri" pitchFamily="34" charset="0"/>
                <a:ea typeface="Calibri" pitchFamily="34" charset="-122"/>
                <a:cs typeface="Calibri" pitchFamily="34" charset="-120"/>
              </a:rPr>
              <a:t>ARCHITECTURE</a:t>
            </a:r>
            <a:endParaRPr lang="en-US" sz="1050" dirty="0"/>
          </a:p>
        </p:txBody>
      </p:sp>
      <p:sp>
        <p:nvSpPr>
          <p:cNvPr id="4" name="Text 2"/>
          <p:cNvSpPr txBox="1"/>
          <p:nvPr/>
        </p:nvSpPr>
        <p:spPr>
          <a:xfrm>
            <a:off x="548640" y="749808"/>
            <a:ext cx="11064240" cy="658368"/>
          </a:xfrm>
          <a:prstGeom prst="rect">
            <a:avLst/>
          </a:prstGeom>
          <a:noFill/>
          <a:ln/>
        </p:spPr>
        <p:txBody>
          <a:bodyPr wrap="square" lIns="0" tIns="0" rIns="0" bIns="0" rtlCol="0" anchor="ctr"/>
          <a:lstStyle/>
          <a:p>
            <a:pPr indent="0" marL="0">
              <a:buNone/>
            </a:pPr>
            <a:r>
              <a:rPr lang="en-US" sz="3200" b="1" dirty="0">
                <a:solidFill>
                  <a:srgbClr val="2B2124"/>
                </a:solidFill>
                <a:latin typeface="Cambria" pitchFamily="34" charset="0"/>
                <a:ea typeface="Cambria" pitchFamily="34" charset="-122"/>
                <a:cs typeface="Cambria" pitchFamily="34" charset="-120"/>
              </a:rPr>
              <a:t>One pipeline, six stages</a:t>
            </a:r>
            <a:endParaRPr lang="en-US" sz="3200" dirty="0"/>
          </a:p>
        </p:txBody>
      </p:sp>
      <p:sp>
        <p:nvSpPr>
          <p:cNvPr id="5" name="Text 3"/>
          <p:cNvSpPr txBox="1"/>
          <p:nvPr/>
        </p:nvSpPr>
        <p:spPr>
          <a:xfrm>
            <a:off x="548640" y="1389888"/>
            <a:ext cx="11064240" cy="365760"/>
          </a:xfrm>
          <a:prstGeom prst="rect">
            <a:avLst/>
          </a:prstGeom>
          <a:noFill/>
          <a:ln/>
        </p:spPr>
        <p:txBody>
          <a:bodyPr wrap="square" lIns="0" tIns="0" rIns="0" bIns="0" rtlCol="0" anchor="t"/>
          <a:lstStyle/>
          <a:p>
            <a:pPr indent="0" marL="0">
              <a:buNone/>
            </a:pPr>
            <a:r>
              <a:rPr lang="en-US" sz="1400" dirty="0">
                <a:solidFill>
                  <a:srgbClr val="6B5C60"/>
                </a:solidFill>
                <a:latin typeface="Calibri" pitchFamily="34" charset="0"/>
                <a:ea typeface="Calibri" pitchFamily="34" charset="-122"/>
                <a:cs typeface="Calibri" pitchFamily="34" charset="-120"/>
              </a:rPr>
              <a:t>Each stage writes reproducible artefacts the next stage consumes — no manual hand-offs.</a:t>
            </a:r>
            <a:endParaRPr lang="en-US" sz="1400" dirty="0"/>
          </a:p>
        </p:txBody>
      </p:sp>
      <p:sp>
        <p:nvSpPr>
          <p:cNvPr id="6" name="Shape 4"/>
          <p:cNvSpPr/>
          <p:nvPr/>
        </p:nvSpPr>
        <p:spPr>
          <a:xfrm>
            <a:off x="548640" y="2057400"/>
            <a:ext cx="3611880" cy="1691640"/>
          </a:xfrm>
          <a:prstGeom prst="roundRect">
            <a:avLst>
              <a:gd name="adj" fmla="val 5405"/>
            </a:avLst>
          </a:prstGeom>
          <a:solidFill>
            <a:srgbClr val="F7F2EA"/>
          </a:solidFill>
          <a:ln w="12700">
            <a:solidFill>
              <a:srgbClr val="ECE2D0"/>
            </a:solidFill>
            <a:prstDash val="solid"/>
          </a:ln>
          <a:effectLst>
            <a:outerShdw sx="100000" sy="100000" kx="0" ky="0" algn="bl" rotWithShape="0" blurRad="101600" dist="12700" dir="5400000">
              <a:srgbClr val="000000">
                <a:alpha val="8000"/>
              </a:srgbClr>
            </a:outerShdw>
          </a:effectLst>
        </p:spPr>
      </p:sp>
      <p:sp>
        <p:nvSpPr>
          <p:cNvPr id="7" name="Shape 5"/>
          <p:cNvSpPr/>
          <p:nvPr/>
        </p:nvSpPr>
        <p:spPr>
          <a:xfrm>
            <a:off x="777240" y="2286000"/>
            <a:ext cx="475488" cy="475488"/>
          </a:xfrm>
          <a:prstGeom prst="ellipse">
            <a:avLst/>
          </a:prstGeom>
          <a:solidFill>
            <a:srgbClr val="6D2E46"/>
          </a:solidFill>
          <a:ln w="12700">
            <a:solidFill>
              <a:srgbClr val="6D2E46"/>
            </a:solidFill>
            <a:prstDash val="solid"/>
          </a:ln>
        </p:spPr>
      </p:sp>
      <p:sp>
        <p:nvSpPr>
          <p:cNvPr id="8" name="Text 6"/>
          <p:cNvSpPr txBox="1"/>
          <p:nvPr/>
        </p:nvSpPr>
        <p:spPr>
          <a:xfrm>
            <a:off x="777240" y="2286000"/>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01</a:t>
            </a:r>
            <a:endParaRPr lang="en-US" sz="1400" dirty="0"/>
          </a:p>
        </p:txBody>
      </p:sp>
      <p:sp>
        <p:nvSpPr>
          <p:cNvPr id="9" name="Text 7"/>
          <p:cNvSpPr txBox="1"/>
          <p:nvPr/>
        </p:nvSpPr>
        <p:spPr>
          <a:xfrm>
            <a:off x="1389888" y="2331720"/>
            <a:ext cx="2560320" cy="329184"/>
          </a:xfrm>
          <a:prstGeom prst="rect">
            <a:avLst/>
          </a:prstGeom>
          <a:noFill/>
          <a:ln/>
        </p:spPr>
        <p:txBody>
          <a:bodyPr wrap="square" lIns="0" tIns="0" rIns="0" bIns="0" rtlCol="0" anchor="ctr"/>
          <a:lstStyle/>
          <a:p>
            <a:pPr indent="0" marL="0">
              <a:buNone/>
            </a:pPr>
            <a:r>
              <a:rPr lang="en-US" sz="1500" b="1" dirty="0">
                <a:solidFill>
                  <a:srgbClr val="2B2124"/>
                </a:solidFill>
                <a:latin typeface="Calibri" pitchFamily="34" charset="0"/>
                <a:ea typeface="Calibri" pitchFamily="34" charset="-122"/>
                <a:cs typeface="Calibri" pitchFamily="34" charset="-120"/>
              </a:rPr>
              <a:t>Ingest &amp; clean</a:t>
            </a:r>
            <a:endParaRPr lang="en-US" sz="1500" dirty="0"/>
          </a:p>
        </p:txBody>
      </p:sp>
      <p:sp>
        <p:nvSpPr>
          <p:cNvPr id="10" name="Text 8"/>
          <p:cNvSpPr txBox="1"/>
          <p:nvPr/>
        </p:nvSpPr>
        <p:spPr>
          <a:xfrm>
            <a:off x="777240" y="2926080"/>
            <a:ext cx="3154680" cy="685800"/>
          </a:xfrm>
          <a:prstGeom prst="rect">
            <a:avLst/>
          </a:prstGeom>
          <a:noFill/>
          <a:ln/>
        </p:spPr>
        <p:txBody>
          <a:bodyPr wrap="square" lIns="0" tIns="0" rIns="0" bIns="0" rtlCol="0" anchor="ctr"/>
          <a:lstStyle/>
          <a:p>
            <a:pPr indent="0" marL="0">
              <a:buNone/>
            </a:pPr>
            <a:r>
              <a:rPr lang="en-US" sz="1100" dirty="0">
                <a:solidFill>
                  <a:srgbClr val="6B5C60"/>
                </a:solidFill>
                <a:latin typeface="Calibri" pitchFamily="34" charset="0"/>
                <a:ea typeface="Calibri" pitchFamily="34" charset="-122"/>
                <a:cs typeface="Calibri" pitchFamily="34" charset="-120"/>
              </a:rPr>
              <a:t>Extract, standardise schema, de-duplicate, type-cast, handle missing values</a:t>
            </a:r>
            <a:endParaRPr lang="en-US" sz="1100" dirty="0"/>
          </a:p>
        </p:txBody>
      </p:sp>
      <p:sp>
        <p:nvSpPr>
          <p:cNvPr id="11" name="Shape 9"/>
          <p:cNvSpPr/>
          <p:nvPr/>
        </p:nvSpPr>
        <p:spPr>
          <a:xfrm>
            <a:off x="4480560" y="2057400"/>
            <a:ext cx="3611880" cy="1691640"/>
          </a:xfrm>
          <a:prstGeom prst="roundRect">
            <a:avLst>
              <a:gd name="adj" fmla="val 5405"/>
            </a:avLst>
          </a:prstGeom>
          <a:solidFill>
            <a:srgbClr val="F7F2EA"/>
          </a:solidFill>
          <a:ln w="12700">
            <a:solidFill>
              <a:srgbClr val="ECE2D0"/>
            </a:solidFill>
            <a:prstDash val="solid"/>
          </a:ln>
          <a:effectLst>
            <a:outerShdw sx="100000" sy="100000" kx="0" ky="0" algn="bl" rotWithShape="0" blurRad="101600" dist="12700" dir="5400000">
              <a:srgbClr val="000000">
                <a:alpha val="8000"/>
              </a:srgbClr>
            </a:outerShdw>
          </a:effectLst>
        </p:spPr>
      </p:sp>
      <p:sp>
        <p:nvSpPr>
          <p:cNvPr id="12" name="Shape 10"/>
          <p:cNvSpPr/>
          <p:nvPr/>
        </p:nvSpPr>
        <p:spPr>
          <a:xfrm>
            <a:off x="4709160" y="2286000"/>
            <a:ext cx="475488" cy="475488"/>
          </a:xfrm>
          <a:prstGeom prst="ellipse">
            <a:avLst/>
          </a:prstGeom>
          <a:solidFill>
            <a:srgbClr val="6D2E46"/>
          </a:solidFill>
          <a:ln w="12700">
            <a:solidFill>
              <a:srgbClr val="6D2E46"/>
            </a:solidFill>
            <a:prstDash val="solid"/>
          </a:ln>
        </p:spPr>
      </p:sp>
      <p:sp>
        <p:nvSpPr>
          <p:cNvPr id="13" name="Text 11"/>
          <p:cNvSpPr txBox="1"/>
          <p:nvPr/>
        </p:nvSpPr>
        <p:spPr>
          <a:xfrm>
            <a:off x="4709160" y="2286000"/>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02</a:t>
            </a:r>
            <a:endParaRPr lang="en-US" sz="1400" dirty="0"/>
          </a:p>
        </p:txBody>
      </p:sp>
      <p:sp>
        <p:nvSpPr>
          <p:cNvPr id="14" name="Text 12"/>
          <p:cNvSpPr txBox="1"/>
          <p:nvPr/>
        </p:nvSpPr>
        <p:spPr>
          <a:xfrm>
            <a:off x="5321808" y="2331720"/>
            <a:ext cx="2560320" cy="329184"/>
          </a:xfrm>
          <a:prstGeom prst="rect">
            <a:avLst/>
          </a:prstGeom>
          <a:noFill/>
          <a:ln/>
        </p:spPr>
        <p:txBody>
          <a:bodyPr wrap="square" lIns="0" tIns="0" rIns="0" bIns="0" rtlCol="0" anchor="ctr"/>
          <a:lstStyle/>
          <a:p>
            <a:pPr indent="0" marL="0">
              <a:buNone/>
            </a:pPr>
            <a:r>
              <a:rPr lang="en-US" sz="1500" b="1" dirty="0">
                <a:solidFill>
                  <a:srgbClr val="2B2124"/>
                </a:solidFill>
                <a:latin typeface="Calibri" pitchFamily="34" charset="0"/>
                <a:ea typeface="Calibri" pitchFamily="34" charset="-122"/>
                <a:cs typeface="Calibri" pitchFamily="34" charset="-120"/>
              </a:rPr>
              <a:t>Feature build</a:t>
            </a:r>
            <a:endParaRPr lang="en-US" sz="1500" dirty="0"/>
          </a:p>
        </p:txBody>
      </p:sp>
      <p:sp>
        <p:nvSpPr>
          <p:cNvPr id="15" name="Text 13"/>
          <p:cNvSpPr txBox="1"/>
          <p:nvPr/>
        </p:nvSpPr>
        <p:spPr>
          <a:xfrm>
            <a:off x="4709160" y="2926080"/>
            <a:ext cx="3154680" cy="685800"/>
          </a:xfrm>
          <a:prstGeom prst="rect">
            <a:avLst/>
          </a:prstGeom>
          <a:noFill/>
          <a:ln/>
        </p:spPr>
        <p:txBody>
          <a:bodyPr wrap="square" lIns="0" tIns="0" rIns="0" bIns="0" rtlCol="0" anchor="ctr"/>
          <a:lstStyle/>
          <a:p>
            <a:pPr indent="0" marL="0">
              <a:buNone/>
            </a:pPr>
            <a:r>
              <a:rPr lang="en-US" sz="1100" dirty="0">
                <a:solidFill>
                  <a:srgbClr val="6B5C60"/>
                </a:solidFill>
                <a:latin typeface="Calibri" pitchFamily="34" charset="0"/>
                <a:ea typeface="Calibri" pitchFamily="34" charset="-122"/>
                <a:cs typeface="Calibri" pitchFamily="34" charset="-120"/>
              </a:rPr>
              <a:t>Transaction, customer, product and daily-sales feature tables</a:t>
            </a:r>
            <a:endParaRPr lang="en-US" sz="1100" dirty="0"/>
          </a:p>
        </p:txBody>
      </p:sp>
      <p:sp>
        <p:nvSpPr>
          <p:cNvPr id="16" name="Shape 14"/>
          <p:cNvSpPr/>
          <p:nvPr/>
        </p:nvSpPr>
        <p:spPr>
          <a:xfrm>
            <a:off x="8412480" y="2057400"/>
            <a:ext cx="3611880" cy="1691640"/>
          </a:xfrm>
          <a:prstGeom prst="roundRect">
            <a:avLst>
              <a:gd name="adj" fmla="val 5405"/>
            </a:avLst>
          </a:prstGeom>
          <a:solidFill>
            <a:srgbClr val="F7F2EA"/>
          </a:solidFill>
          <a:ln w="12700">
            <a:solidFill>
              <a:srgbClr val="ECE2D0"/>
            </a:solidFill>
            <a:prstDash val="solid"/>
          </a:ln>
          <a:effectLst>
            <a:outerShdw sx="100000" sy="100000" kx="0" ky="0" algn="bl" rotWithShape="0" blurRad="101600" dist="12700" dir="5400000">
              <a:srgbClr val="000000">
                <a:alpha val="8000"/>
              </a:srgbClr>
            </a:outerShdw>
          </a:effectLst>
        </p:spPr>
      </p:sp>
      <p:sp>
        <p:nvSpPr>
          <p:cNvPr id="17" name="Shape 15"/>
          <p:cNvSpPr/>
          <p:nvPr/>
        </p:nvSpPr>
        <p:spPr>
          <a:xfrm>
            <a:off x="8641080" y="2286000"/>
            <a:ext cx="475488" cy="475488"/>
          </a:xfrm>
          <a:prstGeom prst="ellipse">
            <a:avLst/>
          </a:prstGeom>
          <a:solidFill>
            <a:srgbClr val="6D2E46"/>
          </a:solidFill>
          <a:ln w="12700">
            <a:solidFill>
              <a:srgbClr val="6D2E46"/>
            </a:solidFill>
            <a:prstDash val="solid"/>
          </a:ln>
        </p:spPr>
      </p:sp>
      <p:sp>
        <p:nvSpPr>
          <p:cNvPr id="18" name="Text 16"/>
          <p:cNvSpPr txBox="1"/>
          <p:nvPr/>
        </p:nvSpPr>
        <p:spPr>
          <a:xfrm>
            <a:off x="8641080" y="2286000"/>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03</a:t>
            </a:r>
            <a:endParaRPr lang="en-US" sz="1400" dirty="0"/>
          </a:p>
        </p:txBody>
      </p:sp>
      <p:sp>
        <p:nvSpPr>
          <p:cNvPr id="19" name="Text 17"/>
          <p:cNvSpPr txBox="1"/>
          <p:nvPr/>
        </p:nvSpPr>
        <p:spPr>
          <a:xfrm>
            <a:off x="9253728" y="2331720"/>
            <a:ext cx="2560320" cy="329184"/>
          </a:xfrm>
          <a:prstGeom prst="rect">
            <a:avLst/>
          </a:prstGeom>
          <a:noFill/>
          <a:ln/>
        </p:spPr>
        <p:txBody>
          <a:bodyPr wrap="square" lIns="0" tIns="0" rIns="0" bIns="0" rtlCol="0" anchor="ctr"/>
          <a:lstStyle/>
          <a:p>
            <a:pPr indent="0" marL="0">
              <a:buNone/>
            </a:pPr>
            <a:r>
              <a:rPr lang="en-US" sz="1500" b="1" dirty="0">
                <a:solidFill>
                  <a:srgbClr val="2B2124"/>
                </a:solidFill>
                <a:latin typeface="Calibri" pitchFamily="34" charset="0"/>
                <a:ea typeface="Calibri" pitchFamily="34" charset="-122"/>
                <a:cs typeface="Calibri" pitchFamily="34" charset="-120"/>
              </a:rPr>
              <a:t>SQL layer</a:t>
            </a:r>
            <a:endParaRPr lang="en-US" sz="1500" dirty="0"/>
          </a:p>
        </p:txBody>
      </p:sp>
      <p:sp>
        <p:nvSpPr>
          <p:cNvPr id="20" name="Text 18"/>
          <p:cNvSpPr txBox="1"/>
          <p:nvPr/>
        </p:nvSpPr>
        <p:spPr>
          <a:xfrm>
            <a:off x="8641080" y="2926080"/>
            <a:ext cx="3154680" cy="685800"/>
          </a:xfrm>
          <a:prstGeom prst="rect">
            <a:avLst/>
          </a:prstGeom>
          <a:noFill/>
          <a:ln/>
        </p:spPr>
        <p:txBody>
          <a:bodyPr wrap="square" lIns="0" tIns="0" rIns="0" bIns="0" rtlCol="0" anchor="ctr"/>
          <a:lstStyle/>
          <a:p>
            <a:pPr indent="0" marL="0">
              <a:buNone/>
            </a:pPr>
            <a:r>
              <a:rPr lang="en-US" sz="1100" dirty="0">
                <a:solidFill>
                  <a:srgbClr val="6B5C60"/>
                </a:solidFill>
                <a:latin typeface="Calibri" pitchFamily="34" charset="0"/>
                <a:ea typeface="Calibri" pitchFamily="34" charset="-122"/>
                <a:cs typeface="Calibri" pitchFamily="34" charset="-120"/>
              </a:rPr>
              <a:t>SQLite warehouse with indexes, JOINs, CTEs and window functions</a:t>
            </a:r>
            <a:endParaRPr lang="en-US" sz="1100" dirty="0"/>
          </a:p>
        </p:txBody>
      </p:sp>
      <p:sp>
        <p:nvSpPr>
          <p:cNvPr id="21" name="Shape 19"/>
          <p:cNvSpPr/>
          <p:nvPr/>
        </p:nvSpPr>
        <p:spPr>
          <a:xfrm>
            <a:off x="548640" y="4059936"/>
            <a:ext cx="3611880" cy="1691640"/>
          </a:xfrm>
          <a:prstGeom prst="roundRect">
            <a:avLst>
              <a:gd name="adj" fmla="val 5405"/>
            </a:avLst>
          </a:prstGeom>
          <a:solidFill>
            <a:srgbClr val="F7F2EA"/>
          </a:solidFill>
          <a:ln w="12700">
            <a:solidFill>
              <a:srgbClr val="ECE2D0"/>
            </a:solidFill>
            <a:prstDash val="solid"/>
          </a:ln>
          <a:effectLst>
            <a:outerShdw sx="100000" sy="100000" kx="0" ky="0" algn="bl" rotWithShape="0" blurRad="101600" dist="12700" dir="5400000">
              <a:srgbClr val="000000">
                <a:alpha val="8000"/>
              </a:srgbClr>
            </a:outerShdw>
          </a:effectLst>
        </p:spPr>
      </p:sp>
      <p:sp>
        <p:nvSpPr>
          <p:cNvPr id="22" name="Shape 20"/>
          <p:cNvSpPr/>
          <p:nvPr/>
        </p:nvSpPr>
        <p:spPr>
          <a:xfrm>
            <a:off x="777240" y="4288536"/>
            <a:ext cx="475488" cy="475488"/>
          </a:xfrm>
          <a:prstGeom prst="ellipse">
            <a:avLst/>
          </a:prstGeom>
          <a:solidFill>
            <a:srgbClr val="6D2E46"/>
          </a:solidFill>
          <a:ln w="12700">
            <a:solidFill>
              <a:srgbClr val="6D2E46"/>
            </a:solidFill>
            <a:prstDash val="solid"/>
          </a:ln>
        </p:spPr>
      </p:sp>
      <p:sp>
        <p:nvSpPr>
          <p:cNvPr id="23" name="Text 21"/>
          <p:cNvSpPr txBox="1"/>
          <p:nvPr/>
        </p:nvSpPr>
        <p:spPr>
          <a:xfrm>
            <a:off x="777240" y="4288536"/>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04</a:t>
            </a:r>
            <a:endParaRPr lang="en-US" sz="1400" dirty="0"/>
          </a:p>
        </p:txBody>
      </p:sp>
      <p:sp>
        <p:nvSpPr>
          <p:cNvPr id="24" name="Text 22"/>
          <p:cNvSpPr txBox="1"/>
          <p:nvPr/>
        </p:nvSpPr>
        <p:spPr>
          <a:xfrm>
            <a:off x="1389888" y="4334256"/>
            <a:ext cx="2560320" cy="329184"/>
          </a:xfrm>
          <a:prstGeom prst="rect">
            <a:avLst/>
          </a:prstGeom>
          <a:noFill/>
          <a:ln/>
        </p:spPr>
        <p:txBody>
          <a:bodyPr wrap="square" lIns="0" tIns="0" rIns="0" bIns="0" rtlCol="0" anchor="ctr"/>
          <a:lstStyle/>
          <a:p>
            <a:pPr indent="0" marL="0">
              <a:buNone/>
            </a:pPr>
            <a:r>
              <a:rPr lang="en-US" sz="1500" b="1" dirty="0">
                <a:solidFill>
                  <a:srgbClr val="2B2124"/>
                </a:solidFill>
                <a:latin typeface="Calibri" pitchFamily="34" charset="0"/>
                <a:ea typeface="Calibri" pitchFamily="34" charset="-122"/>
                <a:cs typeface="Calibri" pitchFamily="34" charset="-120"/>
              </a:rPr>
              <a:t>EDA &amp; segments</a:t>
            </a:r>
            <a:endParaRPr lang="en-US" sz="1500" dirty="0"/>
          </a:p>
        </p:txBody>
      </p:sp>
      <p:sp>
        <p:nvSpPr>
          <p:cNvPr id="25" name="Text 23"/>
          <p:cNvSpPr txBox="1"/>
          <p:nvPr/>
        </p:nvSpPr>
        <p:spPr>
          <a:xfrm>
            <a:off x="777240" y="4928616"/>
            <a:ext cx="3154680" cy="685800"/>
          </a:xfrm>
          <a:prstGeom prst="rect">
            <a:avLst/>
          </a:prstGeom>
          <a:noFill/>
          <a:ln/>
        </p:spPr>
        <p:txBody>
          <a:bodyPr wrap="square" lIns="0" tIns="0" rIns="0" bIns="0" rtlCol="0" anchor="ctr"/>
          <a:lstStyle/>
          <a:p>
            <a:pPr indent="0" marL="0">
              <a:buNone/>
            </a:pPr>
            <a:r>
              <a:rPr lang="en-US" sz="1100" dirty="0">
                <a:solidFill>
                  <a:srgbClr val="6B5C60"/>
                </a:solidFill>
                <a:latin typeface="Calibri" pitchFamily="34" charset="0"/>
                <a:ea typeface="Calibri" pitchFamily="34" charset="-122"/>
                <a:cs typeface="Calibri" pitchFamily="34" charset="-120"/>
              </a:rPr>
              <a:t>Distributions, correlations, RFM engineering, K-Means segmentation</a:t>
            </a:r>
            <a:endParaRPr lang="en-US" sz="1100" dirty="0"/>
          </a:p>
        </p:txBody>
      </p:sp>
      <p:sp>
        <p:nvSpPr>
          <p:cNvPr id="26" name="Shape 24"/>
          <p:cNvSpPr/>
          <p:nvPr/>
        </p:nvSpPr>
        <p:spPr>
          <a:xfrm>
            <a:off x="4480560" y="4059936"/>
            <a:ext cx="3611880" cy="1691640"/>
          </a:xfrm>
          <a:prstGeom prst="roundRect">
            <a:avLst>
              <a:gd name="adj" fmla="val 5405"/>
            </a:avLst>
          </a:prstGeom>
          <a:solidFill>
            <a:srgbClr val="F7F2EA"/>
          </a:solidFill>
          <a:ln w="12700">
            <a:solidFill>
              <a:srgbClr val="ECE2D0"/>
            </a:solidFill>
            <a:prstDash val="solid"/>
          </a:ln>
          <a:effectLst>
            <a:outerShdw sx="100000" sy="100000" kx="0" ky="0" algn="bl" rotWithShape="0" blurRad="101600" dist="12700" dir="5400000">
              <a:srgbClr val="000000">
                <a:alpha val="8000"/>
              </a:srgbClr>
            </a:outerShdw>
          </a:effectLst>
        </p:spPr>
      </p:sp>
      <p:sp>
        <p:nvSpPr>
          <p:cNvPr id="27" name="Shape 25"/>
          <p:cNvSpPr/>
          <p:nvPr/>
        </p:nvSpPr>
        <p:spPr>
          <a:xfrm>
            <a:off x="4709160" y="4288536"/>
            <a:ext cx="475488" cy="475488"/>
          </a:xfrm>
          <a:prstGeom prst="ellipse">
            <a:avLst/>
          </a:prstGeom>
          <a:solidFill>
            <a:srgbClr val="6D2E46"/>
          </a:solidFill>
          <a:ln w="12700">
            <a:solidFill>
              <a:srgbClr val="6D2E46"/>
            </a:solidFill>
            <a:prstDash val="solid"/>
          </a:ln>
        </p:spPr>
      </p:sp>
      <p:sp>
        <p:nvSpPr>
          <p:cNvPr id="28" name="Text 26"/>
          <p:cNvSpPr txBox="1"/>
          <p:nvPr/>
        </p:nvSpPr>
        <p:spPr>
          <a:xfrm>
            <a:off x="4709160" y="4288536"/>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05</a:t>
            </a:r>
            <a:endParaRPr lang="en-US" sz="1400" dirty="0"/>
          </a:p>
        </p:txBody>
      </p:sp>
      <p:sp>
        <p:nvSpPr>
          <p:cNvPr id="29" name="Text 27"/>
          <p:cNvSpPr txBox="1"/>
          <p:nvPr/>
        </p:nvSpPr>
        <p:spPr>
          <a:xfrm>
            <a:off x="5321808" y="4334256"/>
            <a:ext cx="2560320" cy="329184"/>
          </a:xfrm>
          <a:prstGeom prst="rect">
            <a:avLst/>
          </a:prstGeom>
          <a:noFill/>
          <a:ln/>
        </p:spPr>
        <p:txBody>
          <a:bodyPr wrap="square" lIns="0" tIns="0" rIns="0" bIns="0" rtlCol="0" anchor="ctr"/>
          <a:lstStyle/>
          <a:p>
            <a:pPr indent="0" marL="0">
              <a:buNone/>
            </a:pPr>
            <a:r>
              <a:rPr lang="en-US" sz="1500" b="1" dirty="0">
                <a:solidFill>
                  <a:srgbClr val="2B2124"/>
                </a:solidFill>
                <a:latin typeface="Calibri" pitchFamily="34" charset="0"/>
                <a:ea typeface="Calibri" pitchFamily="34" charset="-122"/>
                <a:cs typeface="Calibri" pitchFamily="34" charset="-120"/>
              </a:rPr>
              <a:t>Modelling</a:t>
            </a:r>
            <a:endParaRPr lang="en-US" sz="1500" dirty="0"/>
          </a:p>
        </p:txBody>
      </p:sp>
      <p:sp>
        <p:nvSpPr>
          <p:cNvPr id="30" name="Text 28"/>
          <p:cNvSpPr txBox="1"/>
          <p:nvPr/>
        </p:nvSpPr>
        <p:spPr>
          <a:xfrm>
            <a:off x="4709160" y="4928616"/>
            <a:ext cx="3154680" cy="685800"/>
          </a:xfrm>
          <a:prstGeom prst="rect">
            <a:avLst/>
          </a:prstGeom>
          <a:noFill/>
          <a:ln/>
        </p:spPr>
        <p:txBody>
          <a:bodyPr wrap="square" lIns="0" tIns="0" rIns="0" bIns="0" rtlCol="0" anchor="ctr"/>
          <a:lstStyle/>
          <a:p>
            <a:pPr indent="0" marL="0">
              <a:buNone/>
            </a:pPr>
            <a:r>
              <a:rPr lang="en-US" sz="1100" dirty="0">
                <a:solidFill>
                  <a:srgbClr val="6B5C60"/>
                </a:solidFill>
                <a:latin typeface="Calibri" pitchFamily="34" charset="0"/>
                <a:ea typeface="Calibri" pitchFamily="34" charset="-122"/>
                <a:cs typeface="Calibri" pitchFamily="34" charset="-120"/>
              </a:rPr>
              <a:t>Leakage-safe target, CV benchmark, tuning, held-out evaluation</a:t>
            </a:r>
            <a:endParaRPr lang="en-US" sz="1100" dirty="0"/>
          </a:p>
        </p:txBody>
      </p:sp>
      <p:sp>
        <p:nvSpPr>
          <p:cNvPr id="31" name="Shape 29"/>
          <p:cNvSpPr/>
          <p:nvPr/>
        </p:nvSpPr>
        <p:spPr>
          <a:xfrm>
            <a:off x="8412480" y="4059936"/>
            <a:ext cx="3611880" cy="1691640"/>
          </a:xfrm>
          <a:prstGeom prst="roundRect">
            <a:avLst>
              <a:gd name="adj" fmla="val 5405"/>
            </a:avLst>
          </a:prstGeom>
          <a:solidFill>
            <a:srgbClr val="F7F2EA"/>
          </a:solidFill>
          <a:ln w="12700">
            <a:solidFill>
              <a:srgbClr val="ECE2D0"/>
            </a:solidFill>
            <a:prstDash val="solid"/>
          </a:ln>
          <a:effectLst>
            <a:outerShdw sx="100000" sy="100000" kx="0" ky="0" algn="bl" rotWithShape="0" blurRad="101600" dist="12700" dir="5400000">
              <a:srgbClr val="000000">
                <a:alpha val="8000"/>
              </a:srgbClr>
            </a:outerShdw>
          </a:effectLst>
        </p:spPr>
      </p:sp>
      <p:sp>
        <p:nvSpPr>
          <p:cNvPr id="32" name="Shape 30"/>
          <p:cNvSpPr/>
          <p:nvPr/>
        </p:nvSpPr>
        <p:spPr>
          <a:xfrm>
            <a:off x="8641080" y="4288536"/>
            <a:ext cx="475488" cy="475488"/>
          </a:xfrm>
          <a:prstGeom prst="ellipse">
            <a:avLst/>
          </a:prstGeom>
          <a:solidFill>
            <a:srgbClr val="6D2E46"/>
          </a:solidFill>
          <a:ln w="12700">
            <a:solidFill>
              <a:srgbClr val="6D2E46"/>
            </a:solidFill>
            <a:prstDash val="solid"/>
          </a:ln>
        </p:spPr>
      </p:sp>
      <p:sp>
        <p:nvSpPr>
          <p:cNvPr id="33" name="Text 31"/>
          <p:cNvSpPr txBox="1"/>
          <p:nvPr/>
        </p:nvSpPr>
        <p:spPr>
          <a:xfrm>
            <a:off x="8641080" y="4288536"/>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06</a:t>
            </a:r>
            <a:endParaRPr lang="en-US" sz="1400" dirty="0"/>
          </a:p>
        </p:txBody>
      </p:sp>
      <p:sp>
        <p:nvSpPr>
          <p:cNvPr id="34" name="Text 32"/>
          <p:cNvSpPr txBox="1"/>
          <p:nvPr/>
        </p:nvSpPr>
        <p:spPr>
          <a:xfrm>
            <a:off x="9253728" y="4334256"/>
            <a:ext cx="2560320" cy="329184"/>
          </a:xfrm>
          <a:prstGeom prst="rect">
            <a:avLst/>
          </a:prstGeom>
          <a:noFill/>
          <a:ln/>
        </p:spPr>
        <p:txBody>
          <a:bodyPr wrap="square" lIns="0" tIns="0" rIns="0" bIns="0" rtlCol="0" anchor="ctr"/>
          <a:lstStyle/>
          <a:p>
            <a:pPr indent="0" marL="0">
              <a:buNone/>
            </a:pPr>
            <a:r>
              <a:rPr lang="en-US" sz="1500" b="1" dirty="0">
                <a:solidFill>
                  <a:srgbClr val="2B2124"/>
                </a:solidFill>
                <a:latin typeface="Calibri" pitchFamily="34" charset="0"/>
                <a:ea typeface="Calibri" pitchFamily="34" charset="-122"/>
                <a:cs typeface="Calibri" pitchFamily="34" charset="-120"/>
              </a:rPr>
              <a:t>Production</a:t>
            </a:r>
            <a:endParaRPr lang="en-US" sz="1500" dirty="0"/>
          </a:p>
        </p:txBody>
      </p:sp>
      <p:sp>
        <p:nvSpPr>
          <p:cNvPr id="35" name="Text 33"/>
          <p:cNvSpPr txBox="1"/>
          <p:nvPr/>
        </p:nvSpPr>
        <p:spPr>
          <a:xfrm>
            <a:off x="8641080" y="4928616"/>
            <a:ext cx="3154680" cy="685800"/>
          </a:xfrm>
          <a:prstGeom prst="rect">
            <a:avLst/>
          </a:prstGeom>
          <a:noFill/>
          <a:ln/>
        </p:spPr>
        <p:txBody>
          <a:bodyPr wrap="square" lIns="0" tIns="0" rIns="0" bIns="0" rtlCol="0" anchor="ctr"/>
          <a:lstStyle/>
          <a:p>
            <a:pPr indent="0" marL="0">
              <a:buNone/>
            </a:pPr>
            <a:r>
              <a:rPr lang="en-US" sz="1100" dirty="0">
                <a:solidFill>
                  <a:srgbClr val="6B5C60"/>
                </a:solidFill>
                <a:latin typeface="Calibri" pitchFamily="34" charset="0"/>
                <a:ea typeface="Calibri" pitchFamily="34" charset="-122"/>
                <a:cs typeface="Calibri" pitchFamily="34" charset="-120"/>
              </a:rPr>
              <a:t>Explainability, unit tests, logging, monitoring, Spark path</a:t>
            </a:r>
            <a:endParaRPr lang="en-US" sz="1100" dirty="0"/>
          </a:p>
        </p:txBody>
      </p:sp>
      <p:sp>
        <p:nvSpPr>
          <p:cNvPr id="37" name="Text 34"/>
          <p:cNvSpPr txBox="1"/>
          <p:nvPr/>
        </p:nvSpPr>
        <p:spPr>
          <a:xfrm>
            <a:off x="548640" y="6236208"/>
            <a:ext cx="5486400" cy="274320"/>
          </a:xfrm>
          <a:prstGeom prst="rect">
            <a:avLst/>
          </a:prstGeom>
          <a:noFill/>
          <a:ln/>
        </p:spPr>
        <p:txBody>
          <a:bodyPr wrap="square" lIns="0" tIns="0" rIns="0" bIns="0" rtlCol="0" anchor="ctr"/>
          <a:lstStyle/>
          <a:p>
            <a:pPr indent="0" marL="0">
              <a:buNone/>
            </a:pPr>
            <a:r>
              <a:rPr lang="en-US" sz="950" dirty="0">
                <a:solidFill>
                  <a:srgbClr val="A9989C"/>
                </a:solidFill>
                <a:latin typeface="Calibri" pitchFamily="34" charset="0"/>
                <a:ea typeface="Calibri" pitchFamily="34" charset="-122"/>
                <a:cs typeface="Calibri" pitchFamily="34" charset="-120"/>
              </a:rPr>
              <a:t>Customer 360  ·  Online Retail II</a:t>
            </a:r>
            <a:endParaRPr lang="en-US" sz="950" dirty="0"/>
          </a:p>
        </p:txBody>
      </p:sp>
      <p:sp>
        <p:nvSpPr>
          <p:cNvPr id="38" name="Text 35"/>
          <p:cNvSpPr txBox="1"/>
          <p:nvPr/>
        </p:nvSpPr>
        <p:spPr>
          <a:xfrm>
            <a:off x="10515600" y="6236208"/>
            <a:ext cx="1097280" cy="274320"/>
          </a:xfrm>
          <a:prstGeom prst="rect">
            <a:avLst/>
          </a:prstGeom>
          <a:noFill/>
          <a:ln/>
        </p:spPr>
        <p:txBody>
          <a:bodyPr wrap="square" lIns="0" tIns="0" rIns="0" bIns="0" rtlCol="0" anchor="ctr"/>
          <a:lstStyle/>
          <a:p>
            <a:pPr algn="r" indent="0" marL="0">
              <a:buNone/>
            </a:pPr>
            <a:r>
              <a:rPr lang="en-US" sz="950" b="1" dirty="0">
                <a:solidFill>
                  <a:srgbClr val="A26769"/>
                </a:solidFill>
                <a:latin typeface="Calibri" pitchFamily="34" charset="0"/>
                <a:ea typeface="Calibri" pitchFamily="34" charset="-122"/>
                <a:cs typeface="Calibri" pitchFamily="34" charset="-120"/>
              </a:rPr>
              <a:t>03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408176" cy="274320"/>
          </a:xfrm>
          <a:prstGeom prst="roundRect">
            <a:avLst>
              <a:gd name="adj" fmla="val 46667"/>
            </a:avLst>
          </a:prstGeom>
          <a:solidFill>
            <a:srgbClr val="ECE2D0"/>
          </a:solidFill>
          <a:ln w="12700">
            <a:solidFill>
              <a:srgbClr val="ECE2D0"/>
            </a:solidFill>
            <a:prstDash val="solid"/>
          </a:ln>
        </p:spPr>
      </p:sp>
      <p:sp>
        <p:nvSpPr>
          <p:cNvPr id="3" name="Text 1"/>
          <p:cNvSpPr txBox="1"/>
          <p:nvPr/>
        </p:nvSpPr>
        <p:spPr>
          <a:xfrm>
            <a:off x="548640" y="384048"/>
            <a:ext cx="1408176" cy="274320"/>
          </a:xfrm>
          <a:prstGeom prst="rect">
            <a:avLst/>
          </a:prstGeom>
          <a:noFill/>
          <a:ln/>
        </p:spPr>
        <p:txBody>
          <a:bodyPr wrap="square" lIns="0" tIns="0" rIns="0" bIns="0" rtlCol="0" anchor="ctr"/>
          <a:lstStyle/>
          <a:p>
            <a:pPr algn="ctr" indent="0" marL="0">
              <a:buNone/>
            </a:pPr>
            <a:r>
              <a:rPr lang="en-US" sz="1050" b="1" spc="120" kern="0" dirty="0">
                <a:solidFill>
                  <a:srgbClr val="6D2E46"/>
                </a:solidFill>
                <a:latin typeface="Calibri" pitchFamily="34" charset="0"/>
                <a:ea typeface="Calibri" pitchFamily="34" charset="-122"/>
                <a:cs typeface="Calibri" pitchFamily="34" charset="-120"/>
              </a:rPr>
              <a:t>DATA FOUNDATION</a:t>
            </a:r>
            <a:endParaRPr lang="en-US" sz="1050" dirty="0"/>
          </a:p>
        </p:txBody>
      </p:sp>
      <p:sp>
        <p:nvSpPr>
          <p:cNvPr id="4" name="Text 2"/>
          <p:cNvSpPr txBox="1"/>
          <p:nvPr/>
        </p:nvSpPr>
        <p:spPr>
          <a:xfrm>
            <a:off x="548640" y="749808"/>
            <a:ext cx="11064240" cy="658368"/>
          </a:xfrm>
          <a:prstGeom prst="rect">
            <a:avLst/>
          </a:prstGeom>
          <a:noFill/>
          <a:ln/>
        </p:spPr>
        <p:txBody>
          <a:bodyPr wrap="square" lIns="0" tIns="0" rIns="0" bIns="0" rtlCol="0" anchor="ctr"/>
          <a:lstStyle/>
          <a:p>
            <a:pPr indent="0" marL="0">
              <a:buNone/>
            </a:pPr>
            <a:r>
              <a:rPr lang="en-US" sz="3200" b="1" dirty="0">
                <a:solidFill>
                  <a:srgbClr val="2B2124"/>
                </a:solidFill>
                <a:latin typeface="Cambria" pitchFamily="34" charset="0"/>
                <a:ea typeface="Cambria" pitchFamily="34" charset="-122"/>
                <a:cs typeface="Cambria" pitchFamily="34" charset="-120"/>
              </a:rPr>
              <a:t>Cleaning decisions, made explicit</a:t>
            </a:r>
            <a:endParaRPr lang="en-US" sz="3200" dirty="0"/>
          </a:p>
        </p:txBody>
      </p:sp>
      <p:sp>
        <p:nvSpPr>
          <p:cNvPr id="5" name="Text 3"/>
          <p:cNvSpPr txBox="1"/>
          <p:nvPr/>
        </p:nvSpPr>
        <p:spPr>
          <a:xfrm>
            <a:off x="548640" y="1389888"/>
            <a:ext cx="11064240" cy="365760"/>
          </a:xfrm>
          <a:prstGeom prst="rect">
            <a:avLst/>
          </a:prstGeom>
          <a:noFill/>
          <a:ln/>
        </p:spPr>
        <p:txBody>
          <a:bodyPr wrap="square" lIns="0" tIns="0" rIns="0" bIns="0" rtlCol="0" anchor="t"/>
          <a:lstStyle/>
          <a:p>
            <a:pPr indent="0" marL="0">
              <a:buNone/>
            </a:pPr>
            <a:r>
              <a:rPr lang="en-US" sz="1400" dirty="0">
                <a:solidFill>
                  <a:srgbClr val="6B5C60"/>
                </a:solidFill>
                <a:latin typeface="Calibri" pitchFamily="34" charset="0"/>
                <a:ea typeface="Calibri" pitchFamily="34" charset="-122"/>
                <a:cs typeface="Calibri" pitchFamily="34" charset="-120"/>
              </a:rPr>
              <a:t>The raw extract needed real repair before any model could be trusted.</a:t>
            </a:r>
            <a:endParaRPr lang="en-US" sz="1400" dirty="0"/>
          </a:p>
        </p:txBody>
      </p:sp>
      <p:sp>
        <p:nvSpPr>
          <p:cNvPr id="6" name="Shape 4"/>
          <p:cNvSpPr/>
          <p:nvPr/>
        </p:nvSpPr>
        <p:spPr>
          <a:xfrm>
            <a:off x="548640" y="2011680"/>
            <a:ext cx="5394960" cy="3886200"/>
          </a:xfrm>
          <a:prstGeom prst="roundRect">
            <a:avLst>
              <a:gd name="adj" fmla="val 2353"/>
            </a:avLst>
          </a:prstGeom>
          <a:solidFill>
            <a:srgbClr val="F7F2EA"/>
          </a:solidFill>
          <a:ln w="12700">
            <a:solidFill>
              <a:srgbClr val="ECE2D0"/>
            </a:solidFill>
            <a:prstDash val="solid"/>
          </a:ln>
          <a:effectLst>
            <a:outerShdw sx="100000" sy="100000" kx="0" ky="0" algn="bl" rotWithShape="0" blurRad="101600" dist="12700" dir="5400000">
              <a:srgbClr val="000000">
                <a:alpha val="8000"/>
              </a:srgbClr>
            </a:outerShdw>
          </a:effectLst>
        </p:spPr>
      </p:sp>
      <p:sp>
        <p:nvSpPr>
          <p:cNvPr id="7" name="Text 5"/>
          <p:cNvSpPr txBox="1"/>
          <p:nvPr/>
        </p:nvSpPr>
        <p:spPr>
          <a:xfrm>
            <a:off x="822960" y="2212848"/>
            <a:ext cx="2743200" cy="274320"/>
          </a:xfrm>
          <a:prstGeom prst="rect">
            <a:avLst/>
          </a:prstGeom>
          <a:noFill/>
          <a:ln/>
        </p:spPr>
        <p:txBody>
          <a:bodyPr wrap="square" lIns="0" tIns="0" rIns="0" bIns="0" rtlCol="0" anchor="ctr"/>
          <a:lstStyle/>
          <a:p>
            <a:pPr indent="0" marL="0">
              <a:buNone/>
            </a:pPr>
            <a:r>
              <a:rPr lang="en-US" sz="1300" b="1" dirty="0">
                <a:solidFill>
                  <a:srgbClr val="6D2E46"/>
                </a:solidFill>
                <a:latin typeface="Calibri" pitchFamily="34" charset="0"/>
                <a:ea typeface="Calibri" pitchFamily="34" charset="-122"/>
                <a:cs typeface="Calibri" pitchFamily="34" charset="-120"/>
              </a:rPr>
              <a:t>Raw → clean</a:t>
            </a:r>
            <a:endParaRPr lang="en-US" sz="1300" dirty="0"/>
          </a:p>
        </p:txBody>
      </p:sp>
      <p:sp>
        <p:nvSpPr>
          <p:cNvPr id="8" name="Text 6"/>
          <p:cNvSpPr txBox="1"/>
          <p:nvPr/>
        </p:nvSpPr>
        <p:spPr>
          <a:xfrm>
            <a:off x="822960" y="2560320"/>
            <a:ext cx="2194560" cy="548640"/>
          </a:xfrm>
          <a:prstGeom prst="rect">
            <a:avLst/>
          </a:prstGeom>
          <a:noFill/>
          <a:ln/>
        </p:spPr>
        <p:txBody>
          <a:bodyPr wrap="square" lIns="0" tIns="0" rIns="0" bIns="0" rtlCol="0" anchor="ctr"/>
          <a:lstStyle/>
          <a:p>
            <a:pPr indent="0" marL="0">
              <a:buNone/>
            </a:pPr>
            <a:r>
              <a:rPr lang="en-US" sz="2600" b="1" dirty="0">
                <a:solidFill>
                  <a:srgbClr val="6B5C60"/>
                </a:solidFill>
                <a:latin typeface="Cambria" pitchFamily="34" charset="0"/>
                <a:ea typeface="Cambria" pitchFamily="34" charset="-122"/>
                <a:cs typeface="Cambria" pitchFamily="34" charset="-120"/>
              </a:rPr>
              <a:t>1,067,371</a:t>
            </a:r>
            <a:endParaRPr lang="en-US" sz="2600" dirty="0"/>
          </a:p>
        </p:txBody>
      </p:sp>
      <p:sp>
        <p:nvSpPr>
          <p:cNvPr id="9" name="Text 7"/>
          <p:cNvSpPr txBox="1"/>
          <p:nvPr/>
        </p:nvSpPr>
        <p:spPr>
          <a:xfrm>
            <a:off x="822960" y="3072384"/>
            <a:ext cx="2194560" cy="274320"/>
          </a:xfrm>
          <a:prstGeom prst="rect">
            <a:avLst/>
          </a:prstGeom>
          <a:noFill/>
          <a:ln/>
        </p:spPr>
        <p:txBody>
          <a:bodyPr wrap="square" lIns="0" tIns="0" rIns="0" bIns="0" rtlCol="0" anchor="ctr"/>
          <a:lstStyle/>
          <a:p>
            <a:pPr indent="0" marL="0">
              <a:buNone/>
            </a:pPr>
            <a:r>
              <a:rPr lang="en-US" sz="1100" dirty="0">
                <a:solidFill>
                  <a:srgbClr val="6B5C60"/>
                </a:solidFill>
                <a:latin typeface="Calibri" pitchFamily="34" charset="0"/>
                <a:ea typeface="Calibri" pitchFamily="34" charset="-122"/>
                <a:cs typeface="Calibri" pitchFamily="34" charset="-120"/>
              </a:rPr>
              <a:t>raw rows</a:t>
            </a:r>
            <a:endParaRPr lang="en-US" sz="1100" dirty="0"/>
          </a:p>
        </p:txBody>
      </p:sp>
      <p:sp>
        <p:nvSpPr>
          <p:cNvPr id="10" name="Text 8"/>
          <p:cNvSpPr txBox="1"/>
          <p:nvPr/>
        </p:nvSpPr>
        <p:spPr>
          <a:xfrm>
            <a:off x="2880360" y="2560320"/>
            <a:ext cx="548640" cy="548640"/>
          </a:xfrm>
          <a:prstGeom prst="rect">
            <a:avLst/>
          </a:prstGeom>
          <a:noFill/>
          <a:ln/>
        </p:spPr>
        <p:txBody>
          <a:bodyPr wrap="square" lIns="0" tIns="0" rIns="0" bIns="0" rtlCol="0" anchor="ctr"/>
          <a:lstStyle/>
          <a:p>
            <a:pPr algn="ctr" indent="0" marL="0">
              <a:buNone/>
            </a:pPr>
            <a:r>
              <a:rPr lang="en-US" sz="2400" dirty="0">
                <a:solidFill>
                  <a:srgbClr val="C08A2E"/>
                </a:solidFill>
                <a:latin typeface="Calibri" pitchFamily="34" charset="0"/>
                <a:ea typeface="Calibri" pitchFamily="34" charset="-122"/>
                <a:cs typeface="Calibri" pitchFamily="34" charset="-120"/>
              </a:rPr>
              <a:t>→</a:t>
            </a:r>
            <a:endParaRPr lang="en-US" sz="2400" dirty="0"/>
          </a:p>
        </p:txBody>
      </p:sp>
      <p:sp>
        <p:nvSpPr>
          <p:cNvPr id="11" name="Text 9"/>
          <p:cNvSpPr txBox="1"/>
          <p:nvPr/>
        </p:nvSpPr>
        <p:spPr>
          <a:xfrm>
            <a:off x="3429000" y="2560320"/>
            <a:ext cx="2286000" cy="548640"/>
          </a:xfrm>
          <a:prstGeom prst="rect">
            <a:avLst/>
          </a:prstGeom>
          <a:noFill/>
          <a:ln/>
        </p:spPr>
        <p:txBody>
          <a:bodyPr wrap="square" lIns="0" tIns="0" rIns="0" bIns="0" rtlCol="0" anchor="ctr"/>
          <a:lstStyle/>
          <a:p>
            <a:pPr indent="0" marL="0">
              <a:buNone/>
            </a:pPr>
            <a:r>
              <a:rPr lang="en-US" sz="2600" b="1" dirty="0">
                <a:solidFill>
                  <a:srgbClr val="6D2E46"/>
                </a:solidFill>
                <a:latin typeface="Cambria" pitchFamily="34" charset="0"/>
                <a:ea typeface="Cambria" pitchFamily="34" charset="-122"/>
                <a:cs typeface="Cambria" pitchFamily="34" charset="-120"/>
              </a:rPr>
              <a:t>1,033,036</a:t>
            </a:r>
            <a:endParaRPr lang="en-US" sz="2600" dirty="0"/>
          </a:p>
        </p:txBody>
      </p:sp>
      <p:sp>
        <p:nvSpPr>
          <p:cNvPr id="12" name="Text 10"/>
          <p:cNvSpPr txBox="1"/>
          <p:nvPr/>
        </p:nvSpPr>
        <p:spPr>
          <a:xfrm>
            <a:off x="3429000" y="3072384"/>
            <a:ext cx="2286000" cy="274320"/>
          </a:xfrm>
          <a:prstGeom prst="rect">
            <a:avLst/>
          </a:prstGeom>
          <a:noFill/>
          <a:ln/>
        </p:spPr>
        <p:txBody>
          <a:bodyPr wrap="square" lIns="0" tIns="0" rIns="0" bIns="0" rtlCol="0" anchor="ctr"/>
          <a:lstStyle/>
          <a:p>
            <a:pPr indent="0" marL="0">
              <a:buNone/>
            </a:pPr>
            <a:r>
              <a:rPr lang="en-US" sz="1100" dirty="0">
                <a:solidFill>
                  <a:srgbClr val="6B5C60"/>
                </a:solidFill>
                <a:latin typeface="Calibri" pitchFamily="34" charset="0"/>
                <a:ea typeface="Calibri" pitchFamily="34" charset="-122"/>
                <a:cs typeface="Calibri" pitchFamily="34" charset="-120"/>
              </a:rPr>
              <a:t>modelling-ready rows</a:t>
            </a:r>
            <a:endParaRPr lang="en-US" sz="1100" dirty="0"/>
          </a:p>
        </p:txBody>
      </p:sp>
      <p:sp>
        <p:nvSpPr>
          <p:cNvPr id="13" name="Shape 11"/>
          <p:cNvSpPr/>
          <p:nvPr/>
        </p:nvSpPr>
        <p:spPr>
          <a:xfrm>
            <a:off x="841248" y="3621024"/>
            <a:ext cx="128016" cy="128016"/>
          </a:xfrm>
          <a:prstGeom prst="ellipse">
            <a:avLst/>
          </a:prstGeom>
          <a:solidFill>
            <a:srgbClr val="C08A2E"/>
          </a:solidFill>
          <a:ln w="12700">
            <a:solidFill>
              <a:srgbClr val="C08A2E"/>
            </a:solidFill>
            <a:prstDash val="solid"/>
          </a:ln>
        </p:spPr>
      </p:sp>
      <p:sp>
        <p:nvSpPr>
          <p:cNvPr id="14" name="Text 12"/>
          <p:cNvSpPr txBox="1"/>
          <p:nvPr/>
        </p:nvSpPr>
        <p:spPr>
          <a:xfrm>
            <a:off x="1078992" y="3538728"/>
            <a:ext cx="4663440" cy="256032"/>
          </a:xfrm>
          <a:prstGeom prst="rect">
            <a:avLst/>
          </a:prstGeom>
          <a:noFill/>
          <a:ln/>
        </p:spPr>
        <p:txBody>
          <a:bodyPr wrap="square" lIns="0" tIns="0" rIns="0" bIns="0" rtlCol="0" anchor="ctr"/>
          <a:lstStyle/>
          <a:p>
            <a:pPr indent="0" marL="0">
              <a:buNone/>
            </a:pPr>
            <a:r>
              <a:rPr lang="en-US" sz="1200" b="1" dirty="0">
                <a:solidFill>
                  <a:srgbClr val="2B2124"/>
                </a:solidFill>
                <a:latin typeface="Calibri" pitchFamily="34" charset="0"/>
                <a:ea typeface="Calibri" pitchFamily="34" charset="-122"/>
                <a:cs typeface="Calibri" pitchFamily="34" charset="-120"/>
              </a:rPr>
              <a:t>34,335 duplicate rows removed</a:t>
            </a:r>
            <a:endParaRPr lang="en-US" sz="1200" dirty="0"/>
          </a:p>
        </p:txBody>
      </p:sp>
      <p:sp>
        <p:nvSpPr>
          <p:cNvPr id="15" name="Text 13"/>
          <p:cNvSpPr txBox="1"/>
          <p:nvPr/>
        </p:nvSpPr>
        <p:spPr>
          <a:xfrm>
            <a:off x="1078992" y="3767328"/>
            <a:ext cx="4663440" cy="256032"/>
          </a:xfrm>
          <a:prstGeom prst="rect">
            <a:avLst/>
          </a:prstGeom>
          <a:noFill/>
          <a:ln/>
        </p:spPr>
        <p:txBody>
          <a:bodyPr wrap="square" lIns="0" tIns="0" rIns="0" bIns="0" rtlCol="0" anchor="ctr"/>
          <a:lstStyle/>
          <a:p>
            <a:pPr indent="0" marL="0">
              <a:buNone/>
            </a:pPr>
            <a:r>
              <a:rPr lang="en-US" sz="1050" dirty="0">
                <a:solidFill>
                  <a:srgbClr val="6B5C60"/>
                </a:solidFill>
                <a:latin typeface="Calibri" pitchFamily="34" charset="0"/>
                <a:ea typeface="Calibri" pitchFamily="34" charset="-122"/>
                <a:cs typeface="Calibri" pitchFamily="34" charset="-120"/>
              </a:rPr>
              <a:t>exact duplicates dropped before any aggregation</a:t>
            </a:r>
            <a:endParaRPr lang="en-US" sz="1050" dirty="0"/>
          </a:p>
        </p:txBody>
      </p:sp>
      <p:sp>
        <p:nvSpPr>
          <p:cNvPr id="16" name="Shape 14"/>
          <p:cNvSpPr/>
          <p:nvPr/>
        </p:nvSpPr>
        <p:spPr>
          <a:xfrm>
            <a:off x="841248" y="4123944"/>
            <a:ext cx="128016" cy="128016"/>
          </a:xfrm>
          <a:prstGeom prst="ellipse">
            <a:avLst/>
          </a:prstGeom>
          <a:solidFill>
            <a:srgbClr val="C08A2E"/>
          </a:solidFill>
          <a:ln w="12700">
            <a:solidFill>
              <a:srgbClr val="C08A2E"/>
            </a:solidFill>
            <a:prstDash val="solid"/>
          </a:ln>
        </p:spPr>
      </p:sp>
      <p:sp>
        <p:nvSpPr>
          <p:cNvPr id="17" name="Text 15"/>
          <p:cNvSpPr txBox="1"/>
          <p:nvPr/>
        </p:nvSpPr>
        <p:spPr>
          <a:xfrm>
            <a:off x="1078992" y="4041648"/>
            <a:ext cx="4663440" cy="256032"/>
          </a:xfrm>
          <a:prstGeom prst="rect">
            <a:avLst/>
          </a:prstGeom>
          <a:noFill/>
          <a:ln/>
        </p:spPr>
        <p:txBody>
          <a:bodyPr wrap="square" lIns="0" tIns="0" rIns="0" bIns="0" rtlCol="0" anchor="ctr"/>
          <a:lstStyle/>
          <a:p>
            <a:pPr indent="0" marL="0">
              <a:buNone/>
            </a:pPr>
            <a:r>
              <a:rPr lang="en-US" sz="1200" b="1" dirty="0">
                <a:solidFill>
                  <a:srgbClr val="2B2124"/>
                </a:solidFill>
                <a:latin typeface="Calibri" pitchFamily="34" charset="0"/>
                <a:ea typeface="Calibri" pitchFamily="34" charset="-122"/>
                <a:cs typeface="Calibri" pitchFamily="34" charset="-120"/>
              </a:rPr>
              <a:t>22.8% of rows have no customer ID</a:t>
            </a:r>
            <a:endParaRPr lang="en-US" sz="1200" dirty="0"/>
          </a:p>
        </p:txBody>
      </p:sp>
      <p:sp>
        <p:nvSpPr>
          <p:cNvPr id="18" name="Text 16"/>
          <p:cNvSpPr txBox="1"/>
          <p:nvPr/>
        </p:nvSpPr>
        <p:spPr>
          <a:xfrm>
            <a:off x="1078992" y="4270248"/>
            <a:ext cx="4663440" cy="256032"/>
          </a:xfrm>
          <a:prstGeom prst="rect">
            <a:avLst/>
          </a:prstGeom>
          <a:noFill/>
          <a:ln/>
        </p:spPr>
        <p:txBody>
          <a:bodyPr wrap="square" lIns="0" tIns="0" rIns="0" bIns="0" rtlCol="0" anchor="ctr"/>
          <a:lstStyle/>
          <a:p>
            <a:pPr indent="0" marL="0">
              <a:buNone/>
            </a:pPr>
            <a:r>
              <a:rPr lang="en-US" sz="1050" dirty="0">
                <a:solidFill>
                  <a:srgbClr val="6B5C60"/>
                </a:solidFill>
                <a:latin typeface="Calibri" pitchFamily="34" charset="0"/>
                <a:ea typeface="Calibri" pitchFamily="34" charset="-122"/>
                <a:cs typeface="Calibri" pitchFamily="34" charset="-120"/>
              </a:rPr>
              <a:t>kept for revenue totals, excluded from customer models</a:t>
            </a:r>
            <a:endParaRPr lang="en-US" sz="1050" dirty="0"/>
          </a:p>
        </p:txBody>
      </p:sp>
      <p:sp>
        <p:nvSpPr>
          <p:cNvPr id="19" name="Shape 17"/>
          <p:cNvSpPr/>
          <p:nvPr/>
        </p:nvSpPr>
        <p:spPr>
          <a:xfrm>
            <a:off x="841248" y="4626864"/>
            <a:ext cx="128016" cy="128016"/>
          </a:xfrm>
          <a:prstGeom prst="ellipse">
            <a:avLst/>
          </a:prstGeom>
          <a:solidFill>
            <a:srgbClr val="C08A2E"/>
          </a:solidFill>
          <a:ln w="12700">
            <a:solidFill>
              <a:srgbClr val="C08A2E"/>
            </a:solidFill>
            <a:prstDash val="solid"/>
          </a:ln>
        </p:spPr>
      </p:sp>
      <p:sp>
        <p:nvSpPr>
          <p:cNvPr id="20" name="Text 18"/>
          <p:cNvSpPr txBox="1"/>
          <p:nvPr/>
        </p:nvSpPr>
        <p:spPr>
          <a:xfrm>
            <a:off x="1078992" y="4544568"/>
            <a:ext cx="4663440" cy="256032"/>
          </a:xfrm>
          <a:prstGeom prst="rect">
            <a:avLst/>
          </a:prstGeom>
          <a:noFill/>
          <a:ln/>
        </p:spPr>
        <p:txBody>
          <a:bodyPr wrap="square" lIns="0" tIns="0" rIns="0" bIns="0" rtlCol="0" anchor="ctr"/>
          <a:lstStyle/>
          <a:p>
            <a:pPr indent="0" marL="0">
              <a:buNone/>
            </a:pPr>
            <a:r>
              <a:rPr lang="en-US" sz="1200" b="1" dirty="0">
                <a:solidFill>
                  <a:srgbClr val="2B2124"/>
                </a:solidFill>
                <a:latin typeface="Calibri" pitchFamily="34" charset="0"/>
                <a:ea typeface="Calibri" pitchFamily="34" charset="-122"/>
                <a:cs typeface="Calibri" pitchFamily="34" charset="-120"/>
              </a:rPr>
              <a:t>Returns and cancellations flagged</a:t>
            </a:r>
            <a:endParaRPr lang="en-US" sz="1200" dirty="0"/>
          </a:p>
        </p:txBody>
      </p:sp>
      <p:sp>
        <p:nvSpPr>
          <p:cNvPr id="21" name="Text 19"/>
          <p:cNvSpPr txBox="1"/>
          <p:nvPr/>
        </p:nvSpPr>
        <p:spPr>
          <a:xfrm>
            <a:off x="1078992" y="4773168"/>
            <a:ext cx="4663440" cy="256032"/>
          </a:xfrm>
          <a:prstGeom prst="rect">
            <a:avLst/>
          </a:prstGeom>
          <a:noFill/>
          <a:ln/>
        </p:spPr>
        <p:txBody>
          <a:bodyPr wrap="square" lIns="0" tIns="0" rIns="0" bIns="0" rtlCol="0" anchor="ctr"/>
          <a:lstStyle/>
          <a:p>
            <a:pPr indent="0" marL="0">
              <a:buNone/>
            </a:pPr>
            <a:r>
              <a:rPr lang="en-US" sz="1050" dirty="0">
                <a:solidFill>
                  <a:srgbClr val="6B5C60"/>
                </a:solidFill>
                <a:latin typeface="Calibri" pitchFamily="34" charset="0"/>
                <a:ea typeface="Calibri" pitchFamily="34" charset="-122"/>
                <a:cs typeface="Calibri" pitchFamily="34" charset="-120"/>
              </a:rPr>
              <a:t>negative quantities and C-prefixed invoices isolated</a:t>
            </a:r>
            <a:endParaRPr lang="en-US" sz="1050" dirty="0"/>
          </a:p>
        </p:txBody>
      </p:sp>
      <p:sp>
        <p:nvSpPr>
          <p:cNvPr id="22" name="Shape 20"/>
          <p:cNvSpPr/>
          <p:nvPr/>
        </p:nvSpPr>
        <p:spPr>
          <a:xfrm>
            <a:off x="841248" y="5129784"/>
            <a:ext cx="128016" cy="128016"/>
          </a:xfrm>
          <a:prstGeom prst="ellipse">
            <a:avLst/>
          </a:prstGeom>
          <a:solidFill>
            <a:srgbClr val="C08A2E"/>
          </a:solidFill>
          <a:ln w="12700">
            <a:solidFill>
              <a:srgbClr val="C08A2E"/>
            </a:solidFill>
            <a:prstDash val="solid"/>
          </a:ln>
        </p:spPr>
      </p:sp>
      <p:sp>
        <p:nvSpPr>
          <p:cNvPr id="23" name="Text 21"/>
          <p:cNvSpPr txBox="1"/>
          <p:nvPr/>
        </p:nvSpPr>
        <p:spPr>
          <a:xfrm>
            <a:off x="1078992" y="5047488"/>
            <a:ext cx="4663440" cy="256032"/>
          </a:xfrm>
          <a:prstGeom prst="rect">
            <a:avLst/>
          </a:prstGeom>
          <a:noFill/>
          <a:ln/>
        </p:spPr>
        <p:txBody>
          <a:bodyPr wrap="square" lIns="0" tIns="0" rIns="0" bIns="0" rtlCol="0" anchor="ctr"/>
          <a:lstStyle/>
          <a:p>
            <a:pPr indent="0" marL="0">
              <a:buNone/>
            </a:pPr>
            <a:r>
              <a:rPr lang="en-US" sz="1200" b="1" dirty="0">
                <a:solidFill>
                  <a:srgbClr val="2B2124"/>
                </a:solidFill>
                <a:latin typeface="Calibri" pitchFamily="34" charset="0"/>
                <a:ea typeface="Calibri" pitchFamily="34" charset="-122"/>
                <a:cs typeface="Calibri" pitchFamily="34" charset="-120"/>
              </a:rPr>
              <a:t>18 typed columns + data dictionary</a:t>
            </a:r>
            <a:endParaRPr lang="en-US" sz="1200" dirty="0"/>
          </a:p>
        </p:txBody>
      </p:sp>
      <p:sp>
        <p:nvSpPr>
          <p:cNvPr id="24" name="Text 22"/>
          <p:cNvSpPr txBox="1"/>
          <p:nvPr/>
        </p:nvSpPr>
        <p:spPr>
          <a:xfrm>
            <a:off x="1078992" y="5276088"/>
            <a:ext cx="4663440" cy="256032"/>
          </a:xfrm>
          <a:prstGeom prst="rect">
            <a:avLst/>
          </a:prstGeom>
          <a:noFill/>
          <a:ln/>
        </p:spPr>
        <p:txBody>
          <a:bodyPr wrap="square" lIns="0" tIns="0" rIns="0" bIns="0" rtlCol="0" anchor="ctr"/>
          <a:lstStyle/>
          <a:p>
            <a:pPr indent="0" marL="0">
              <a:buNone/>
            </a:pPr>
            <a:r>
              <a:rPr lang="en-US" sz="1050" dirty="0">
                <a:solidFill>
                  <a:srgbClr val="6B5C60"/>
                </a:solidFill>
                <a:latin typeface="Calibri" pitchFamily="34" charset="0"/>
                <a:ea typeface="Calibri" pitchFamily="34" charset="-122"/>
                <a:cs typeface="Calibri" pitchFamily="34" charset="-120"/>
              </a:rPr>
              <a:t>dates, prices and IDs coerced, every field documented</a:t>
            </a:r>
            <a:endParaRPr lang="en-US" sz="1050" dirty="0"/>
          </a:p>
        </p:txBody>
      </p:sp>
      <p:sp>
        <p:nvSpPr>
          <p:cNvPr id="25" name="Shape 23"/>
          <p:cNvSpPr/>
          <p:nvPr/>
        </p:nvSpPr>
        <p:spPr>
          <a:xfrm>
            <a:off x="6309360" y="2011680"/>
            <a:ext cx="5303520" cy="3886200"/>
          </a:xfrm>
          <a:prstGeom prst="roundRect">
            <a:avLst>
              <a:gd name="adj" fmla="val 2353"/>
            </a:avLst>
          </a:prstGeom>
          <a:solidFill>
            <a:srgbClr val="6D2E46"/>
          </a:solidFill>
          <a:ln w="12700">
            <a:solidFill>
              <a:srgbClr val="6D2E46"/>
            </a:solidFill>
            <a:prstDash val="solid"/>
          </a:ln>
          <a:effectLst>
            <a:outerShdw sx="100000" sy="100000" kx="0" ky="0" algn="bl" rotWithShape="0" blurRad="101600" dist="12700" dir="5400000">
              <a:srgbClr val="000000">
                <a:alpha val="8000"/>
              </a:srgbClr>
            </a:outerShdw>
          </a:effectLst>
        </p:spPr>
      </p:sp>
      <p:sp>
        <p:nvSpPr>
          <p:cNvPr id="26" name="Text 24"/>
          <p:cNvSpPr txBox="1"/>
          <p:nvPr/>
        </p:nvSpPr>
        <p:spPr>
          <a:xfrm>
            <a:off x="6583680" y="2212848"/>
            <a:ext cx="4114800" cy="274320"/>
          </a:xfrm>
          <a:prstGeom prst="rect">
            <a:avLst/>
          </a:prstGeom>
          <a:noFill/>
          <a:ln/>
        </p:spPr>
        <p:txBody>
          <a:bodyPr wrap="square" lIns="0" tIns="0" rIns="0" bIns="0" rtlCol="0" anchor="ctr"/>
          <a:lstStyle/>
          <a:p>
            <a:pPr indent="0" marL="0">
              <a:buNone/>
            </a:pPr>
            <a:r>
              <a:rPr lang="en-US" sz="1300" b="1" dirty="0">
                <a:solidFill>
                  <a:srgbClr val="ECE2D0"/>
                </a:solidFill>
                <a:latin typeface="Calibri" pitchFamily="34" charset="0"/>
                <a:ea typeface="Calibri" pitchFamily="34" charset="-122"/>
                <a:cs typeface="Calibri" pitchFamily="34" charset="-120"/>
              </a:rPr>
              <a:t>Outputs handed downstream</a:t>
            </a:r>
            <a:endParaRPr lang="en-US" sz="1300" dirty="0"/>
          </a:p>
        </p:txBody>
      </p:sp>
      <p:sp>
        <p:nvSpPr>
          <p:cNvPr id="27" name="Text 25"/>
          <p:cNvSpPr txBox="1"/>
          <p:nvPr/>
        </p:nvSpPr>
        <p:spPr>
          <a:xfrm>
            <a:off x="6583680" y="2633472"/>
            <a:ext cx="2011680" cy="274320"/>
          </a:xfrm>
          <a:prstGeom prst="rect">
            <a:avLst/>
          </a:prstGeom>
          <a:noFill/>
          <a:ln/>
        </p:spPr>
        <p:txBody>
          <a:bodyPr wrap="square" lIns="0" tIns="0" rIns="0" bIns="0" rtlCol="0" anchor="ctr"/>
          <a:lstStyle/>
          <a:p>
            <a:pPr indent="0" marL="0">
              <a:buNone/>
            </a:pPr>
            <a:r>
              <a:rPr lang="en-US" sz="1300" b="1" dirty="0">
                <a:solidFill>
                  <a:srgbClr val="FFFFFF"/>
                </a:solidFill>
                <a:latin typeface="Courier New" pitchFamily="34" charset="0"/>
                <a:ea typeface="Courier New" pitchFamily="34" charset="-122"/>
                <a:cs typeface="Courier New" pitchFamily="34" charset="-120"/>
              </a:rPr>
              <a:t>transactions</a:t>
            </a:r>
            <a:endParaRPr lang="en-US" sz="1300" dirty="0"/>
          </a:p>
        </p:txBody>
      </p:sp>
      <p:sp>
        <p:nvSpPr>
          <p:cNvPr id="28" name="Text 26"/>
          <p:cNvSpPr txBox="1"/>
          <p:nvPr/>
        </p:nvSpPr>
        <p:spPr>
          <a:xfrm>
            <a:off x="8549640" y="2633472"/>
            <a:ext cx="1737360" cy="274320"/>
          </a:xfrm>
          <a:prstGeom prst="rect">
            <a:avLst/>
          </a:prstGeom>
          <a:noFill/>
          <a:ln/>
        </p:spPr>
        <p:txBody>
          <a:bodyPr wrap="square" lIns="0" tIns="0" rIns="0" bIns="0" rtlCol="0" anchor="ctr"/>
          <a:lstStyle/>
          <a:p>
            <a:pPr algn="r" indent="0" marL="0">
              <a:buNone/>
            </a:pPr>
            <a:r>
              <a:rPr lang="en-US" sz="1200" b="1" dirty="0">
                <a:solidFill>
                  <a:srgbClr val="C08A2E"/>
                </a:solidFill>
                <a:latin typeface="Calibri" pitchFamily="34" charset="0"/>
                <a:ea typeface="Calibri" pitchFamily="34" charset="-122"/>
                <a:cs typeface="Calibri" pitchFamily="34" charset="-120"/>
              </a:rPr>
              <a:t>1,033,036 rows</a:t>
            </a:r>
            <a:endParaRPr lang="en-US" sz="1200" dirty="0"/>
          </a:p>
        </p:txBody>
      </p:sp>
      <p:sp>
        <p:nvSpPr>
          <p:cNvPr id="29" name="Text 27"/>
          <p:cNvSpPr txBox="1"/>
          <p:nvPr/>
        </p:nvSpPr>
        <p:spPr>
          <a:xfrm>
            <a:off x="6583680" y="2889504"/>
            <a:ext cx="3703320" cy="274320"/>
          </a:xfrm>
          <a:prstGeom prst="rect">
            <a:avLst/>
          </a:prstGeom>
          <a:noFill/>
          <a:ln/>
        </p:spPr>
        <p:txBody>
          <a:bodyPr wrap="square" lIns="0" tIns="0" rIns="0" bIns="0" rtlCol="0" anchor="ctr"/>
          <a:lstStyle/>
          <a:p>
            <a:pPr indent="0" marL="0">
              <a:buNone/>
            </a:pPr>
            <a:r>
              <a:rPr lang="en-US" sz="1050" dirty="0">
                <a:solidFill>
                  <a:srgbClr val="D3ABB1"/>
                </a:solidFill>
                <a:latin typeface="Calibri" pitchFamily="34" charset="0"/>
                <a:ea typeface="Calibri" pitchFamily="34" charset="-122"/>
                <a:cs typeface="Calibri" pitchFamily="34" charset="-120"/>
              </a:rPr>
              <a:t>cleaned transaction grain</a:t>
            </a:r>
            <a:endParaRPr lang="en-US" sz="1050" dirty="0"/>
          </a:p>
        </p:txBody>
      </p:sp>
      <p:sp>
        <p:nvSpPr>
          <p:cNvPr id="30" name="Text 28"/>
          <p:cNvSpPr txBox="1"/>
          <p:nvPr/>
        </p:nvSpPr>
        <p:spPr>
          <a:xfrm>
            <a:off x="6583680" y="3328416"/>
            <a:ext cx="2011680" cy="274320"/>
          </a:xfrm>
          <a:prstGeom prst="rect">
            <a:avLst/>
          </a:prstGeom>
          <a:noFill/>
          <a:ln/>
        </p:spPr>
        <p:txBody>
          <a:bodyPr wrap="square" lIns="0" tIns="0" rIns="0" bIns="0" rtlCol="0" anchor="ctr"/>
          <a:lstStyle/>
          <a:p>
            <a:pPr indent="0" marL="0">
              <a:buNone/>
            </a:pPr>
            <a:r>
              <a:rPr lang="en-US" sz="1300" b="1" dirty="0">
                <a:solidFill>
                  <a:srgbClr val="FFFFFF"/>
                </a:solidFill>
                <a:latin typeface="Courier New" pitchFamily="34" charset="0"/>
                <a:ea typeface="Courier New" pitchFamily="34" charset="-122"/>
                <a:cs typeface="Courier New" pitchFamily="34" charset="-120"/>
              </a:rPr>
              <a:t>customers</a:t>
            </a:r>
            <a:endParaRPr lang="en-US" sz="1300" dirty="0"/>
          </a:p>
        </p:txBody>
      </p:sp>
      <p:sp>
        <p:nvSpPr>
          <p:cNvPr id="31" name="Text 29"/>
          <p:cNvSpPr txBox="1"/>
          <p:nvPr/>
        </p:nvSpPr>
        <p:spPr>
          <a:xfrm>
            <a:off x="8549640" y="3328416"/>
            <a:ext cx="1737360" cy="274320"/>
          </a:xfrm>
          <a:prstGeom prst="rect">
            <a:avLst/>
          </a:prstGeom>
          <a:noFill/>
          <a:ln/>
        </p:spPr>
        <p:txBody>
          <a:bodyPr wrap="square" lIns="0" tIns="0" rIns="0" bIns="0" rtlCol="0" anchor="ctr"/>
          <a:lstStyle/>
          <a:p>
            <a:pPr algn="r" indent="0" marL="0">
              <a:buNone/>
            </a:pPr>
            <a:r>
              <a:rPr lang="en-US" sz="1200" b="1" dirty="0">
                <a:solidFill>
                  <a:srgbClr val="C08A2E"/>
                </a:solidFill>
                <a:latin typeface="Calibri" pitchFamily="34" charset="0"/>
                <a:ea typeface="Calibri" pitchFamily="34" charset="-122"/>
                <a:cs typeface="Calibri" pitchFamily="34" charset="-120"/>
              </a:rPr>
              <a:t>5,942 rows</a:t>
            </a:r>
            <a:endParaRPr lang="en-US" sz="1200" dirty="0"/>
          </a:p>
        </p:txBody>
      </p:sp>
      <p:sp>
        <p:nvSpPr>
          <p:cNvPr id="32" name="Text 30"/>
          <p:cNvSpPr txBox="1"/>
          <p:nvPr/>
        </p:nvSpPr>
        <p:spPr>
          <a:xfrm>
            <a:off x="6583680" y="3584448"/>
            <a:ext cx="3703320" cy="274320"/>
          </a:xfrm>
          <a:prstGeom prst="rect">
            <a:avLst/>
          </a:prstGeom>
          <a:noFill/>
          <a:ln/>
        </p:spPr>
        <p:txBody>
          <a:bodyPr wrap="square" lIns="0" tIns="0" rIns="0" bIns="0" rtlCol="0" anchor="ctr"/>
          <a:lstStyle/>
          <a:p>
            <a:pPr indent="0" marL="0">
              <a:buNone/>
            </a:pPr>
            <a:r>
              <a:rPr lang="en-US" sz="1050" dirty="0">
                <a:solidFill>
                  <a:srgbClr val="D3ABB1"/>
                </a:solidFill>
                <a:latin typeface="Calibri" pitchFamily="34" charset="0"/>
                <a:ea typeface="Calibri" pitchFamily="34" charset="-122"/>
                <a:cs typeface="Calibri" pitchFamily="34" charset="-120"/>
              </a:rPr>
              <a:t>orders, revenue, lifetime, returns</a:t>
            </a:r>
            <a:endParaRPr lang="en-US" sz="1050" dirty="0"/>
          </a:p>
        </p:txBody>
      </p:sp>
      <p:sp>
        <p:nvSpPr>
          <p:cNvPr id="33" name="Text 31"/>
          <p:cNvSpPr txBox="1"/>
          <p:nvPr/>
        </p:nvSpPr>
        <p:spPr>
          <a:xfrm>
            <a:off x="6583680" y="4023360"/>
            <a:ext cx="2011680" cy="274320"/>
          </a:xfrm>
          <a:prstGeom prst="rect">
            <a:avLst/>
          </a:prstGeom>
          <a:noFill/>
          <a:ln/>
        </p:spPr>
        <p:txBody>
          <a:bodyPr wrap="square" lIns="0" tIns="0" rIns="0" bIns="0" rtlCol="0" anchor="ctr"/>
          <a:lstStyle/>
          <a:p>
            <a:pPr indent="0" marL="0">
              <a:buNone/>
            </a:pPr>
            <a:r>
              <a:rPr lang="en-US" sz="1300" b="1" dirty="0">
                <a:solidFill>
                  <a:srgbClr val="FFFFFF"/>
                </a:solidFill>
                <a:latin typeface="Courier New" pitchFamily="34" charset="0"/>
                <a:ea typeface="Courier New" pitchFamily="34" charset="-122"/>
                <a:cs typeface="Courier New" pitchFamily="34" charset="-120"/>
              </a:rPr>
              <a:t>products</a:t>
            </a:r>
            <a:endParaRPr lang="en-US" sz="1300" dirty="0"/>
          </a:p>
        </p:txBody>
      </p:sp>
      <p:sp>
        <p:nvSpPr>
          <p:cNvPr id="34" name="Text 32"/>
          <p:cNvSpPr txBox="1"/>
          <p:nvPr/>
        </p:nvSpPr>
        <p:spPr>
          <a:xfrm>
            <a:off x="8549640" y="4023360"/>
            <a:ext cx="1737360" cy="274320"/>
          </a:xfrm>
          <a:prstGeom prst="rect">
            <a:avLst/>
          </a:prstGeom>
          <a:noFill/>
          <a:ln/>
        </p:spPr>
        <p:txBody>
          <a:bodyPr wrap="square" lIns="0" tIns="0" rIns="0" bIns="0" rtlCol="0" anchor="ctr"/>
          <a:lstStyle/>
          <a:p>
            <a:pPr algn="r" indent="0" marL="0">
              <a:buNone/>
            </a:pPr>
            <a:r>
              <a:rPr lang="en-US" sz="1200" b="1" dirty="0">
                <a:solidFill>
                  <a:srgbClr val="C08A2E"/>
                </a:solidFill>
                <a:latin typeface="Calibri" pitchFamily="34" charset="0"/>
                <a:ea typeface="Calibri" pitchFamily="34" charset="-122"/>
                <a:cs typeface="Calibri" pitchFamily="34" charset="-120"/>
              </a:rPr>
              <a:t>5,304 rows</a:t>
            </a:r>
            <a:endParaRPr lang="en-US" sz="1200" dirty="0"/>
          </a:p>
        </p:txBody>
      </p:sp>
      <p:sp>
        <p:nvSpPr>
          <p:cNvPr id="35" name="Text 33"/>
          <p:cNvSpPr txBox="1"/>
          <p:nvPr/>
        </p:nvSpPr>
        <p:spPr>
          <a:xfrm>
            <a:off x="6583680" y="4279392"/>
            <a:ext cx="3703320" cy="274320"/>
          </a:xfrm>
          <a:prstGeom prst="rect">
            <a:avLst/>
          </a:prstGeom>
          <a:noFill/>
          <a:ln/>
        </p:spPr>
        <p:txBody>
          <a:bodyPr wrap="square" lIns="0" tIns="0" rIns="0" bIns="0" rtlCol="0" anchor="ctr"/>
          <a:lstStyle/>
          <a:p>
            <a:pPr indent="0" marL="0">
              <a:buNone/>
            </a:pPr>
            <a:r>
              <a:rPr lang="en-US" sz="1050" dirty="0">
                <a:solidFill>
                  <a:srgbClr val="D3ABB1"/>
                </a:solidFill>
                <a:latin typeface="Calibri" pitchFamily="34" charset="0"/>
                <a:ea typeface="Calibri" pitchFamily="34" charset="-122"/>
                <a:cs typeface="Calibri" pitchFamily="34" charset="-120"/>
              </a:rPr>
              <a:t>demand, reach, return counts</a:t>
            </a:r>
            <a:endParaRPr lang="en-US" sz="1050" dirty="0"/>
          </a:p>
        </p:txBody>
      </p:sp>
      <p:sp>
        <p:nvSpPr>
          <p:cNvPr id="36" name="Text 34"/>
          <p:cNvSpPr txBox="1"/>
          <p:nvPr/>
        </p:nvSpPr>
        <p:spPr>
          <a:xfrm>
            <a:off x="6583680" y="4718304"/>
            <a:ext cx="2011680" cy="274320"/>
          </a:xfrm>
          <a:prstGeom prst="rect">
            <a:avLst/>
          </a:prstGeom>
          <a:noFill/>
          <a:ln/>
        </p:spPr>
        <p:txBody>
          <a:bodyPr wrap="square" lIns="0" tIns="0" rIns="0" bIns="0" rtlCol="0" anchor="ctr"/>
          <a:lstStyle/>
          <a:p>
            <a:pPr indent="0" marL="0">
              <a:buNone/>
            </a:pPr>
            <a:r>
              <a:rPr lang="en-US" sz="1300" b="1" dirty="0">
                <a:solidFill>
                  <a:srgbClr val="FFFFFF"/>
                </a:solidFill>
                <a:latin typeface="Courier New" pitchFamily="34" charset="0"/>
                <a:ea typeface="Courier New" pitchFamily="34" charset="-122"/>
                <a:cs typeface="Courier New" pitchFamily="34" charset="-120"/>
              </a:rPr>
              <a:t>daily_sales</a:t>
            </a:r>
            <a:endParaRPr lang="en-US" sz="1300" dirty="0"/>
          </a:p>
        </p:txBody>
      </p:sp>
      <p:sp>
        <p:nvSpPr>
          <p:cNvPr id="37" name="Text 35"/>
          <p:cNvSpPr txBox="1"/>
          <p:nvPr/>
        </p:nvSpPr>
        <p:spPr>
          <a:xfrm>
            <a:off x="8549640" y="4718304"/>
            <a:ext cx="1737360" cy="274320"/>
          </a:xfrm>
          <a:prstGeom prst="rect">
            <a:avLst/>
          </a:prstGeom>
          <a:noFill/>
          <a:ln/>
        </p:spPr>
        <p:txBody>
          <a:bodyPr wrap="square" lIns="0" tIns="0" rIns="0" bIns="0" rtlCol="0" anchor="ctr"/>
          <a:lstStyle/>
          <a:p>
            <a:pPr algn="r" indent="0" marL="0">
              <a:buNone/>
            </a:pPr>
            <a:r>
              <a:rPr lang="en-US" sz="1200" b="1" dirty="0">
                <a:solidFill>
                  <a:srgbClr val="C08A2E"/>
                </a:solidFill>
                <a:latin typeface="Calibri" pitchFamily="34" charset="0"/>
                <a:ea typeface="Calibri" pitchFamily="34" charset="-122"/>
                <a:cs typeface="Calibri" pitchFamily="34" charset="-120"/>
              </a:rPr>
              <a:t>604 rows</a:t>
            </a:r>
            <a:endParaRPr lang="en-US" sz="1200" dirty="0"/>
          </a:p>
        </p:txBody>
      </p:sp>
      <p:sp>
        <p:nvSpPr>
          <p:cNvPr id="38" name="Text 36"/>
          <p:cNvSpPr txBox="1"/>
          <p:nvPr/>
        </p:nvSpPr>
        <p:spPr>
          <a:xfrm>
            <a:off x="6583680" y="4974336"/>
            <a:ext cx="3703320" cy="274320"/>
          </a:xfrm>
          <a:prstGeom prst="rect">
            <a:avLst/>
          </a:prstGeom>
          <a:noFill/>
          <a:ln/>
        </p:spPr>
        <p:txBody>
          <a:bodyPr wrap="square" lIns="0" tIns="0" rIns="0" bIns="0" rtlCol="0" anchor="ctr"/>
          <a:lstStyle/>
          <a:p>
            <a:pPr indent="0" marL="0">
              <a:buNone/>
            </a:pPr>
            <a:r>
              <a:rPr lang="en-US" sz="1050" dirty="0">
                <a:solidFill>
                  <a:srgbClr val="D3ABB1"/>
                </a:solidFill>
                <a:latin typeface="Calibri" pitchFamily="34" charset="0"/>
                <a:ea typeface="Calibri" pitchFamily="34" charset="-122"/>
                <a:cs typeface="Calibri" pitchFamily="34" charset="-120"/>
              </a:rPr>
              <a:t>daily revenue and traffic</a:t>
            </a:r>
            <a:endParaRPr lang="en-US" sz="1050" dirty="0"/>
          </a:p>
        </p:txBody>
      </p:sp>
      <p:sp>
        <p:nvSpPr>
          <p:cNvPr id="39" name="Text 37"/>
          <p:cNvSpPr txBox="1"/>
          <p:nvPr/>
        </p:nvSpPr>
        <p:spPr>
          <a:xfrm>
            <a:off x="6583680" y="5349240"/>
            <a:ext cx="4114800" cy="502920"/>
          </a:xfrm>
          <a:prstGeom prst="rect">
            <a:avLst/>
          </a:prstGeom>
          <a:noFill/>
          <a:ln/>
        </p:spPr>
        <p:txBody>
          <a:bodyPr wrap="square" lIns="0" tIns="0" rIns="0" bIns="0" rtlCol="0" anchor="ctr"/>
          <a:lstStyle/>
          <a:p>
            <a:pPr indent="0" marL="0">
              <a:buNone/>
            </a:pPr>
            <a:r>
              <a:rPr lang="en-US" sz="1050" i="1" dirty="0">
                <a:solidFill>
                  <a:srgbClr val="ECE2D0"/>
                </a:solidFill>
                <a:latin typeface="Calibri" pitchFamily="34" charset="0"/>
                <a:ea typeface="Calibri" pitchFamily="34" charset="-122"/>
                <a:cs typeface="Calibri" pitchFamily="34" charset="-120"/>
              </a:rPr>
              <a:t>Every table is written to CSV and re-loaded into SQL, so the analysis is rebuildable from scratch.</a:t>
            </a:r>
            <a:endParaRPr lang="en-US" sz="1050" dirty="0"/>
          </a:p>
        </p:txBody>
      </p:sp>
      <p:sp>
        <p:nvSpPr>
          <p:cNvPr id="41" name="Text 38"/>
          <p:cNvSpPr txBox="1"/>
          <p:nvPr/>
        </p:nvSpPr>
        <p:spPr>
          <a:xfrm>
            <a:off x="548640" y="6236208"/>
            <a:ext cx="5486400" cy="274320"/>
          </a:xfrm>
          <a:prstGeom prst="rect">
            <a:avLst/>
          </a:prstGeom>
          <a:noFill/>
          <a:ln/>
        </p:spPr>
        <p:txBody>
          <a:bodyPr wrap="square" lIns="0" tIns="0" rIns="0" bIns="0" rtlCol="0" anchor="ctr"/>
          <a:lstStyle/>
          <a:p>
            <a:pPr indent="0" marL="0">
              <a:buNone/>
            </a:pPr>
            <a:r>
              <a:rPr lang="en-US" sz="950" dirty="0">
                <a:solidFill>
                  <a:srgbClr val="A9989C"/>
                </a:solidFill>
                <a:latin typeface="Calibri" pitchFamily="34" charset="0"/>
                <a:ea typeface="Calibri" pitchFamily="34" charset="-122"/>
                <a:cs typeface="Calibri" pitchFamily="34" charset="-120"/>
              </a:rPr>
              <a:t>Customer 360  ·  Online Retail II</a:t>
            </a:r>
            <a:endParaRPr lang="en-US" sz="950" dirty="0"/>
          </a:p>
        </p:txBody>
      </p:sp>
      <p:sp>
        <p:nvSpPr>
          <p:cNvPr id="42" name="Text 39"/>
          <p:cNvSpPr txBox="1"/>
          <p:nvPr/>
        </p:nvSpPr>
        <p:spPr>
          <a:xfrm>
            <a:off x="10515600" y="6236208"/>
            <a:ext cx="1097280" cy="274320"/>
          </a:xfrm>
          <a:prstGeom prst="rect">
            <a:avLst/>
          </a:prstGeom>
          <a:noFill/>
          <a:ln/>
        </p:spPr>
        <p:txBody>
          <a:bodyPr wrap="square" lIns="0" tIns="0" rIns="0" bIns="0" rtlCol="0" anchor="ctr"/>
          <a:lstStyle/>
          <a:p>
            <a:pPr algn="r" indent="0" marL="0">
              <a:buNone/>
            </a:pPr>
            <a:r>
              <a:rPr lang="en-US" sz="950" b="1" dirty="0">
                <a:solidFill>
                  <a:srgbClr val="A26769"/>
                </a:solidFill>
                <a:latin typeface="Calibri" pitchFamily="34" charset="0"/>
                <a:ea typeface="Calibri" pitchFamily="34" charset="-122"/>
                <a:cs typeface="Calibri" pitchFamily="34" charset="-120"/>
              </a:rPr>
              <a:t>04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408176" cy="274320"/>
          </a:xfrm>
          <a:prstGeom prst="roundRect">
            <a:avLst>
              <a:gd name="adj" fmla="val 46667"/>
            </a:avLst>
          </a:prstGeom>
          <a:solidFill>
            <a:srgbClr val="ECE2D0"/>
          </a:solidFill>
          <a:ln w="12700">
            <a:solidFill>
              <a:srgbClr val="ECE2D0"/>
            </a:solidFill>
            <a:prstDash val="solid"/>
          </a:ln>
        </p:spPr>
      </p:sp>
      <p:sp>
        <p:nvSpPr>
          <p:cNvPr id="3" name="Text 1"/>
          <p:cNvSpPr txBox="1"/>
          <p:nvPr/>
        </p:nvSpPr>
        <p:spPr>
          <a:xfrm>
            <a:off x="548640" y="384048"/>
            <a:ext cx="1408176" cy="274320"/>
          </a:xfrm>
          <a:prstGeom prst="rect">
            <a:avLst/>
          </a:prstGeom>
          <a:noFill/>
          <a:ln/>
        </p:spPr>
        <p:txBody>
          <a:bodyPr wrap="square" lIns="0" tIns="0" rIns="0" bIns="0" rtlCol="0" anchor="ctr"/>
          <a:lstStyle/>
          <a:p>
            <a:pPr algn="ctr" indent="0" marL="0">
              <a:buNone/>
            </a:pPr>
            <a:r>
              <a:rPr lang="en-US" sz="1050" b="1" spc="120" kern="0" dirty="0">
                <a:solidFill>
                  <a:srgbClr val="6D2E46"/>
                </a:solidFill>
                <a:latin typeface="Calibri" pitchFamily="34" charset="0"/>
                <a:ea typeface="Calibri" pitchFamily="34" charset="-122"/>
                <a:cs typeface="Calibri" pitchFamily="34" charset="-120"/>
              </a:rPr>
              <a:t>ANALYTICS LAYER</a:t>
            </a:r>
            <a:endParaRPr lang="en-US" sz="1050" dirty="0"/>
          </a:p>
        </p:txBody>
      </p:sp>
      <p:sp>
        <p:nvSpPr>
          <p:cNvPr id="4" name="Text 2"/>
          <p:cNvSpPr txBox="1"/>
          <p:nvPr/>
        </p:nvSpPr>
        <p:spPr>
          <a:xfrm>
            <a:off x="548640" y="749808"/>
            <a:ext cx="11064240" cy="658368"/>
          </a:xfrm>
          <a:prstGeom prst="rect">
            <a:avLst/>
          </a:prstGeom>
          <a:noFill/>
          <a:ln/>
        </p:spPr>
        <p:txBody>
          <a:bodyPr wrap="square" lIns="0" tIns="0" rIns="0" bIns="0" rtlCol="0" anchor="ctr"/>
          <a:lstStyle/>
          <a:p>
            <a:pPr indent="0" marL="0">
              <a:buNone/>
            </a:pPr>
            <a:r>
              <a:rPr lang="en-US" sz="3200" b="1" dirty="0">
                <a:solidFill>
                  <a:srgbClr val="2B2124"/>
                </a:solidFill>
                <a:latin typeface="Cambria" pitchFamily="34" charset="0"/>
                <a:ea typeface="Cambria" pitchFamily="34" charset="-122"/>
                <a:cs typeface="Cambria" pitchFamily="34" charset="-120"/>
              </a:rPr>
              <a:t>A queryable warehouse, not a pile of CSVs</a:t>
            </a:r>
            <a:endParaRPr lang="en-US" sz="3200" dirty="0"/>
          </a:p>
        </p:txBody>
      </p:sp>
      <p:sp>
        <p:nvSpPr>
          <p:cNvPr id="5" name="Text 3"/>
          <p:cNvSpPr txBox="1"/>
          <p:nvPr/>
        </p:nvSpPr>
        <p:spPr>
          <a:xfrm>
            <a:off x="548640" y="1389888"/>
            <a:ext cx="11064240" cy="365760"/>
          </a:xfrm>
          <a:prstGeom prst="rect">
            <a:avLst/>
          </a:prstGeom>
          <a:noFill/>
          <a:ln/>
        </p:spPr>
        <p:txBody>
          <a:bodyPr wrap="square" lIns="0" tIns="0" rIns="0" bIns="0" rtlCol="0" anchor="t"/>
          <a:lstStyle/>
          <a:p>
            <a:pPr indent="0" marL="0">
              <a:buNone/>
            </a:pPr>
            <a:r>
              <a:rPr lang="en-US" sz="1400" dirty="0">
                <a:solidFill>
                  <a:srgbClr val="6B5C60"/>
                </a:solidFill>
                <a:latin typeface="Calibri" pitchFamily="34" charset="0"/>
                <a:ea typeface="Calibri" pitchFamily="34" charset="-122"/>
                <a:cs typeface="Calibri" pitchFamily="34" charset="-120"/>
              </a:rPr>
              <a:t>Processed outputs are loaded into an indexed SQLite database and interrogated with production-style SQL.</a:t>
            </a:r>
            <a:endParaRPr lang="en-US" sz="1400" dirty="0"/>
          </a:p>
        </p:txBody>
      </p:sp>
      <p:sp>
        <p:nvSpPr>
          <p:cNvPr id="6" name="Shape 4"/>
          <p:cNvSpPr/>
          <p:nvPr/>
        </p:nvSpPr>
        <p:spPr>
          <a:xfrm>
            <a:off x="548640" y="2011680"/>
            <a:ext cx="5577840" cy="3520440"/>
          </a:xfrm>
          <a:prstGeom prst="roundRect">
            <a:avLst>
              <a:gd name="adj" fmla="val 2597"/>
            </a:avLst>
          </a:prstGeom>
          <a:solidFill>
            <a:srgbClr val="F7F2EA"/>
          </a:solidFill>
          <a:ln w="12700">
            <a:solidFill>
              <a:srgbClr val="ECE2D0"/>
            </a:solidFill>
            <a:prstDash val="solid"/>
          </a:ln>
          <a:effectLst>
            <a:outerShdw sx="100000" sy="100000" kx="0" ky="0" algn="bl" rotWithShape="0" blurRad="101600" dist="12700" dir="5400000">
              <a:srgbClr val="000000">
                <a:alpha val="8000"/>
              </a:srgbClr>
            </a:outerShdw>
          </a:effectLst>
        </p:spPr>
      </p:sp>
      <p:sp>
        <p:nvSpPr>
          <p:cNvPr id="7" name="Text 5"/>
          <p:cNvSpPr txBox="1"/>
          <p:nvPr/>
        </p:nvSpPr>
        <p:spPr>
          <a:xfrm>
            <a:off x="822960" y="2212848"/>
            <a:ext cx="3657600" cy="274320"/>
          </a:xfrm>
          <a:prstGeom prst="rect">
            <a:avLst/>
          </a:prstGeom>
          <a:noFill/>
          <a:ln/>
        </p:spPr>
        <p:txBody>
          <a:bodyPr wrap="square" lIns="0" tIns="0" rIns="0" bIns="0" rtlCol="0" anchor="ctr"/>
          <a:lstStyle/>
          <a:p>
            <a:pPr indent="0" marL="0">
              <a:buNone/>
            </a:pPr>
            <a:r>
              <a:rPr lang="en-US" sz="1300" b="1" dirty="0">
                <a:solidFill>
                  <a:srgbClr val="6D2E46"/>
                </a:solidFill>
                <a:latin typeface="Calibri" pitchFamily="34" charset="0"/>
                <a:ea typeface="Calibri" pitchFamily="34" charset="-122"/>
                <a:cs typeface="Calibri" pitchFamily="34" charset="-120"/>
              </a:rPr>
              <a:t>Query patterns exercised</a:t>
            </a:r>
            <a:endParaRPr lang="en-US" sz="1300" dirty="0"/>
          </a:p>
        </p:txBody>
      </p:sp>
      <p:sp>
        <p:nvSpPr>
          <p:cNvPr id="8" name="Shape 6"/>
          <p:cNvSpPr/>
          <p:nvPr/>
        </p:nvSpPr>
        <p:spPr>
          <a:xfrm>
            <a:off x="822960" y="2670048"/>
            <a:ext cx="310896" cy="310896"/>
          </a:xfrm>
          <a:prstGeom prst="roundRect">
            <a:avLst>
              <a:gd name="adj" fmla="val 29412"/>
            </a:avLst>
          </a:prstGeom>
          <a:solidFill>
            <a:srgbClr val="6D2E46"/>
          </a:solidFill>
          <a:ln w="12700">
            <a:solidFill>
              <a:srgbClr val="6D2E46"/>
            </a:solidFill>
            <a:prstDash val="solid"/>
          </a:ln>
        </p:spPr>
      </p:sp>
      <p:sp>
        <p:nvSpPr>
          <p:cNvPr id="9" name="Text 7"/>
          <p:cNvSpPr txBox="1"/>
          <p:nvPr/>
        </p:nvSpPr>
        <p:spPr>
          <a:xfrm>
            <a:off x="822960" y="267004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8"/>
          <p:cNvSpPr txBox="1"/>
          <p:nvPr/>
        </p:nvSpPr>
        <p:spPr>
          <a:xfrm>
            <a:off x="1261872" y="2651760"/>
            <a:ext cx="4663440" cy="274320"/>
          </a:xfrm>
          <a:prstGeom prst="rect">
            <a:avLst/>
          </a:prstGeom>
          <a:noFill/>
          <a:ln/>
        </p:spPr>
        <p:txBody>
          <a:bodyPr wrap="square" lIns="0" tIns="0" rIns="0" bIns="0" rtlCol="0" anchor="ctr"/>
          <a:lstStyle/>
          <a:p>
            <a:pPr indent="0" marL="0">
              <a:buNone/>
            </a:pPr>
            <a:r>
              <a:rPr lang="en-US" sz="1300" b="1" dirty="0">
                <a:solidFill>
                  <a:srgbClr val="2B2124"/>
                </a:solidFill>
                <a:latin typeface="Calibri" pitchFamily="34" charset="0"/>
                <a:ea typeface="Calibri" pitchFamily="34" charset="-122"/>
                <a:cs typeface="Calibri" pitchFamily="34" charset="-120"/>
              </a:rPr>
              <a:t>Aggregation &amp; filtering</a:t>
            </a:r>
            <a:endParaRPr lang="en-US" sz="1300" dirty="0"/>
          </a:p>
        </p:txBody>
      </p:sp>
      <p:sp>
        <p:nvSpPr>
          <p:cNvPr id="11" name="Text 9"/>
          <p:cNvSpPr txBox="1"/>
          <p:nvPr/>
        </p:nvSpPr>
        <p:spPr>
          <a:xfrm>
            <a:off x="1261872" y="2916936"/>
            <a:ext cx="4663440" cy="292608"/>
          </a:xfrm>
          <a:prstGeom prst="rect">
            <a:avLst/>
          </a:prstGeom>
          <a:noFill/>
          <a:ln/>
        </p:spPr>
        <p:txBody>
          <a:bodyPr wrap="square" lIns="0" tIns="0" rIns="0" bIns="0" rtlCol="0" anchor="ctr"/>
          <a:lstStyle/>
          <a:p>
            <a:pPr indent="0" marL="0">
              <a:buNone/>
            </a:pPr>
            <a:r>
              <a:rPr lang="en-US" sz="1050" dirty="0">
                <a:solidFill>
                  <a:srgbClr val="6B5C60"/>
                </a:solidFill>
                <a:latin typeface="Calibri" pitchFamily="34" charset="0"/>
                <a:ea typeface="Calibri" pitchFamily="34" charset="-122"/>
                <a:cs typeface="Calibri" pitchFamily="34" charset="-120"/>
              </a:rPr>
              <a:t>Revenue by country, customers above an order threshold</a:t>
            </a:r>
            <a:endParaRPr lang="en-US" sz="1050" dirty="0"/>
          </a:p>
        </p:txBody>
      </p:sp>
      <p:sp>
        <p:nvSpPr>
          <p:cNvPr id="12" name="Shape 10"/>
          <p:cNvSpPr/>
          <p:nvPr/>
        </p:nvSpPr>
        <p:spPr>
          <a:xfrm>
            <a:off x="822960" y="3383280"/>
            <a:ext cx="310896" cy="310896"/>
          </a:xfrm>
          <a:prstGeom prst="roundRect">
            <a:avLst>
              <a:gd name="adj" fmla="val 29412"/>
            </a:avLst>
          </a:prstGeom>
          <a:solidFill>
            <a:srgbClr val="6D2E46"/>
          </a:solidFill>
          <a:ln w="12700">
            <a:solidFill>
              <a:srgbClr val="6D2E46"/>
            </a:solidFill>
            <a:prstDash val="solid"/>
          </a:ln>
        </p:spPr>
      </p:sp>
      <p:sp>
        <p:nvSpPr>
          <p:cNvPr id="13" name="Text 11"/>
          <p:cNvSpPr txBox="1"/>
          <p:nvPr/>
        </p:nvSpPr>
        <p:spPr>
          <a:xfrm>
            <a:off x="822960" y="338328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4" name="Text 12"/>
          <p:cNvSpPr txBox="1"/>
          <p:nvPr/>
        </p:nvSpPr>
        <p:spPr>
          <a:xfrm>
            <a:off x="1261872" y="3364992"/>
            <a:ext cx="4663440" cy="274320"/>
          </a:xfrm>
          <a:prstGeom prst="rect">
            <a:avLst/>
          </a:prstGeom>
          <a:noFill/>
          <a:ln/>
        </p:spPr>
        <p:txBody>
          <a:bodyPr wrap="square" lIns="0" tIns="0" rIns="0" bIns="0" rtlCol="0" anchor="ctr"/>
          <a:lstStyle/>
          <a:p>
            <a:pPr indent="0" marL="0">
              <a:buNone/>
            </a:pPr>
            <a:r>
              <a:rPr lang="en-US" sz="1300" b="1" dirty="0">
                <a:solidFill>
                  <a:srgbClr val="2B2124"/>
                </a:solidFill>
                <a:latin typeface="Calibri" pitchFamily="34" charset="0"/>
                <a:ea typeface="Calibri" pitchFamily="34" charset="-122"/>
                <a:cs typeface="Calibri" pitchFamily="34" charset="-120"/>
              </a:rPr>
              <a:t>JOINs</a:t>
            </a:r>
            <a:endParaRPr lang="en-US" sz="1300" dirty="0"/>
          </a:p>
        </p:txBody>
      </p:sp>
      <p:sp>
        <p:nvSpPr>
          <p:cNvPr id="15" name="Text 13"/>
          <p:cNvSpPr txBox="1"/>
          <p:nvPr/>
        </p:nvSpPr>
        <p:spPr>
          <a:xfrm>
            <a:off x="1261872" y="3630168"/>
            <a:ext cx="4663440" cy="292608"/>
          </a:xfrm>
          <a:prstGeom prst="rect">
            <a:avLst/>
          </a:prstGeom>
          <a:noFill/>
          <a:ln/>
        </p:spPr>
        <p:txBody>
          <a:bodyPr wrap="square" lIns="0" tIns="0" rIns="0" bIns="0" rtlCol="0" anchor="ctr"/>
          <a:lstStyle/>
          <a:p>
            <a:pPr indent="0" marL="0">
              <a:buNone/>
            </a:pPr>
            <a:r>
              <a:rPr lang="en-US" sz="1050" dirty="0">
                <a:solidFill>
                  <a:srgbClr val="6B5C60"/>
                </a:solidFill>
                <a:latin typeface="Calibri" pitchFamily="34" charset="0"/>
                <a:ea typeface="Calibri" pitchFamily="34" charset="-122"/>
                <a:cs typeface="Calibri" pitchFamily="34" charset="-120"/>
              </a:rPr>
              <a:t>Customer value joined to product breadth and reach</a:t>
            </a:r>
            <a:endParaRPr lang="en-US" sz="1050" dirty="0"/>
          </a:p>
        </p:txBody>
      </p:sp>
      <p:sp>
        <p:nvSpPr>
          <p:cNvPr id="16" name="Shape 14"/>
          <p:cNvSpPr/>
          <p:nvPr/>
        </p:nvSpPr>
        <p:spPr>
          <a:xfrm>
            <a:off x="822960" y="4096512"/>
            <a:ext cx="310896" cy="310896"/>
          </a:xfrm>
          <a:prstGeom prst="roundRect">
            <a:avLst>
              <a:gd name="adj" fmla="val 29412"/>
            </a:avLst>
          </a:prstGeom>
          <a:solidFill>
            <a:srgbClr val="6D2E46"/>
          </a:solidFill>
          <a:ln w="12700">
            <a:solidFill>
              <a:srgbClr val="6D2E46"/>
            </a:solidFill>
            <a:prstDash val="solid"/>
          </a:ln>
        </p:spPr>
      </p:sp>
      <p:sp>
        <p:nvSpPr>
          <p:cNvPr id="17" name="Text 15"/>
          <p:cNvSpPr txBox="1"/>
          <p:nvPr/>
        </p:nvSpPr>
        <p:spPr>
          <a:xfrm>
            <a:off x="822960" y="40965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8" name="Text 16"/>
          <p:cNvSpPr txBox="1"/>
          <p:nvPr/>
        </p:nvSpPr>
        <p:spPr>
          <a:xfrm>
            <a:off x="1261872" y="4078224"/>
            <a:ext cx="4663440" cy="274320"/>
          </a:xfrm>
          <a:prstGeom prst="rect">
            <a:avLst/>
          </a:prstGeom>
          <a:noFill/>
          <a:ln/>
        </p:spPr>
        <p:txBody>
          <a:bodyPr wrap="square" lIns="0" tIns="0" rIns="0" bIns="0" rtlCol="0" anchor="ctr"/>
          <a:lstStyle/>
          <a:p>
            <a:pPr indent="0" marL="0">
              <a:buNone/>
            </a:pPr>
            <a:r>
              <a:rPr lang="en-US" sz="1300" b="1" dirty="0">
                <a:solidFill>
                  <a:srgbClr val="2B2124"/>
                </a:solidFill>
                <a:latin typeface="Calibri" pitchFamily="34" charset="0"/>
                <a:ea typeface="Calibri" pitchFamily="34" charset="-122"/>
                <a:cs typeface="Calibri" pitchFamily="34" charset="-120"/>
              </a:rPr>
              <a:t>CTEs</a:t>
            </a:r>
            <a:endParaRPr lang="en-US" sz="1300" dirty="0"/>
          </a:p>
        </p:txBody>
      </p:sp>
      <p:sp>
        <p:nvSpPr>
          <p:cNvPr id="19" name="Text 17"/>
          <p:cNvSpPr txBox="1"/>
          <p:nvPr/>
        </p:nvSpPr>
        <p:spPr>
          <a:xfrm>
            <a:off x="1261872" y="4343400"/>
            <a:ext cx="4663440" cy="292608"/>
          </a:xfrm>
          <a:prstGeom prst="rect">
            <a:avLst/>
          </a:prstGeom>
          <a:noFill/>
          <a:ln/>
        </p:spPr>
        <p:txBody>
          <a:bodyPr wrap="square" lIns="0" tIns="0" rIns="0" bIns="0" rtlCol="0" anchor="ctr"/>
          <a:lstStyle/>
          <a:p>
            <a:pPr indent="0" marL="0">
              <a:buNone/>
            </a:pPr>
            <a:r>
              <a:rPr lang="en-US" sz="1050" dirty="0">
                <a:solidFill>
                  <a:srgbClr val="6B5C60"/>
                </a:solidFill>
                <a:latin typeface="Calibri" pitchFamily="34" charset="0"/>
                <a:ea typeface="Calibri" pitchFamily="34" charset="-122"/>
                <a:cs typeface="Calibri" pitchFamily="34" charset="-120"/>
              </a:rPr>
              <a:t>Month-over-month revenue change, RFM summary tables</a:t>
            </a:r>
            <a:endParaRPr lang="en-US" sz="1050" dirty="0"/>
          </a:p>
        </p:txBody>
      </p:sp>
      <p:sp>
        <p:nvSpPr>
          <p:cNvPr id="20" name="Shape 18"/>
          <p:cNvSpPr/>
          <p:nvPr/>
        </p:nvSpPr>
        <p:spPr>
          <a:xfrm>
            <a:off x="822960" y="4809744"/>
            <a:ext cx="310896" cy="310896"/>
          </a:xfrm>
          <a:prstGeom prst="roundRect">
            <a:avLst>
              <a:gd name="adj" fmla="val 29412"/>
            </a:avLst>
          </a:prstGeom>
          <a:solidFill>
            <a:srgbClr val="6D2E46"/>
          </a:solidFill>
          <a:ln w="12700">
            <a:solidFill>
              <a:srgbClr val="6D2E46"/>
            </a:solidFill>
            <a:prstDash val="solid"/>
          </a:ln>
        </p:spPr>
      </p:sp>
      <p:sp>
        <p:nvSpPr>
          <p:cNvPr id="21" name="Text 19"/>
          <p:cNvSpPr txBox="1"/>
          <p:nvPr/>
        </p:nvSpPr>
        <p:spPr>
          <a:xfrm>
            <a:off x="822960" y="480974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2" name="Text 20"/>
          <p:cNvSpPr txBox="1"/>
          <p:nvPr/>
        </p:nvSpPr>
        <p:spPr>
          <a:xfrm>
            <a:off x="1261872" y="4791456"/>
            <a:ext cx="4663440" cy="274320"/>
          </a:xfrm>
          <a:prstGeom prst="rect">
            <a:avLst/>
          </a:prstGeom>
          <a:noFill/>
          <a:ln/>
        </p:spPr>
        <p:txBody>
          <a:bodyPr wrap="square" lIns="0" tIns="0" rIns="0" bIns="0" rtlCol="0" anchor="ctr"/>
          <a:lstStyle/>
          <a:p>
            <a:pPr indent="0" marL="0">
              <a:buNone/>
            </a:pPr>
            <a:r>
              <a:rPr lang="en-US" sz="1300" b="1" dirty="0">
                <a:solidFill>
                  <a:srgbClr val="2B2124"/>
                </a:solidFill>
                <a:latin typeface="Calibri" pitchFamily="34" charset="0"/>
                <a:ea typeface="Calibri" pitchFamily="34" charset="-122"/>
                <a:cs typeface="Calibri" pitchFamily="34" charset="-120"/>
              </a:rPr>
              <a:t>Window functions</a:t>
            </a:r>
            <a:endParaRPr lang="en-US" sz="1300" dirty="0"/>
          </a:p>
        </p:txBody>
      </p:sp>
      <p:sp>
        <p:nvSpPr>
          <p:cNvPr id="23" name="Text 21"/>
          <p:cNvSpPr txBox="1"/>
          <p:nvPr/>
        </p:nvSpPr>
        <p:spPr>
          <a:xfrm>
            <a:off x="1261872" y="5056632"/>
            <a:ext cx="4663440" cy="292608"/>
          </a:xfrm>
          <a:prstGeom prst="rect">
            <a:avLst/>
          </a:prstGeom>
          <a:noFill/>
          <a:ln/>
        </p:spPr>
        <p:txBody>
          <a:bodyPr wrap="square" lIns="0" tIns="0" rIns="0" bIns="0" rtlCol="0" anchor="ctr"/>
          <a:lstStyle/>
          <a:p>
            <a:pPr indent="0" marL="0">
              <a:buNone/>
            </a:pPr>
            <a:r>
              <a:rPr lang="en-US" sz="1050" dirty="0">
                <a:solidFill>
                  <a:srgbClr val="6B5C60"/>
                </a:solidFill>
                <a:latin typeface="Calibri" pitchFamily="34" charset="0"/>
                <a:ea typeface="Calibri" pitchFamily="34" charset="-122"/>
                <a:cs typeface="Calibri" pitchFamily="34" charset="-120"/>
              </a:rPr>
              <a:t>RANK() by revenue within country, 7-day rolling revenue</a:t>
            </a:r>
            <a:endParaRPr lang="en-US" sz="1050" dirty="0"/>
          </a:p>
        </p:txBody>
      </p:sp>
      <p:sp>
        <p:nvSpPr>
          <p:cNvPr id="24" name="Shape 22"/>
          <p:cNvSpPr/>
          <p:nvPr/>
        </p:nvSpPr>
        <p:spPr>
          <a:xfrm>
            <a:off x="6492240" y="2011680"/>
            <a:ext cx="5120640" cy="3520440"/>
          </a:xfrm>
          <a:prstGeom prst="roundRect">
            <a:avLst>
              <a:gd name="adj" fmla="val 2597"/>
            </a:avLst>
          </a:prstGeom>
          <a:solidFill>
            <a:srgbClr val="6D2E46"/>
          </a:solidFill>
          <a:ln w="12700">
            <a:solidFill>
              <a:srgbClr val="6D2E46"/>
            </a:solidFill>
            <a:prstDash val="solid"/>
          </a:ln>
          <a:effectLst>
            <a:outerShdw sx="100000" sy="100000" kx="0" ky="0" algn="bl" rotWithShape="0" blurRad="101600" dist="12700" dir="5400000">
              <a:srgbClr val="000000">
                <a:alpha val="8000"/>
              </a:srgbClr>
            </a:outerShdw>
          </a:effectLst>
        </p:spPr>
      </p:sp>
      <p:sp>
        <p:nvSpPr>
          <p:cNvPr id="25" name="Text 23"/>
          <p:cNvSpPr txBox="1"/>
          <p:nvPr/>
        </p:nvSpPr>
        <p:spPr>
          <a:xfrm>
            <a:off x="6766560" y="2212848"/>
            <a:ext cx="4572000" cy="274320"/>
          </a:xfrm>
          <a:prstGeom prst="rect">
            <a:avLst/>
          </a:prstGeom>
          <a:noFill/>
          <a:ln/>
        </p:spPr>
        <p:txBody>
          <a:bodyPr wrap="square" lIns="0" tIns="0" rIns="0" bIns="0" rtlCol="0" anchor="ctr"/>
          <a:lstStyle/>
          <a:p>
            <a:pPr indent="0" marL="0">
              <a:buNone/>
            </a:pPr>
            <a:r>
              <a:rPr lang="en-US" sz="1300" b="1" dirty="0">
                <a:solidFill>
                  <a:srgbClr val="ECE2D0"/>
                </a:solidFill>
                <a:latin typeface="Calibri" pitchFamily="34" charset="0"/>
                <a:ea typeface="Calibri" pitchFamily="34" charset="-122"/>
                <a:cs typeface="Calibri" pitchFamily="34" charset="-120"/>
              </a:rPr>
              <a:t>Sample: month-over-month revenue</a:t>
            </a:r>
            <a:endParaRPr lang="en-US" sz="1300" dirty="0"/>
          </a:p>
        </p:txBody>
      </p:sp>
      <p:sp>
        <p:nvSpPr>
          <p:cNvPr id="26" name="Text 24"/>
          <p:cNvSpPr txBox="1"/>
          <p:nvPr/>
        </p:nvSpPr>
        <p:spPr>
          <a:xfrm>
            <a:off x="6766560" y="2606040"/>
            <a:ext cx="4572000" cy="2286000"/>
          </a:xfrm>
          <a:prstGeom prst="rect">
            <a:avLst/>
          </a:prstGeom>
          <a:noFill/>
          <a:ln/>
        </p:spPr>
        <p:txBody>
          <a:bodyPr wrap="square" lIns="0" tIns="0" rIns="0" bIns="0" rtlCol="0" anchor="ctr"/>
          <a:lstStyle/>
          <a:p>
            <a:pPr indent="0" marL="0">
              <a:lnSpc>
                <a:spcPts val="1500"/>
              </a:lnSpc>
              <a:buNone/>
            </a:pPr>
            <a:r>
              <a:rPr lang="en-US" sz="1050" dirty="0">
                <a:solidFill>
                  <a:srgbClr val="FFFFFF"/>
                </a:solidFill>
                <a:latin typeface="Courier New" pitchFamily="34" charset="0"/>
                <a:ea typeface="Courier New" pitchFamily="34" charset="-122"/>
                <a:cs typeface="Courier New" pitchFamily="34" charset="-120"/>
              </a:rPr>
              <a:t>WITH monthly_revenue AS (</a:t>
            </a:r>
            <a:endParaRPr lang="en-US" sz="1050" dirty="0"/>
          </a:p>
          <a:p>
            <a:pPr indent="0" marL="0">
              <a:lnSpc>
                <a:spcPts val="1500"/>
              </a:lnSpc>
              <a:buNone/>
            </a:pPr>
            <a:r>
              <a:rPr lang="en-US" sz="1050" dirty="0">
                <a:solidFill>
                  <a:srgbClr val="FFFFFF"/>
                </a:solidFill>
                <a:latin typeface="Courier New" pitchFamily="34" charset="0"/>
                <a:ea typeface="Courier New" pitchFamily="34" charset="-122"/>
                <a:cs typeface="Courier New" pitchFamily="34" charset="-120"/>
              </a:rPr>
              <a:t>  SELECT invoice_year, invoice_month,</a:t>
            </a:r>
            <a:endParaRPr lang="en-US" sz="1050" dirty="0"/>
          </a:p>
          <a:p>
            <a:pPr indent="0" marL="0">
              <a:lnSpc>
                <a:spcPts val="1500"/>
              </a:lnSpc>
              <a:buNone/>
            </a:pPr>
            <a:r>
              <a:rPr lang="en-US" sz="1050" dirty="0">
                <a:solidFill>
                  <a:srgbClr val="FFFFFF"/>
                </a:solidFill>
                <a:latin typeface="Courier New" pitchFamily="34" charset="0"/>
                <a:ea typeface="Courier New" pitchFamily="34" charset="-122"/>
                <a:cs typeface="Courier New" pitchFamily="34" charset="-120"/>
              </a:rPr>
              <a:t>         SUM(revenue) AS revenue</a:t>
            </a:r>
            <a:endParaRPr lang="en-US" sz="1050" dirty="0"/>
          </a:p>
          <a:p>
            <a:pPr indent="0" marL="0">
              <a:lnSpc>
                <a:spcPts val="1500"/>
              </a:lnSpc>
              <a:buNone/>
            </a:pPr>
            <a:r>
              <a:rPr lang="en-US" sz="1050" dirty="0">
                <a:solidFill>
                  <a:srgbClr val="FFFFFF"/>
                </a:solidFill>
                <a:latin typeface="Courier New" pitchFamily="34" charset="0"/>
                <a:ea typeface="Courier New" pitchFamily="34" charset="-122"/>
                <a:cs typeface="Courier New" pitchFamily="34" charset="-120"/>
              </a:rPr>
              <a:t>  FROM transactions</a:t>
            </a:r>
            <a:endParaRPr lang="en-US" sz="1050" dirty="0"/>
          </a:p>
          <a:p>
            <a:pPr indent="0" marL="0">
              <a:lnSpc>
                <a:spcPts val="1500"/>
              </a:lnSpc>
              <a:buNone/>
            </a:pPr>
            <a:r>
              <a:rPr lang="en-US" sz="1050" dirty="0">
                <a:solidFill>
                  <a:srgbClr val="FFFFFF"/>
                </a:solidFill>
                <a:latin typeface="Courier New" pitchFamily="34" charset="0"/>
                <a:ea typeface="Courier New" pitchFamily="34" charset="-122"/>
                <a:cs typeface="Courier New" pitchFamily="34" charset="-120"/>
              </a:rPr>
              <a:t>  GROUP BY invoice_year, invoice_month</a:t>
            </a:r>
            <a:endParaRPr lang="en-US" sz="1050" dirty="0"/>
          </a:p>
          <a:p>
            <a:pPr indent="0" marL="0">
              <a:lnSpc>
                <a:spcPts val="1500"/>
              </a:lnSpc>
              <a:buNone/>
            </a:pPr>
            <a:r>
              <a:rPr lang="en-US" sz="1050" dirty="0">
                <a:solidFill>
                  <a:srgbClr val="FFFFFF"/>
                </a:solidFill>
                <a:latin typeface="Courier New" pitchFamily="34" charset="0"/>
                <a:ea typeface="Courier New" pitchFamily="34" charset="-122"/>
                <a:cs typeface="Courier New" pitchFamily="34" charset="-120"/>
              </a:rPr>
              <a:t>)</a:t>
            </a:r>
            <a:endParaRPr lang="en-US" sz="1050" dirty="0"/>
          </a:p>
          <a:p>
            <a:pPr indent="0" marL="0">
              <a:lnSpc>
                <a:spcPts val="1500"/>
              </a:lnSpc>
              <a:buNone/>
            </a:pPr>
            <a:r>
              <a:rPr lang="en-US" sz="1050" dirty="0">
                <a:solidFill>
                  <a:srgbClr val="FFFFFF"/>
                </a:solidFill>
                <a:latin typeface="Courier New" pitchFamily="34" charset="0"/>
                <a:ea typeface="Courier New" pitchFamily="34" charset="-122"/>
                <a:cs typeface="Courier New" pitchFamily="34" charset="-120"/>
              </a:rPr>
              <a:t>SELECT invoice_year, invoice_month, revenue,</a:t>
            </a:r>
            <a:endParaRPr lang="en-US" sz="1050" dirty="0"/>
          </a:p>
          <a:p>
            <a:pPr indent="0" marL="0">
              <a:lnSpc>
                <a:spcPts val="1500"/>
              </a:lnSpc>
              <a:buNone/>
            </a:pPr>
            <a:r>
              <a:rPr lang="en-US" sz="1050" dirty="0">
                <a:solidFill>
                  <a:srgbClr val="FFFFFF"/>
                </a:solidFill>
                <a:latin typeface="Courier New" pitchFamily="34" charset="0"/>
                <a:ea typeface="Courier New" pitchFamily="34" charset="-122"/>
                <a:cs typeface="Courier New" pitchFamily="34" charset="-120"/>
              </a:rPr>
              <a:t>       LAG(revenue) OVER (</a:t>
            </a:r>
            <a:endParaRPr lang="en-US" sz="1050" dirty="0"/>
          </a:p>
          <a:p>
            <a:pPr indent="0" marL="0">
              <a:lnSpc>
                <a:spcPts val="1500"/>
              </a:lnSpc>
              <a:buNone/>
            </a:pPr>
            <a:r>
              <a:rPr lang="en-US" sz="1050" dirty="0">
                <a:solidFill>
                  <a:srgbClr val="FFFFFF"/>
                </a:solidFill>
                <a:latin typeface="Courier New" pitchFamily="34" charset="0"/>
                <a:ea typeface="Courier New" pitchFamily="34" charset="-122"/>
                <a:cs typeface="Courier New" pitchFamily="34" charset="-120"/>
              </a:rPr>
              <a:t>         ORDER BY invoice_year, invoice_month</a:t>
            </a:r>
            <a:endParaRPr lang="en-US" sz="1050" dirty="0"/>
          </a:p>
          <a:p>
            <a:pPr indent="0" marL="0">
              <a:lnSpc>
                <a:spcPts val="1500"/>
              </a:lnSpc>
              <a:buNone/>
            </a:pPr>
            <a:r>
              <a:rPr lang="en-US" sz="1050" dirty="0">
                <a:solidFill>
                  <a:srgbClr val="FFFFFF"/>
                </a:solidFill>
                <a:latin typeface="Courier New" pitchFamily="34" charset="0"/>
                <a:ea typeface="Courier New" pitchFamily="34" charset="-122"/>
                <a:cs typeface="Courier New" pitchFamily="34" charset="-120"/>
              </a:rPr>
              <a:t>       ) AS previous_month_revenue</a:t>
            </a:r>
            <a:endParaRPr lang="en-US" sz="1050" dirty="0"/>
          </a:p>
          <a:p>
            <a:pPr indent="0" marL="0">
              <a:lnSpc>
                <a:spcPts val="1500"/>
              </a:lnSpc>
              <a:buNone/>
            </a:pPr>
            <a:r>
              <a:rPr lang="en-US" sz="1050" dirty="0">
                <a:solidFill>
                  <a:srgbClr val="FFFFFF"/>
                </a:solidFill>
                <a:latin typeface="Courier New" pitchFamily="34" charset="0"/>
                <a:ea typeface="Courier New" pitchFamily="34" charset="-122"/>
                <a:cs typeface="Courier New" pitchFamily="34" charset="-120"/>
              </a:rPr>
              <a:t>FROM monthly_revenue;</a:t>
            </a:r>
            <a:endParaRPr lang="en-US" sz="1050" dirty="0"/>
          </a:p>
        </p:txBody>
      </p:sp>
      <p:sp>
        <p:nvSpPr>
          <p:cNvPr id="27" name="Text 25"/>
          <p:cNvSpPr txBox="1"/>
          <p:nvPr/>
        </p:nvSpPr>
        <p:spPr>
          <a:xfrm>
            <a:off x="6766560" y="4937760"/>
            <a:ext cx="4572000" cy="502920"/>
          </a:xfrm>
          <a:prstGeom prst="rect">
            <a:avLst/>
          </a:prstGeom>
          <a:noFill/>
          <a:ln/>
        </p:spPr>
        <p:txBody>
          <a:bodyPr wrap="square" lIns="0" tIns="0" rIns="0" bIns="0" rtlCol="0" anchor="ctr"/>
          <a:lstStyle/>
          <a:p>
            <a:pPr indent="0" marL="0">
              <a:buNone/>
            </a:pPr>
            <a:r>
              <a:rPr lang="en-US" sz="1050" i="1" dirty="0">
                <a:solidFill>
                  <a:srgbClr val="D3ABB1"/>
                </a:solidFill>
                <a:latin typeface="Calibri" pitchFamily="34" charset="0"/>
                <a:ea typeface="Calibri" pitchFamily="34" charset="-122"/>
                <a:cs typeface="Calibri" pitchFamily="34" charset="-120"/>
              </a:rPr>
              <a:t>10 analytical queries ship with the project, covering customer value, product return rates and rolling demand.</a:t>
            </a:r>
            <a:endParaRPr lang="en-US" sz="1050" dirty="0"/>
          </a:p>
        </p:txBody>
      </p:sp>
      <p:sp>
        <p:nvSpPr>
          <p:cNvPr id="29" name="Text 26"/>
          <p:cNvSpPr txBox="1"/>
          <p:nvPr/>
        </p:nvSpPr>
        <p:spPr>
          <a:xfrm>
            <a:off x="548640" y="6236208"/>
            <a:ext cx="5486400" cy="274320"/>
          </a:xfrm>
          <a:prstGeom prst="rect">
            <a:avLst/>
          </a:prstGeom>
          <a:noFill/>
          <a:ln/>
        </p:spPr>
        <p:txBody>
          <a:bodyPr wrap="square" lIns="0" tIns="0" rIns="0" bIns="0" rtlCol="0" anchor="ctr"/>
          <a:lstStyle/>
          <a:p>
            <a:pPr indent="0" marL="0">
              <a:buNone/>
            </a:pPr>
            <a:r>
              <a:rPr lang="en-US" sz="950" dirty="0">
                <a:solidFill>
                  <a:srgbClr val="A9989C"/>
                </a:solidFill>
                <a:latin typeface="Calibri" pitchFamily="34" charset="0"/>
                <a:ea typeface="Calibri" pitchFamily="34" charset="-122"/>
                <a:cs typeface="Calibri" pitchFamily="34" charset="-120"/>
              </a:rPr>
              <a:t>Customer 360  ·  Online Retail II</a:t>
            </a:r>
            <a:endParaRPr lang="en-US" sz="950" dirty="0"/>
          </a:p>
        </p:txBody>
      </p:sp>
      <p:sp>
        <p:nvSpPr>
          <p:cNvPr id="30" name="Text 27"/>
          <p:cNvSpPr txBox="1"/>
          <p:nvPr/>
        </p:nvSpPr>
        <p:spPr>
          <a:xfrm>
            <a:off x="10515600" y="6236208"/>
            <a:ext cx="1097280" cy="274320"/>
          </a:xfrm>
          <a:prstGeom prst="rect">
            <a:avLst/>
          </a:prstGeom>
          <a:noFill/>
          <a:ln/>
        </p:spPr>
        <p:txBody>
          <a:bodyPr wrap="square" lIns="0" tIns="0" rIns="0" bIns="0" rtlCol="0" anchor="ctr"/>
          <a:lstStyle/>
          <a:p>
            <a:pPr algn="r" indent="0" marL="0">
              <a:buNone/>
            </a:pPr>
            <a:r>
              <a:rPr lang="en-US" sz="950" b="1" dirty="0">
                <a:solidFill>
                  <a:srgbClr val="A26769"/>
                </a:solidFill>
                <a:latin typeface="Calibri" pitchFamily="34" charset="0"/>
                <a:ea typeface="Calibri" pitchFamily="34" charset="-122"/>
                <a:cs typeface="Calibri" pitchFamily="34" charset="-120"/>
              </a:rPr>
              <a:t>05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649578" cy="274320"/>
          </a:xfrm>
          <a:prstGeom prst="roundRect">
            <a:avLst>
              <a:gd name="adj" fmla="val 46667"/>
            </a:avLst>
          </a:prstGeom>
          <a:solidFill>
            <a:srgbClr val="ECE2D0"/>
          </a:solidFill>
          <a:ln w="12700">
            <a:solidFill>
              <a:srgbClr val="ECE2D0"/>
            </a:solidFill>
            <a:prstDash val="solid"/>
          </a:ln>
        </p:spPr>
      </p:sp>
      <p:sp>
        <p:nvSpPr>
          <p:cNvPr id="3" name="Text 1"/>
          <p:cNvSpPr txBox="1"/>
          <p:nvPr/>
        </p:nvSpPr>
        <p:spPr>
          <a:xfrm>
            <a:off x="548640" y="384048"/>
            <a:ext cx="1649578" cy="274320"/>
          </a:xfrm>
          <a:prstGeom prst="rect">
            <a:avLst/>
          </a:prstGeom>
          <a:noFill/>
          <a:ln/>
        </p:spPr>
        <p:txBody>
          <a:bodyPr wrap="square" lIns="0" tIns="0" rIns="0" bIns="0" rtlCol="0" anchor="ctr"/>
          <a:lstStyle/>
          <a:p>
            <a:pPr algn="ctr" indent="0" marL="0">
              <a:buNone/>
            </a:pPr>
            <a:r>
              <a:rPr lang="en-US" sz="1050" b="1" spc="120" kern="0" dirty="0">
                <a:solidFill>
                  <a:srgbClr val="6D2E46"/>
                </a:solidFill>
                <a:latin typeface="Calibri" pitchFamily="34" charset="0"/>
                <a:ea typeface="Calibri" pitchFamily="34" charset="-122"/>
                <a:cs typeface="Calibri" pitchFamily="34" charset="-120"/>
              </a:rPr>
              <a:t>COMMERCIAL PICTURE</a:t>
            </a:r>
            <a:endParaRPr lang="en-US" sz="1050" dirty="0"/>
          </a:p>
        </p:txBody>
      </p:sp>
      <p:sp>
        <p:nvSpPr>
          <p:cNvPr id="4" name="Text 2"/>
          <p:cNvSpPr txBox="1"/>
          <p:nvPr/>
        </p:nvSpPr>
        <p:spPr>
          <a:xfrm>
            <a:off x="548640" y="749808"/>
            <a:ext cx="11064240" cy="658368"/>
          </a:xfrm>
          <a:prstGeom prst="rect">
            <a:avLst/>
          </a:prstGeom>
          <a:noFill/>
          <a:ln/>
        </p:spPr>
        <p:txBody>
          <a:bodyPr wrap="square" lIns="0" tIns="0" rIns="0" bIns="0" rtlCol="0" anchor="ctr"/>
          <a:lstStyle/>
          <a:p>
            <a:pPr indent="0" marL="0">
              <a:buNone/>
            </a:pPr>
            <a:r>
              <a:rPr lang="en-US" sz="3200" b="1" dirty="0">
                <a:solidFill>
                  <a:srgbClr val="2B2124"/>
                </a:solidFill>
                <a:latin typeface="Cambria" pitchFamily="34" charset="0"/>
                <a:ea typeface="Cambria" pitchFamily="34" charset="-122"/>
                <a:cs typeface="Cambria" pitchFamily="34" charset="-120"/>
              </a:rPr>
              <a:t>Revenue is sharply seasonal</a:t>
            </a:r>
            <a:endParaRPr lang="en-US" sz="3200" dirty="0"/>
          </a:p>
        </p:txBody>
      </p:sp>
      <p:sp>
        <p:nvSpPr>
          <p:cNvPr id="5" name="Text 3"/>
          <p:cNvSpPr txBox="1"/>
          <p:nvPr/>
        </p:nvSpPr>
        <p:spPr>
          <a:xfrm>
            <a:off x="548640" y="1389888"/>
            <a:ext cx="11064240" cy="365760"/>
          </a:xfrm>
          <a:prstGeom prst="rect">
            <a:avLst/>
          </a:prstGeom>
          <a:noFill/>
          <a:ln/>
        </p:spPr>
        <p:txBody>
          <a:bodyPr wrap="square" lIns="0" tIns="0" rIns="0" bIns="0" rtlCol="0" anchor="t"/>
          <a:lstStyle/>
          <a:p>
            <a:pPr indent="0" marL="0">
              <a:buNone/>
            </a:pPr>
            <a:r>
              <a:rPr lang="en-US" sz="1400" dirty="0">
                <a:solidFill>
                  <a:srgbClr val="6B5C60"/>
                </a:solidFill>
                <a:latin typeface="Calibri" pitchFamily="34" charset="0"/>
                <a:ea typeface="Calibri" pitchFamily="34" charset="-122"/>
                <a:cs typeface="Calibri" pitchFamily="34" charset="-120"/>
              </a:rPr>
              <a:t>Monthly revenue, December 2009 – December 2011. Both years peak in November, ahead of Christmas delivery cut-offs.</a:t>
            </a:r>
            <a:endParaRPr lang="en-US" sz="1400" dirty="0"/>
          </a:p>
        </p:txBody>
      </p:sp>
      <p:graphicFrame>
        <p:nvGraphicFramePr>
          <p:cNvPr id="6" name="Chart 0" descr=""/>
          <p:cNvGraphicFramePr/>
          <p:nvPr/>
        </p:nvGraphicFramePr>
        <p:xfrm>
          <a:off x="548640" y="1965960"/>
          <a:ext cx="7772400" cy="356616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548640" y="5623560"/>
            <a:ext cx="7772400" cy="292608"/>
          </a:xfrm>
          <a:prstGeom prst="rect">
            <a:avLst/>
          </a:prstGeom>
          <a:noFill/>
          <a:ln/>
        </p:spPr>
        <p:txBody>
          <a:bodyPr wrap="square" lIns="0" tIns="0" rIns="0" bIns="0" rtlCol="0" anchor="ctr"/>
          <a:lstStyle/>
          <a:p>
            <a:pPr indent="0" marL="0">
              <a:buNone/>
            </a:pPr>
            <a:r>
              <a:rPr lang="en-US" sz="1000" i="1" dirty="0">
                <a:solidFill>
                  <a:srgbClr val="6B5C60"/>
                </a:solidFill>
                <a:latin typeface="Calibri" pitchFamily="34" charset="0"/>
                <a:ea typeface="Calibri" pitchFamily="34" charset="-122"/>
                <a:cs typeface="Calibri" pitchFamily="34" charset="-120"/>
              </a:rPr>
              <a:t>The source data ends on 9 December 2011, so the final month is partial.</a:t>
            </a:r>
            <a:endParaRPr lang="en-US" sz="1000" dirty="0"/>
          </a:p>
        </p:txBody>
      </p:sp>
      <p:sp>
        <p:nvSpPr>
          <p:cNvPr id="8" name="Shape 5"/>
          <p:cNvSpPr/>
          <p:nvPr/>
        </p:nvSpPr>
        <p:spPr>
          <a:xfrm>
            <a:off x="8595360" y="1965960"/>
            <a:ext cx="3017520" cy="1691640"/>
          </a:xfrm>
          <a:prstGeom prst="roundRect">
            <a:avLst>
              <a:gd name="adj" fmla="val 5405"/>
            </a:avLst>
          </a:prstGeom>
          <a:solidFill>
            <a:srgbClr val="6D2E46"/>
          </a:solidFill>
          <a:ln w="12700">
            <a:solidFill>
              <a:srgbClr val="6D2E46"/>
            </a:solidFill>
            <a:prstDash val="solid"/>
          </a:ln>
          <a:effectLst>
            <a:outerShdw sx="100000" sy="100000" kx="0" ky="0" algn="bl" rotWithShape="0" blurRad="101600" dist="12700" dir="5400000">
              <a:srgbClr val="000000">
                <a:alpha val="8000"/>
              </a:srgbClr>
            </a:outerShdw>
          </a:effectLst>
        </p:spPr>
      </p:sp>
      <p:sp>
        <p:nvSpPr>
          <p:cNvPr id="9" name="Text 6"/>
          <p:cNvSpPr txBox="1"/>
          <p:nvPr/>
        </p:nvSpPr>
        <p:spPr>
          <a:xfrm>
            <a:off x="8869680" y="2194560"/>
            <a:ext cx="246888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£1.46M</a:t>
            </a:r>
            <a:endParaRPr lang="en-US" sz="3000" dirty="0"/>
          </a:p>
        </p:txBody>
      </p:sp>
      <p:sp>
        <p:nvSpPr>
          <p:cNvPr id="10" name="Text 7"/>
          <p:cNvSpPr txBox="1"/>
          <p:nvPr/>
        </p:nvSpPr>
        <p:spPr>
          <a:xfrm>
            <a:off x="8869680" y="2761488"/>
            <a:ext cx="2468880" cy="731520"/>
          </a:xfrm>
          <a:prstGeom prst="rect">
            <a:avLst/>
          </a:prstGeom>
          <a:noFill/>
          <a:ln/>
        </p:spPr>
        <p:txBody>
          <a:bodyPr wrap="square" lIns="0" tIns="0" rIns="0" bIns="0" rtlCol="0" anchor="ctr"/>
          <a:lstStyle/>
          <a:p>
            <a:pPr indent="0" marL="0">
              <a:buNone/>
            </a:pPr>
            <a:r>
              <a:rPr lang="en-US" sz="1100" dirty="0">
                <a:solidFill>
                  <a:srgbClr val="ECE2D0"/>
                </a:solidFill>
                <a:latin typeface="Calibri" pitchFamily="34" charset="0"/>
                <a:ea typeface="Calibri" pitchFamily="34" charset="-122"/>
                <a:cs typeface="Calibri" pitchFamily="34" charset="-120"/>
              </a:rPr>
              <a:t>November 2011 — the strongest month, roughly 2.4× the quietest.</a:t>
            </a:r>
            <a:endParaRPr lang="en-US" sz="1100" dirty="0"/>
          </a:p>
        </p:txBody>
      </p:sp>
      <p:sp>
        <p:nvSpPr>
          <p:cNvPr id="11" name="Shape 8"/>
          <p:cNvSpPr/>
          <p:nvPr/>
        </p:nvSpPr>
        <p:spPr>
          <a:xfrm>
            <a:off x="8595360" y="3840480"/>
            <a:ext cx="3017520" cy="1691640"/>
          </a:xfrm>
          <a:prstGeom prst="roundRect">
            <a:avLst>
              <a:gd name="adj" fmla="val 5405"/>
            </a:avLst>
          </a:prstGeom>
          <a:solidFill>
            <a:srgbClr val="F7F2EA"/>
          </a:solidFill>
          <a:ln w="12700">
            <a:solidFill>
              <a:srgbClr val="ECE2D0"/>
            </a:solidFill>
            <a:prstDash val="solid"/>
          </a:ln>
          <a:effectLst>
            <a:outerShdw sx="100000" sy="100000" kx="0" ky="0" algn="bl" rotWithShape="0" blurRad="101600" dist="12700" dir="5400000">
              <a:srgbClr val="000000">
                <a:alpha val="8000"/>
              </a:srgbClr>
            </a:outerShdw>
          </a:effectLst>
        </p:spPr>
      </p:sp>
      <p:sp>
        <p:nvSpPr>
          <p:cNvPr id="12" name="Text 9"/>
          <p:cNvSpPr txBox="1"/>
          <p:nvPr/>
        </p:nvSpPr>
        <p:spPr>
          <a:xfrm>
            <a:off x="8869680" y="4069080"/>
            <a:ext cx="2468880" cy="457200"/>
          </a:xfrm>
          <a:prstGeom prst="rect">
            <a:avLst/>
          </a:prstGeom>
          <a:noFill/>
          <a:ln/>
        </p:spPr>
        <p:txBody>
          <a:bodyPr wrap="square" lIns="0" tIns="0" rIns="0" bIns="0" rtlCol="0" anchor="ctr"/>
          <a:lstStyle/>
          <a:p>
            <a:pPr indent="0" marL="0">
              <a:buNone/>
            </a:pPr>
            <a:r>
              <a:rPr lang="en-US" sz="2600" b="1" dirty="0">
                <a:solidFill>
                  <a:srgbClr val="6D2E46"/>
                </a:solidFill>
                <a:latin typeface="Cambria" pitchFamily="34" charset="0"/>
                <a:ea typeface="Cambria" pitchFamily="34" charset="-122"/>
                <a:cs typeface="Cambria" pitchFamily="34" charset="-120"/>
              </a:rPr>
              <a:t>Sep–Nov</a:t>
            </a:r>
            <a:endParaRPr lang="en-US" sz="2600" dirty="0"/>
          </a:p>
        </p:txBody>
      </p:sp>
      <p:sp>
        <p:nvSpPr>
          <p:cNvPr id="13" name="Text 10"/>
          <p:cNvSpPr txBox="1"/>
          <p:nvPr/>
        </p:nvSpPr>
        <p:spPr>
          <a:xfrm>
            <a:off x="8869680" y="4553712"/>
            <a:ext cx="2468880" cy="822960"/>
          </a:xfrm>
          <a:prstGeom prst="rect">
            <a:avLst/>
          </a:prstGeom>
          <a:noFill/>
          <a:ln/>
        </p:spPr>
        <p:txBody>
          <a:bodyPr wrap="square" lIns="0" tIns="0" rIns="0" bIns="0" rtlCol="0" anchor="ctr"/>
          <a:lstStyle/>
          <a:p>
            <a:pPr indent="0" marL="0">
              <a:buNone/>
            </a:pPr>
            <a:r>
              <a:rPr lang="en-US" sz="1100" dirty="0">
                <a:solidFill>
                  <a:srgbClr val="6B5C60"/>
                </a:solidFill>
                <a:latin typeface="Calibri" pitchFamily="34" charset="0"/>
                <a:ea typeface="Calibri" pitchFamily="34" charset="-122"/>
                <a:cs typeface="Calibri" pitchFamily="34" charset="-120"/>
              </a:rPr>
              <a:t>The build-up window where stock, staffing and campaign spend decide the year.</a:t>
            </a:r>
            <a:endParaRPr lang="en-US" sz="1100" dirty="0"/>
          </a:p>
        </p:txBody>
      </p:sp>
      <p:sp>
        <p:nvSpPr>
          <p:cNvPr id="15" name="Text 11"/>
          <p:cNvSpPr txBox="1"/>
          <p:nvPr/>
        </p:nvSpPr>
        <p:spPr>
          <a:xfrm>
            <a:off x="548640" y="6236208"/>
            <a:ext cx="5486400" cy="274320"/>
          </a:xfrm>
          <a:prstGeom prst="rect">
            <a:avLst/>
          </a:prstGeom>
          <a:noFill/>
          <a:ln/>
        </p:spPr>
        <p:txBody>
          <a:bodyPr wrap="square" lIns="0" tIns="0" rIns="0" bIns="0" rtlCol="0" anchor="ctr"/>
          <a:lstStyle/>
          <a:p>
            <a:pPr indent="0" marL="0">
              <a:buNone/>
            </a:pPr>
            <a:r>
              <a:rPr lang="en-US" sz="950" dirty="0">
                <a:solidFill>
                  <a:srgbClr val="A9989C"/>
                </a:solidFill>
                <a:latin typeface="Calibri" pitchFamily="34" charset="0"/>
                <a:ea typeface="Calibri" pitchFamily="34" charset="-122"/>
                <a:cs typeface="Calibri" pitchFamily="34" charset="-120"/>
              </a:rPr>
              <a:t>Customer 360  ·  Online Retail II</a:t>
            </a:r>
            <a:endParaRPr lang="en-US" sz="950" dirty="0"/>
          </a:p>
        </p:txBody>
      </p:sp>
      <p:sp>
        <p:nvSpPr>
          <p:cNvPr id="16" name="Text 12"/>
          <p:cNvSpPr txBox="1"/>
          <p:nvPr/>
        </p:nvSpPr>
        <p:spPr>
          <a:xfrm>
            <a:off x="10515600" y="6236208"/>
            <a:ext cx="1097280" cy="274320"/>
          </a:xfrm>
          <a:prstGeom prst="rect">
            <a:avLst/>
          </a:prstGeom>
          <a:noFill/>
          <a:ln/>
        </p:spPr>
        <p:txBody>
          <a:bodyPr wrap="square" lIns="0" tIns="0" rIns="0" bIns="0" rtlCol="0" anchor="ctr"/>
          <a:lstStyle/>
          <a:p>
            <a:pPr algn="r" indent="0" marL="0">
              <a:buNone/>
            </a:pPr>
            <a:r>
              <a:rPr lang="en-US" sz="950" b="1" dirty="0">
                <a:solidFill>
                  <a:srgbClr val="A26769"/>
                </a:solidFill>
                <a:latin typeface="Calibri" pitchFamily="34" charset="0"/>
                <a:ea typeface="Calibri" pitchFamily="34" charset="-122"/>
                <a:cs typeface="Calibri" pitchFamily="34" charset="-120"/>
              </a:rPr>
              <a:t>06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649578" cy="274320"/>
          </a:xfrm>
          <a:prstGeom prst="roundRect">
            <a:avLst>
              <a:gd name="adj" fmla="val 46667"/>
            </a:avLst>
          </a:prstGeom>
          <a:solidFill>
            <a:srgbClr val="ECE2D0"/>
          </a:solidFill>
          <a:ln w="12700">
            <a:solidFill>
              <a:srgbClr val="ECE2D0"/>
            </a:solidFill>
            <a:prstDash val="solid"/>
          </a:ln>
        </p:spPr>
      </p:sp>
      <p:sp>
        <p:nvSpPr>
          <p:cNvPr id="3" name="Text 1"/>
          <p:cNvSpPr txBox="1"/>
          <p:nvPr/>
        </p:nvSpPr>
        <p:spPr>
          <a:xfrm>
            <a:off x="548640" y="384048"/>
            <a:ext cx="1649578" cy="274320"/>
          </a:xfrm>
          <a:prstGeom prst="rect">
            <a:avLst/>
          </a:prstGeom>
          <a:noFill/>
          <a:ln/>
        </p:spPr>
        <p:txBody>
          <a:bodyPr wrap="square" lIns="0" tIns="0" rIns="0" bIns="0" rtlCol="0" anchor="ctr"/>
          <a:lstStyle/>
          <a:p>
            <a:pPr algn="ctr" indent="0" marL="0">
              <a:buNone/>
            </a:pPr>
            <a:r>
              <a:rPr lang="en-US" sz="1050" b="1" spc="120" kern="0" dirty="0">
                <a:solidFill>
                  <a:srgbClr val="6D2E46"/>
                </a:solidFill>
                <a:latin typeface="Calibri" pitchFamily="34" charset="0"/>
                <a:ea typeface="Calibri" pitchFamily="34" charset="-122"/>
                <a:cs typeface="Calibri" pitchFamily="34" charset="-120"/>
              </a:rPr>
              <a:t>COMMERCIAL PICTURE</a:t>
            </a:r>
            <a:endParaRPr lang="en-US" sz="1050" dirty="0"/>
          </a:p>
        </p:txBody>
      </p:sp>
      <p:sp>
        <p:nvSpPr>
          <p:cNvPr id="4" name="Text 2"/>
          <p:cNvSpPr txBox="1"/>
          <p:nvPr/>
        </p:nvSpPr>
        <p:spPr>
          <a:xfrm>
            <a:off x="548640" y="749808"/>
            <a:ext cx="11064240" cy="658368"/>
          </a:xfrm>
          <a:prstGeom prst="rect">
            <a:avLst/>
          </a:prstGeom>
          <a:noFill/>
          <a:ln/>
        </p:spPr>
        <p:txBody>
          <a:bodyPr wrap="square" lIns="0" tIns="0" rIns="0" bIns="0" rtlCol="0" anchor="ctr"/>
          <a:lstStyle/>
          <a:p>
            <a:pPr indent="0" marL="0">
              <a:buNone/>
            </a:pPr>
            <a:r>
              <a:rPr lang="en-US" sz="3200" b="1" dirty="0">
                <a:solidFill>
                  <a:srgbClr val="2B2124"/>
                </a:solidFill>
                <a:latin typeface="Cambria" pitchFamily="34" charset="0"/>
                <a:ea typeface="Cambria" pitchFamily="34" charset="-122"/>
                <a:cs typeface="Cambria" pitchFamily="34" charset="-120"/>
              </a:rPr>
              <a:t>Concentrated — by geography and by product</a:t>
            </a:r>
            <a:endParaRPr lang="en-US" sz="3200" dirty="0"/>
          </a:p>
        </p:txBody>
      </p:sp>
      <p:sp>
        <p:nvSpPr>
          <p:cNvPr id="5" name="Text 3"/>
          <p:cNvSpPr txBox="1"/>
          <p:nvPr/>
        </p:nvSpPr>
        <p:spPr>
          <a:xfrm>
            <a:off x="548640" y="1389888"/>
            <a:ext cx="11064240" cy="365760"/>
          </a:xfrm>
          <a:prstGeom prst="rect">
            <a:avLst/>
          </a:prstGeom>
          <a:noFill/>
          <a:ln/>
        </p:spPr>
        <p:txBody>
          <a:bodyPr wrap="square" lIns="0" tIns="0" rIns="0" bIns="0" rtlCol="0" anchor="t"/>
          <a:lstStyle/>
          <a:p>
            <a:pPr indent="0" marL="0">
              <a:buNone/>
            </a:pPr>
            <a:r>
              <a:rPr lang="en-US" sz="1400" dirty="0">
                <a:solidFill>
                  <a:srgbClr val="6B5C60"/>
                </a:solidFill>
                <a:latin typeface="Calibri" pitchFamily="34" charset="0"/>
                <a:ea typeface="Calibri" pitchFamily="34" charset="-122"/>
                <a:cs typeface="Calibri" pitchFamily="34" charset="-120"/>
              </a:rPr>
              <a:t>The business depends on one market and a short head of best-sellers.</a:t>
            </a:r>
            <a:endParaRPr lang="en-US" sz="1400" dirty="0"/>
          </a:p>
        </p:txBody>
      </p:sp>
      <p:sp>
        <p:nvSpPr>
          <p:cNvPr id="6" name="Shape 4"/>
          <p:cNvSpPr/>
          <p:nvPr/>
        </p:nvSpPr>
        <p:spPr>
          <a:xfrm>
            <a:off x="548640" y="1965960"/>
            <a:ext cx="3200400" cy="1463040"/>
          </a:xfrm>
          <a:prstGeom prst="roundRect">
            <a:avLst>
              <a:gd name="adj" fmla="val 6250"/>
            </a:avLst>
          </a:prstGeom>
          <a:solidFill>
            <a:srgbClr val="6D2E46"/>
          </a:solidFill>
          <a:ln w="12700">
            <a:solidFill>
              <a:srgbClr val="6D2E46"/>
            </a:solidFill>
            <a:prstDash val="solid"/>
          </a:ln>
          <a:effectLst>
            <a:outerShdw sx="100000" sy="100000" kx="0" ky="0" algn="bl" rotWithShape="0" blurRad="101600" dist="12700" dir="5400000">
              <a:srgbClr val="000000">
                <a:alpha val="8000"/>
              </a:srgbClr>
            </a:outerShdw>
          </a:effectLst>
        </p:spPr>
      </p:sp>
      <p:sp>
        <p:nvSpPr>
          <p:cNvPr id="7" name="Text 5"/>
          <p:cNvSpPr txBox="1"/>
          <p:nvPr/>
        </p:nvSpPr>
        <p:spPr>
          <a:xfrm>
            <a:off x="804672" y="2148840"/>
            <a:ext cx="2743200" cy="566928"/>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84.8%</a:t>
            </a:r>
            <a:endParaRPr lang="en-US" sz="3400" dirty="0"/>
          </a:p>
        </p:txBody>
      </p:sp>
      <p:sp>
        <p:nvSpPr>
          <p:cNvPr id="8" name="Text 6"/>
          <p:cNvSpPr txBox="1"/>
          <p:nvPr/>
        </p:nvSpPr>
        <p:spPr>
          <a:xfrm>
            <a:off x="804672" y="2724912"/>
            <a:ext cx="2697480" cy="594360"/>
          </a:xfrm>
          <a:prstGeom prst="rect">
            <a:avLst/>
          </a:prstGeom>
          <a:noFill/>
          <a:ln/>
        </p:spPr>
        <p:txBody>
          <a:bodyPr wrap="square" lIns="0" tIns="0" rIns="0" bIns="0" rtlCol="0" anchor="ctr"/>
          <a:lstStyle/>
          <a:p>
            <a:pPr indent="0" marL="0">
              <a:buNone/>
            </a:pPr>
            <a:r>
              <a:rPr lang="en-US" sz="1100" dirty="0">
                <a:solidFill>
                  <a:srgbClr val="ECE2D0"/>
                </a:solidFill>
                <a:latin typeface="Calibri" pitchFamily="34" charset="0"/>
                <a:ea typeface="Calibri" pitchFamily="34" charset="-122"/>
                <a:cs typeface="Calibri" pitchFamily="34" charset="-120"/>
              </a:rPr>
              <a:t>of revenue comes from the United Kingdom alone</a:t>
            </a:r>
            <a:endParaRPr lang="en-US" sz="1100" dirty="0"/>
          </a:p>
        </p:txBody>
      </p:sp>
      <p:sp>
        <p:nvSpPr>
          <p:cNvPr id="9" name="Shape 7"/>
          <p:cNvSpPr/>
          <p:nvPr/>
        </p:nvSpPr>
        <p:spPr>
          <a:xfrm>
            <a:off x="548640" y="3611880"/>
            <a:ext cx="3200400" cy="1920240"/>
          </a:xfrm>
          <a:prstGeom prst="roundRect">
            <a:avLst>
              <a:gd name="adj" fmla="val 4762"/>
            </a:avLst>
          </a:prstGeom>
          <a:solidFill>
            <a:srgbClr val="F7F2EA"/>
          </a:solidFill>
          <a:ln w="12700">
            <a:solidFill>
              <a:srgbClr val="ECE2D0"/>
            </a:solidFill>
            <a:prstDash val="solid"/>
          </a:ln>
          <a:effectLst>
            <a:outerShdw sx="100000" sy="100000" kx="0" ky="0" algn="bl" rotWithShape="0" blurRad="101600" dist="12700" dir="5400000">
              <a:srgbClr val="000000">
                <a:alpha val="8000"/>
              </a:srgbClr>
            </a:outerShdw>
          </a:effectLst>
        </p:spPr>
      </p:sp>
      <p:sp>
        <p:nvSpPr>
          <p:cNvPr id="10" name="Text 8"/>
          <p:cNvSpPr txBox="1"/>
          <p:nvPr/>
        </p:nvSpPr>
        <p:spPr>
          <a:xfrm>
            <a:off x="804672" y="3767328"/>
            <a:ext cx="2743200" cy="256032"/>
          </a:xfrm>
          <a:prstGeom prst="rect">
            <a:avLst/>
          </a:prstGeom>
          <a:noFill/>
          <a:ln/>
        </p:spPr>
        <p:txBody>
          <a:bodyPr wrap="square" lIns="0" tIns="0" rIns="0" bIns="0" rtlCol="0" anchor="ctr"/>
          <a:lstStyle/>
          <a:p>
            <a:pPr indent="0" marL="0">
              <a:buNone/>
            </a:pPr>
            <a:r>
              <a:rPr lang="en-US" sz="1200" b="1" dirty="0">
                <a:solidFill>
                  <a:srgbClr val="6D2E46"/>
                </a:solidFill>
                <a:latin typeface="Calibri" pitchFamily="34" charset="0"/>
                <a:ea typeface="Calibri" pitchFamily="34" charset="-122"/>
                <a:cs typeface="Calibri" pitchFamily="34" charset="-120"/>
              </a:rPr>
              <a:t>Top products</a:t>
            </a:r>
            <a:endParaRPr lang="en-US" sz="1200" dirty="0"/>
          </a:p>
        </p:txBody>
      </p:sp>
      <p:sp>
        <p:nvSpPr>
          <p:cNvPr id="11" name="Text 9"/>
          <p:cNvSpPr txBox="1"/>
          <p:nvPr/>
        </p:nvSpPr>
        <p:spPr>
          <a:xfrm>
            <a:off x="804672" y="4096512"/>
            <a:ext cx="2057400" cy="274320"/>
          </a:xfrm>
          <a:prstGeom prst="rect">
            <a:avLst/>
          </a:prstGeom>
          <a:noFill/>
          <a:ln/>
        </p:spPr>
        <p:txBody>
          <a:bodyPr wrap="square" lIns="0" tIns="0" rIns="0" bIns="0" rtlCol="0" anchor="ctr"/>
          <a:lstStyle/>
          <a:p>
            <a:pPr indent="0" marL="0">
              <a:buNone/>
            </a:pPr>
            <a:r>
              <a:rPr lang="en-US" sz="1050" dirty="0">
                <a:solidFill>
                  <a:srgbClr val="2B2124"/>
                </a:solidFill>
                <a:latin typeface="Calibri" pitchFamily="34" charset="0"/>
                <a:ea typeface="Calibri" pitchFamily="34" charset="-122"/>
                <a:cs typeface="Calibri" pitchFamily="34" charset="-120"/>
              </a:rPr>
              <a:t>Regency Cakestand 3 Tier</a:t>
            </a:r>
            <a:endParaRPr lang="en-US" sz="1050" dirty="0"/>
          </a:p>
        </p:txBody>
      </p:sp>
      <p:sp>
        <p:nvSpPr>
          <p:cNvPr id="12" name="Text 10"/>
          <p:cNvSpPr txBox="1"/>
          <p:nvPr/>
        </p:nvSpPr>
        <p:spPr>
          <a:xfrm>
            <a:off x="2834640" y="4096512"/>
            <a:ext cx="685800" cy="274320"/>
          </a:xfrm>
          <a:prstGeom prst="rect">
            <a:avLst/>
          </a:prstGeom>
          <a:noFill/>
          <a:ln/>
        </p:spPr>
        <p:txBody>
          <a:bodyPr wrap="square" lIns="0" tIns="0" rIns="0" bIns="0" rtlCol="0" anchor="ctr"/>
          <a:lstStyle/>
          <a:p>
            <a:pPr algn="r" indent="0" marL="0">
              <a:buNone/>
            </a:pPr>
            <a:r>
              <a:rPr lang="en-US" sz="1050" b="1" dirty="0">
                <a:solidFill>
                  <a:srgbClr val="6D2E46"/>
                </a:solidFill>
                <a:latin typeface="Calibri" pitchFamily="34" charset="0"/>
                <a:ea typeface="Calibri" pitchFamily="34" charset="-122"/>
                <a:cs typeface="Calibri" pitchFamily="34" charset="-120"/>
              </a:rPr>
              <a:t>£314k</a:t>
            </a:r>
            <a:endParaRPr lang="en-US" sz="1050" dirty="0"/>
          </a:p>
        </p:txBody>
      </p:sp>
      <p:sp>
        <p:nvSpPr>
          <p:cNvPr id="13" name="Text 11"/>
          <p:cNvSpPr txBox="1"/>
          <p:nvPr/>
        </p:nvSpPr>
        <p:spPr>
          <a:xfrm>
            <a:off x="804672" y="4443984"/>
            <a:ext cx="2057400" cy="274320"/>
          </a:xfrm>
          <a:prstGeom prst="rect">
            <a:avLst/>
          </a:prstGeom>
          <a:noFill/>
          <a:ln/>
        </p:spPr>
        <p:txBody>
          <a:bodyPr wrap="square" lIns="0" tIns="0" rIns="0" bIns="0" rtlCol="0" anchor="ctr"/>
          <a:lstStyle/>
          <a:p>
            <a:pPr indent="0" marL="0">
              <a:buNone/>
            </a:pPr>
            <a:r>
              <a:rPr lang="en-US" sz="1050" dirty="0">
                <a:solidFill>
                  <a:srgbClr val="2B2124"/>
                </a:solidFill>
                <a:latin typeface="Calibri" pitchFamily="34" charset="0"/>
                <a:ea typeface="Calibri" pitchFamily="34" charset="-122"/>
                <a:cs typeface="Calibri" pitchFamily="34" charset="-120"/>
              </a:rPr>
              <a:t>Dotcom Postage</a:t>
            </a:r>
            <a:endParaRPr lang="en-US" sz="1050" dirty="0"/>
          </a:p>
        </p:txBody>
      </p:sp>
      <p:sp>
        <p:nvSpPr>
          <p:cNvPr id="14" name="Text 12"/>
          <p:cNvSpPr txBox="1"/>
          <p:nvPr/>
        </p:nvSpPr>
        <p:spPr>
          <a:xfrm>
            <a:off x="2834640" y="4443984"/>
            <a:ext cx="685800" cy="274320"/>
          </a:xfrm>
          <a:prstGeom prst="rect">
            <a:avLst/>
          </a:prstGeom>
          <a:noFill/>
          <a:ln/>
        </p:spPr>
        <p:txBody>
          <a:bodyPr wrap="square" lIns="0" tIns="0" rIns="0" bIns="0" rtlCol="0" anchor="ctr"/>
          <a:lstStyle/>
          <a:p>
            <a:pPr algn="r" indent="0" marL="0">
              <a:buNone/>
            </a:pPr>
            <a:r>
              <a:rPr lang="en-US" sz="1050" b="1" dirty="0">
                <a:solidFill>
                  <a:srgbClr val="6D2E46"/>
                </a:solidFill>
                <a:latin typeface="Calibri" pitchFamily="34" charset="0"/>
                <a:ea typeface="Calibri" pitchFamily="34" charset="-122"/>
                <a:cs typeface="Calibri" pitchFamily="34" charset="-120"/>
              </a:rPr>
              <a:t>£310k</a:t>
            </a:r>
            <a:endParaRPr lang="en-US" sz="1050" dirty="0"/>
          </a:p>
        </p:txBody>
      </p:sp>
      <p:sp>
        <p:nvSpPr>
          <p:cNvPr id="15" name="Text 13"/>
          <p:cNvSpPr txBox="1"/>
          <p:nvPr/>
        </p:nvSpPr>
        <p:spPr>
          <a:xfrm>
            <a:off x="804672" y="4791456"/>
            <a:ext cx="2057400" cy="274320"/>
          </a:xfrm>
          <a:prstGeom prst="rect">
            <a:avLst/>
          </a:prstGeom>
          <a:noFill/>
          <a:ln/>
        </p:spPr>
        <p:txBody>
          <a:bodyPr wrap="square" lIns="0" tIns="0" rIns="0" bIns="0" rtlCol="0" anchor="ctr"/>
          <a:lstStyle/>
          <a:p>
            <a:pPr indent="0" marL="0">
              <a:buNone/>
            </a:pPr>
            <a:r>
              <a:rPr lang="en-US" sz="1050" dirty="0">
                <a:solidFill>
                  <a:srgbClr val="2B2124"/>
                </a:solidFill>
                <a:latin typeface="Calibri" pitchFamily="34" charset="0"/>
                <a:ea typeface="Calibri" pitchFamily="34" charset="-122"/>
                <a:cs typeface="Calibri" pitchFamily="34" charset="-120"/>
              </a:rPr>
              <a:t>White Hanging Heart T-Light</a:t>
            </a:r>
            <a:endParaRPr lang="en-US" sz="1050" dirty="0"/>
          </a:p>
        </p:txBody>
      </p:sp>
      <p:sp>
        <p:nvSpPr>
          <p:cNvPr id="16" name="Text 14"/>
          <p:cNvSpPr txBox="1"/>
          <p:nvPr/>
        </p:nvSpPr>
        <p:spPr>
          <a:xfrm>
            <a:off x="2834640" y="4791456"/>
            <a:ext cx="685800" cy="274320"/>
          </a:xfrm>
          <a:prstGeom prst="rect">
            <a:avLst/>
          </a:prstGeom>
          <a:noFill/>
          <a:ln/>
        </p:spPr>
        <p:txBody>
          <a:bodyPr wrap="square" lIns="0" tIns="0" rIns="0" bIns="0" rtlCol="0" anchor="ctr"/>
          <a:lstStyle/>
          <a:p>
            <a:pPr algn="r" indent="0" marL="0">
              <a:buNone/>
            </a:pPr>
            <a:r>
              <a:rPr lang="en-US" sz="1050" b="1" dirty="0">
                <a:solidFill>
                  <a:srgbClr val="6D2E46"/>
                </a:solidFill>
                <a:latin typeface="Calibri" pitchFamily="34" charset="0"/>
                <a:ea typeface="Calibri" pitchFamily="34" charset="-122"/>
                <a:cs typeface="Calibri" pitchFamily="34" charset="-120"/>
              </a:rPr>
              <a:t>£248k</a:t>
            </a:r>
            <a:endParaRPr lang="en-US" sz="1050" dirty="0"/>
          </a:p>
        </p:txBody>
      </p:sp>
      <p:sp>
        <p:nvSpPr>
          <p:cNvPr id="17" name="Text 15"/>
          <p:cNvSpPr txBox="1"/>
          <p:nvPr/>
        </p:nvSpPr>
        <p:spPr>
          <a:xfrm>
            <a:off x="804672" y="5138928"/>
            <a:ext cx="2057400" cy="274320"/>
          </a:xfrm>
          <a:prstGeom prst="rect">
            <a:avLst/>
          </a:prstGeom>
          <a:noFill/>
          <a:ln/>
        </p:spPr>
        <p:txBody>
          <a:bodyPr wrap="square" lIns="0" tIns="0" rIns="0" bIns="0" rtlCol="0" anchor="ctr"/>
          <a:lstStyle/>
          <a:p>
            <a:pPr indent="0" marL="0">
              <a:buNone/>
            </a:pPr>
            <a:r>
              <a:rPr lang="en-US" sz="1050" dirty="0">
                <a:solidFill>
                  <a:srgbClr val="2B2124"/>
                </a:solidFill>
                <a:latin typeface="Calibri" pitchFamily="34" charset="0"/>
                <a:ea typeface="Calibri" pitchFamily="34" charset="-122"/>
                <a:cs typeface="Calibri" pitchFamily="34" charset="-120"/>
              </a:rPr>
              <a:t>Jumbo Bag Red White Spotty</a:t>
            </a:r>
            <a:endParaRPr lang="en-US" sz="1050" dirty="0"/>
          </a:p>
        </p:txBody>
      </p:sp>
      <p:sp>
        <p:nvSpPr>
          <p:cNvPr id="18" name="Text 16"/>
          <p:cNvSpPr txBox="1"/>
          <p:nvPr/>
        </p:nvSpPr>
        <p:spPr>
          <a:xfrm>
            <a:off x="2834640" y="5138928"/>
            <a:ext cx="685800" cy="274320"/>
          </a:xfrm>
          <a:prstGeom prst="rect">
            <a:avLst/>
          </a:prstGeom>
          <a:noFill/>
          <a:ln/>
        </p:spPr>
        <p:txBody>
          <a:bodyPr wrap="square" lIns="0" tIns="0" rIns="0" bIns="0" rtlCol="0" anchor="ctr"/>
          <a:lstStyle/>
          <a:p>
            <a:pPr algn="r" indent="0" marL="0">
              <a:buNone/>
            </a:pPr>
            <a:r>
              <a:rPr lang="en-US" sz="1050" b="1" dirty="0">
                <a:solidFill>
                  <a:srgbClr val="6D2E46"/>
                </a:solidFill>
                <a:latin typeface="Calibri" pitchFamily="34" charset="0"/>
                <a:ea typeface="Calibri" pitchFamily="34" charset="-122"/>
                <a:cs typeface="Calibri" pitchFamily="34" charset="-120"/>
              </a:rPr>
              <a:t>£178k</a:t>
            </a:r>
            <a:endParaRPr lang="en-US" sz="1050" dirty="0"/>
          </a:p>
        </p:txBody>
      </p:sp>
      <p:graphicFrame>
        <p:nvGraphicFramePr>
          <p:cNvPr id="19" name="Chart 0" descr=""/>
          <p:cNvGraphicFramePr/>
          <p:nvPr/>
        </p:nvGraphicFramePr>
        <p:xfrm>
          <a:off x="4023360" y="1965960"/>
          <a:ext cx="7589520" cy="3566160"/>
        </p:xfrm>
        <a:graphic xmlns:a="http://schemas.openxmlformats.org/drawingml/2006/main">
          <a:graphicData uri="http://schemas.openxmlformats.org/drawingml/2006/chart">
            <c:chart xmlns:c="http://schemas.openxmlformats.org/drawingml/2006/chart" r:id="rId1"/>
          </a:graphicData>
        </a:graphic>
      </p:graphicFrame>
      <p:sp>
        <p:nvSpPr>
          <p:cNvPr id="21" name="Text 17"/>
          <p:cNvSpPr txBox="1"/>
          <p:nvPr/>
        </p:nvSpPr>
        <p:spPr>
          <a:xfrm>
            <a:off x="548640" y="6236208"/>
            <a:ext cx="5486400" cy="274320"/>
          </a:xfrm>
          <a:prstGeom prst="rect">
            <a:avLst/>
          </a:prstGeom>
          <a:noFill/>
          <a:ln/>
        </p:spPr>
        <p:txBody>
          <a:bodyPr wrap="square" lIns="0" tIns="0" rIns="0" bIns="0" rtlCol="0" anchor="ctr"/>
          <a:lstStyle/>
          <a:p>
            <a:pPr indent="0" marL="0">
              <a:buNone/>
            </a:pPr>
            <a:r>
              <a:rPr lang="en-US" sz="950" dirty="0">
                <a:solidFill>
                  <a:srgbClr val="A9989C"/>
                </a:solidFill>
                <a:latin typeface="Calibri" pitchFamily="34" charset="0"/>
                <a:ea typeface="Calibri" pitchFamily="34" charset="-122"/>
                <a:cs typeface="Calibri" pitchFamily="34" charset="-120"/>
              </a:rPr>
              <a:t>Customer 360  ·  Online Retail II</a:t>
            </a:r>
            <a:endParaRPr lang="en-US" sz="950" dirty="0"/>
          </a:p>
        </p:txBody>
      </p:sp>
      <p:sp>
        <p:nvSpPr>
          <p:cNvPr id="22" name="Text 18"/>
          <p:cNvSpPr txBox="1"/>
          <p:nvPr/>
        </p:nvSpPr>
        <p:spPr>
          <a:xfrm>
            <a:off x="10515600" y="6236208"/>
            <a:ext cx="1097280" cy="274320"/>
          </a:xfrm>
          <a:prstGeom prst="rect">
            <a:avLst/>
          </a:prstGeom>
          <a:noFill/>
          <a:ln/>
        </p:spPr>
        <p:txBody>
          <a:bodyPr wrap="square" lIns="0" tIns="0" rIns="0" bIns="0" rtlCol="0" anchor="ctr"/>
          <a:lstStyle/>
          <a:p>
            <a:pPr algn="r" indent="0" marL="0">
              <a:buNone/>
            </a:pPr>
            <a:r>
              <a:rPr lang="en-US" sz="950" b="1" dirty="0">
                <a:solidFill>
                  <a:srgbClr val="A26769"/>
                </a:solidFill>
                <a:latin typeface="Calibri" pitchFamily="34" charset="0"/>
                <a:ea typeface="Calibri" pitchFamily="34" charset="-122"/>
                <a:cs typeface="Calibri" pitchFamily="34" charset="-120"/>
              </a:rPr>
              <a:t>07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166774" cy="274320"/>
          </a:xfrm>
          <a:prstGeom prst="roundRect">
            <a:avLst>
              <a:gd name="adj" fmla="val 46667"/>
            </a:avLst>
          </a:prstGeom>
          <a:solidFill>
            <a:srgbClr val="ECE2D0"/>
          </a:solidFill>
          <a:ln w="12700">
            <a:solidFill>
              <a:srgbClr val="ECE2D0"/>
            </a:solidFill>
            <a:prstDash val="solid"/>
          </a:ln>
        </p:spPr>
      </p:sp>
      <p:sp>
        <p:nvSpPr>
          <p:cNvPr id="3" name="Text 1"/>
          <p:cNvSpPr txBox="1"/>
          <p:nvPr/>
        </p:nvSpPr>
        <p:spPr>
          <a:xfrm>
            <a:off x="548640" y="384048"/>
            <a:ext cx="1166774" cy="274320"/>
          </a:xfrm>
          <a:prstGeom prst="rect">
            <a:avLst/>
          </a:prstGeom>
          <a:noFill/>
          <a:ln/>
        </p:spPr>
        <p:txBody>
          <a:bodyPr wrap="square" lIns="0" tIns="0" rIns="0" bIns="0" rtlCol="0" anchor="ctr"/>
          <a:lstStyle/>
          <a:p>
            <a:pPr algn="ctr" indent="0" marL="0">
              <a:buNone/>
            </a:pPr>
            <a:r>
              <a:rPr lang="en-US" sz="1050" b="1" spc="120" kern="0" dirty="0">
                <a:solidFill>
                  <a:srgbClr val="6D2E46"/>
                </a:solidFill>
                <a:latin typeface="Calibri" pitchFamily="34" charset="0"/>
                <a:ea typeface="Calibri" pitchFamily="34" charset="-122"/>
                <a:cs typeface="Calibri" pitchFamily="34" charset="-120"/>
              </a:rPr>
              <a:t>SEGMENTATION</a:t>
            </a:r>
            <a:endParaRPr lang="en-US" sz="1050" dirty="0"/>
          </a:p>
        </p:txBody>
      </p:sp>
      <p:sp>
        <p:nvSpPr>
          <p:cNvPr id="4" name="Text 2"/>
          <p:cNvSpPr txBox="1"/>
          <p:nvPr/>
        </p:nvSpPr>
        <p:spPr>
          <a:xfrm>
            <a:off x="548640" y="749808"/>
            <a:ext cx="11064240" cy="658368"/>
          </a:xfrm>
          <a:prstGeom prst="rect">
            <a:avLst/>
          </a:prstGeom>
          <a:noFill/>
          <a:ln/>
        </p:spPr>
        <p:txBody>
          <a:bodyPr wrap="square" lIns="0" tIns="0" rIns="0" bIns="0" rtlCol="0" anchor="ctr"/>
          <a:lstStyle/>
          <a:p>
            <a:pPr indent="0" marL="0">
              <a:buNone/>
            </a:pPr>
            <a:r>
              <a:rPr lang="en-US" sz="3200" b="1" dirty="0">
                <a:solidFill>
                  <a:srgbClr val="2B2124"/>
                </a:solidFill>
                <a:latin typeface="Cambria" pitchFamily="34" charset="0"/>
                <a:ea typeface="Cambria" pitchFamily="34" charset="-122"/>
                <a:cs typeface="Cambria" pitchFamily="34" charset="-120"/>
              </a:rPr>
              <a:t>Three customer segments, found not assumed</a:t>
            </a:r>
            <a:endParaRPr lang="en-US" sz="3200" dirty="0"/>
          </a:p>
        </p:txBody>
      </p:sp>
      <p:sp>
        <p:nvSpPr>
          <p:cNvPr id="5" name="Text 3"/>
          <p:cNvSpPr txBox="1"/>
          <p:nvPr/>
        </p:nvSpPr>
        <p:spPr>
          <a:xfrm>
            <a:off x="548640" y="1389888"/>
            <a:ext cx="11064240" cy="365760"/>
          </a:xfrm>
          <a:prstGeom prst="rect">
            <a:avLst/>
          </a:prstGeom>
          <a:noFill/>
          <a:ln/>
        </p:spPr>
        <p:txBody>
          <a:bodyPr wrap="square" lIns="0" tIns="0" rIns="0" bIns="0" rtlCol="0" anchor="t"/>
          <a:lstStyle/>
          <a:p>
            <a:pPr indent="0" marL="0">
              <a:buNone/>
            </a:pPr>
            <a:r>
              <a:rPr lang="en-US" sz="1400" dirty="0">
                <a:solidFill>
                  <a:srgbClr val="6B5C60"/>
                </a:solidFill>
                <a:latin typeface="Calibri" pitchFamily="34" charset="0"/>
                <a:ea typeface="Calibri" pitchFamily="34" charset="-122"/>
                <a:cs typeface="Calibri" pitchFamily="34" charset="-120"/>
              </a:rPr>
              <a:t>K-Means on log-scaled Recency, Frequency and Monetary features. k = 3 selected by silhouette score (0.44).</a:t>
            </a:r>
            <a:endParaRPr lang="en-US" sz="1400" dirty="0"/>
          </a:p>
        </p:txBody>
      </p:sp>
      <p:sp>
        <p:nvSpPr>
          <p:cNvPr id="6" name="Shape 4"/>
          <p:cNvSpPr/>
          <p:nvPr/>
        </p:nvSpPr>
        <p:spPr>
          <a:xfrm>
            <a:off x="548640" y="2011680"/>
            <a:ext cx="3611880" cy="3520440"/>
          </a:xfrm>
          <a:prstGeom prst="roundRect">
            <a:avLst>
              <a:gd name="adj" fmla="val 2597"/>
            </a:avLst>
          </a:prstGeom>
          <a:solidFill>
            <a:srgbClr val="6D2E46"/>
          </a:solidFill>
          <a:ln w="12700">
            <a:solidFill>
              <a:srgbClr val="6D2E46"/>
            </a:solidFill>
            <a:prstDash val="solid"/>
          </a:ln>
          <a:effectLst>
            <a:outerShdw sx="100000" sy="100000" kx="0" ky="0" algn="bl" rotWithShape="0" blurRad="101600" dist="12700" dir="5400000">
              <a:srgbClr val="000000">
                <a:alpha val="8000"/>
              </a:srgbClr>
            </a:outerShdw>
          </a:effectLst>
        </p:spPr>
      </p:sp>
      <p:sp>
        <p:nvSpPr>
          <p:cNvPr id="7" name="Text 5"/>
          <p:cNvSpPr txBox="1"/>
          <p:nvPr/>
        </p:nvSpPr>
        <p:spPr>
          <a:xfrm>
            <a:off x="804672" y="2212848"/>
            <a:ext cx="3099816" cy="310896"/>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Active core</a:t>
            </a:r>
            <a:endParaRPr lang="en-US" sz="1700" dirty="0"/>
          </a:p>
        </p:txBody>
      </p:sp>
      <p:sp>
        <p:nvSpPr>
          <p:cNvPr id="8" name="Text 6"/>
          <p:cNvSpPr txBox="1"/>
          <p:nvPr/>
        </p:nvSpPr>
        <p:spPr>
          <a:xfrm>
            <a:off x="804672" y="2578608"/>
            <a:ext cx="3099816" cy="502920"/>
          </a:xfrm>
          <a:prstGeom prst="rect">
            <a:avLst/>
          </a:prstGeom>
          <a:noFill/>
          <a:ln/>
        </p:spPr>
        <p:txBody>
          <a:bodyPr wrap="square" lIns="0" tIns="0" rIns="0" bIns="0" rtlCol="0" anchor="ctr"/>
          <a:lstStyle/>
          <a:p>
            <a:pPr indent="0" marL="0">
              <a:buNone/>
            </a:pPr>
            <a:r>
              <a:rPr lang="en-US" sz="2800" b="1" dirty="0">
                <a:solidFill>
                  <a:srgbClr val="C08A2E"/>
                </a:solidFill>
                <a:latin typeface="Cambria" pitchFamily="34" charset="0"/>
                <a:ea typeface="Cambria" pitchFamily="34" charset="-122"/>
                <a:cs typeface="Cambria" pitchFamily="34" charset="-120"/>
              </a:rPr>
              <a:t>2,316</a:t>
            </a:r>
            <a:endParaRPr lang="en-US" sz="2800" dirty="0"/>
          </a:p>
        </p:txBody>
      </p:sp>
      <p:sp>
        <p:nvSpPr>
          <p:cNvPr id="9" name="Text 7"/>
          <p:cNvSpPr txBox="1"/>
          <p:nvPr/>
        </p:nvSpPr>
        <p:spPr>
          <a:xfrm>
            <a:off x="804672" y="3072384"/>
            <a:ext cx="3099816" cy="256032"/>
          </a:xfrm>
          <a:prstGeom prst="rect">
            <a:avLst/>
          </a:prstGeom>
          <a:noFill/>
          <a:ln/>
        </p:spPr>
        <p:txBody>
          <a:bodyPr wrap="square" lIns="0" tIns="0" rIns="0" bIns="0" rtlCol="0" anchor="ctr"/>
          <a:lstStyle/>
          <a:p>
            <a:pPr indent="0" marL="0">
              <a:buNone/>
            </a:pPr>
            <a:r>
              <a:rPr lang="en-US" sz="1100" dirty="0">
                <a:solidFill>
                  <a:srgbClr val="D3ABB1"/>
                </a:solidFill>
                <a:latin typeface="Calibri" pitchFamily="34" charset="0"/>
                <a:ea typeface="Calibri" pitchFamily="34" charset="-122"/>
                <a:cs typeface="Calibri" pitchFamily="34" charset="-120"/>
              </a:rPr>
              <a:t>39% of customers</a:t>
            </a:r>
            <a:endParaRPr lang="en-US" sz="1100" dirty="0"/>
          </a:p>
        </p:txBody>
      </p:sp>
      <p:sp>
        <p:nvSpPr>
          <p:cNvPr id="10" name="Text 8"/>
          <p:cNvSpPr txBox="1"/>
          <p:nvPr/>
        </p:nvSpPr>
        <p:spPr>
          <a:xfrm>
            <a:off x="804672" y="3493008"/>
            <a:ext cx="1737360" cy="274320"/>
          </a:xfrm>
          <a:prstGeom prst="rect">
            <a:avLst/>
          </a:prstGeom>
          <a:noFill/>
          <a:ln/>
        </p:spPr>
        <p:txBody>
          <a:bodyPr wrap="square" lIns="0" tIns="0" rIns="0" bIns="0" rtlCol="0" anchor="ctr"/>
          <a:lstStyle/>
          <a:p>
            <a:pPr indent="0" marL="0">
              <a:buNone/>
            </a:pPr>
            <a:r>
              <a:rPr lang="en-US" sz="1100" dirty="0">
                <a:solidFill>
                  <a:srgbClr val="ECE2D0"/>
                </a:solidFill>
                <a:latin typeface="Calibri" pitchFamily="34" charset="0"/>
                <a:ea typeface="Calibri" pitchFamily="34" charset="-122"/>
                <a:cs typeface="Calibri" pitchFamily="34" charset="-120"/>
              </a:rPr>
              <a:t>Avg recency</a:t>
            </a:r>
            <a:endParaRPr lang="en-US" sz="1100" dirty="0"/>
          </a:p>
        </p:txBody>
      </p:sp>
      <p:sp>
        <p:nvSpPr>
          <p:cNvPr id="11" name="Text 9"/>
          <p:cNvSpPr txBox="1"/>
          <p:nvPr/>
        </p:nvSpPr>
        <p:spPr>
          <a:xfrm>
            <a:off x="2423160" y="3493008"/>
            <a:ext cx="1481328" cy="274320"/>
          </a:xfrm>
          <a:prstGeom prst="rect">
            <a:avLst/>
          </a:prstGeom>
          <a:noFill/>
          <a:ln/>
        </p:spPr>
        <p:txBody>
          <a:bodyPr wrap="square" lIns="0" tIns="0" rIns="0" bIns="0" rtlCol="0" anchor="ctr"/>
          <a:lstStyle/>
          <a:p>
            <a:pPr algn="r" indent="0" marL="0">
              <a:buNone/>
            </a:pPr>
            <a:r>
              <a:rPr lang="en-US" sz="1150" b="1" dirty="0">
                <a:solidFill>
                  <a:srgbClr val="FFFFFF"/>
                </a:solidFill>
                <a:latin typeface="Calibri" pitchFamily="34" charset="0"/>
                <a:ea typeface="Calibri" pitchFamily="34" charset="-122"/>
                <a:cs typeface="Calibri" pitchFamily="34" charset="-120"/>
              </a:rPr>
              <a:t>42 days</a:t>
            </a:r>
            <a:endParaRPr lang="en-US" sz="1150" dirty="0"/>
          </a:p>
        </p:txBody>
      </p:sp>
      <p:sp>
        <p:nvSpPr>
          <p:cNvPr id="12" name="Text 10"/>
          <p:cNvSpPr txBox="1"/>
          <p:nvPr/>
        </p:nvSpPr>
        <p:spPr>
          <a:xfrm>
            <a:off x="804672" y="3877056"/>
            <a:ext cx="1737360" cy="274320"/>
          </a:xfrm>
          <a:prstGeom prst="rect">
            <a:avLst/>
          </a:prstGeom>
          <a:noFill/>
          <a:ln/>
        </p:spPr>
        <p:txBody>
          <a:bodyPr wrap="square" lIns="0" tIns="0" rIns="0" bIns="0" rtlCol="0" anchor="ctr"/>
          <a:lstStyle/>
          <a:p>
            <a:pPr indent="0" marL="0">
              <a:buNone/>
            </a:pPr>
            <a:r>
              <a:rPr lang="en-US" sz="1100" dirty="0">
                <a:solidFill>
                  <a:srgbClr val="ECE2D0"/>
                </a:solidFill>
                <a:latin typeface="Calibri" pitchFamily="34" charset="0"/>
                <a:ea typeface="Calibri" pitchFamily="34" charset="-122"/>
                <a:cs typeface="Calibri" pitchFamily="34" charset="-120"/>
              </a:rPr>
              <a:t>Avg frequency</a:t>
            </a:r>
            <a:endParaRPr lang="en-US" sz="1100" dirty="0"/>
          </a:p>
        </p:txBody>
      </p:sp>
      <p:sp>
        <p:nvSpPr>
          <p:cNvPr id="13" name="Text 11"/>
          <p:cNvSpPr txBox="1"/>
          <p:nvPr/>
        </p:nvSpPr>
        <p:spPr>
          <a:xfrm>
            <a:off x="2423160" y="3877056"/>
            <a:ext cx="1481328" cy="274320"/>
          </a:xfrm>
          <a:prstGeom prst="rect">
            <a:avLst/>
          </a:prstGeom>
          <a:noFill/>
          <a:ln/>
        </p:spPr>
        <p:txBody>
          <a:bodyPr wrap="square" lIns="0" tIns="0" rIns="0" bIns="0" rtlCol="0" anchor="ctr"/>
          <a:lstStyle/>
          <a:p>
            <a:pPr algn="r" indent="0" marL="0">
              <a:buNone/>
            </a:pPr>
            <a:r>
              <a:rPr lang="en-US" sz="1150" b="1" dirty="0">
                <a:solidFill>
                  <a:srgbClr val="FFFFFF"/>
                </a:solidFill>
                <a:latin typeface="Calibri" pitchFamily="34" charset="0"/>
                <a:ea typeface="Calibri" pitchFamily="34" charset="-122"/>
                <a:cs typeface="Calibri" pitchFamily="34" charset="-120"/>
              </a:rPr>
              <a:t>15.5 orders</a:t>
            </a:r>
            <a:endParaRPr lang="en-US" sz="1150" dirty="0"/>
          </a:p>
        </p:txBody>
      </p:sp>
      <p:sp>
        <p:nvSpPr>
          <p:cNvPr id="14" name="Text 12"/>
          <p:cNvSpPr txBox="1"/>
          <p:nvPr/>
        </p:nvSpPr>
        <p:spPr>
          <a:xfrm>
            <a:off x="804672" y="4261104"/>
            <a:ext cx="1737360" cy="274320"/>
          </a:xfrm>
          <a:prstGeom prst="rect">
            <a:avLst/>
          </a:prstGeom>
          <a:noFill/>
          <a:ln/>
        </p:spPr>
        <p:txBody>
          <a:bodyPr wrap="square" lIns="0" tIns="0" rIns="0" bIns="0" rtlCol="0" anchor="ctr"/>
          <a:lstStyle/>
          <a:p>
            <a:pPr indent="0" marL="0">
              <a:buNone/>
            </a:pPr>
            <a:r>
              <a:rPr lang="en-US" sz="1100" dirty="0">
                <a:solidFill>
                  <a:srgbClr val="ECE2D0"/>
                </a:solidFill>
                <a:latin typeface="Calibri" pitchFamily="34" charset="0"/>
                <a:ea typeface="Calibri" pitchFamily="34" charset="-122"/>
                <a:cs typeface="Calibri" pitchFamily="34" charset="-120"/>
              </a:rPr>
              <a:t>Avg spend</a:t>
            </a:r>
            <a:endParaRPr lang="en-US" sz="1100" dirty="0"/>
          </a:p>
        </p:txBody>
      </p:sp>
      <p:sp>
        <p:nvSpPr>
          <p:cNvPr id="15" name="Text 13"/>
          <p:cNvSpPr txBox="1"/>
          <p:nvPr/>
        </p:nvSpPr>
        <p:spPr>
          <a:xfrm>
            <a:off x="2423160" y="4261104"/>
            <a:ext cx="1481328" cy="274320"/>
          </a:xfrm>
          <a:prstGeom prst="rect">
            <a:avLst/>
          </a:prstGeom>
          <a:noFill/>
          <a:ln/>
        </p:spPr>
        <p:txBody>
          <a:bodyPr wrap="square" lIns="0" tIns="0" rIns="0" bIns="0" rtlCol="0" anchor="ctr"/>
          <a:lstStyle/>
          <a:p>
            <a:pPr algn="r" indent="0" marL="0">
              <a:buNone/>
            </a:pPr>
            <a:r>
              <a:rPr lang="en-US" sz="1150" b="1" dirty="0">
                <a:solidFill>
                  <a:srgbClr val="FFFFFF"/>
                </a:solidFill>
                <a:latin typeface="Calibri" pitchFamily="34" charset="0"/>
                <a:ea typeface="Calibri" pitchFamily="34" charset="-122"/>
                <a:cs typeface="Calibri" pitchFamily="34" charset="-120"/>
              </a:rPr>
              <a:t>£6,094</a:t>
            </a:r>
            <a:endParaRPr lang="en-US" sz="1150" dirty="0"/>
          </a:p>
        </p:txBody>
      </p:sp>
      <p:sp>
        <p:nvSpPr>
          <p:cNvPr id="16" name="Text 14"/>
          <p:cNvSpPr txBox="1"/>
          <p:nvPr/>
        </p:nvSpPr>
        <p:spPr>
          <a:xfrm>
            <a:off x="804672" y="4754880"/>
            <a:ext cx="3099816" cy="685800"/>
          </a:xfrm>
          <a:prstGeom prst="rect">
            <a:avLst/>
          </a:prstGeom>
          <a:noFill/>
          <a:ln/>
        </p:spPr>
        <p:txBody>
          <a:bodyPr wrap="square" lIns="0" tIns="0" rIns="0" bIns="0" rtlCol="0" anchor="ctr"/>
          <a:lstStyle/>
          <a:p>
            <a:pPr indent="0" marL="0">
              <a:buNone/>
            </a:pPr>
            <a:r>
              <a:rPr lang="en-US" sz="1100" i="1" dirty="0">
                <a:solidFill>
                  <a:srgbClr val="ECE2D0"/>
                </a:solidFill>
                <a:latin typeface="Calibri" pitchFamily="34" charset="0"/>
                <a:ea typeface="Calibri" pitchFamily="34" charset="-122"/>
                <a:cs typeface="Calibri" pitchFamily="34" charset="-120"/>
              </a:rPr>
              <a:t>Recent, frequent, high-value. Almost all repeat revenue sits here.</a:t>
            </a:r>
            <a:endParaRPr lang="en-US" sz="1100" dirty="0"/>
          </a:p>
        </p:txBody>
      </p:sp>
      <p:sp>
        <p:nvSpPr>
          <p:cNvPr id="17" name="Shape 15"/>
          <p:cNvSpPr/>
          <p:nvPr/>
        </p:nvSpPr>
        <p:spPr>
          <a:xfrm>
            <a:off x="4480560" y="2011680"/>
            <a:ext cx="3611880" cy="3520440"/>
          </a:xfrm>
          <a:prstGeom prst="roundRect">
            <a:avLst>
              <a:gd name="adj" fmla="val 2597"/>
            </a:avLst>
          </a:prstGeom>
          <a:solidFill>
            <a:srgbClr val="F7F2EA"/>
          </a:solidFill>
          <a:ln w="12700">
            <a:solidFill>
              <a:srgbClr val="ECE2D0"/>
            </a:solidFill>
            <a:prstDash val="solid"/>
          </a:ln>
          <a:effectLst>
            <a:outerShdw sx="100000" sy="100000" kx="0" ky="0" algn="bl" rotWithShape="0" blurRad="101600" dist="12700" dir="5400000">
              <a:srgbClr val="000000">
                <a:alpha val="8000"/>
              </a:srgbClr>
            </a:outerShdw>
          </a:effectLst>
        </p:spPr>
      </p:sp>
      <p:sp>
        <p:nvSpPr>
          <p:cNvPr id="18" name="Text 16"/>
          <p:cNvSpPr txBox="1"/>
          <p:nvPr/>
        </p:nvSpPr>
        <p:spPr>
          <a:xfrm>
            <a:off x="4736592" y="2212848"/>
            <a:ext cx="3099816" cy="310896"/>
          </a:xfrm>
          <a:prstGeom prst="rect">
            <a:avLst/>
          </a:prstGeom>
          <a:noFill/>
          <a:ln/>
        </p:spPr>
        <p:txBody>
          <a:bodyPr wrap="square" lIns="0" tIns="0" rIns="0" bIns="0" rtlCol="0" anchor="ctr"/>
          <a:lstStyle/>
          <a:p>
            <a:pPr indent="0" marL="0">
              <a:buNone/>
            </a:pPr>
            <a:r>
              <a:rPr lang="en-US" sz="1700" b="1" dirty="0">
                <a:solidFill>
                  <a:srgbClr val="6D2E46"/>
                </a:solidFill>
                <a:latin typeface="Cambria" pitchFamily="34" charset="0"/>
                <a:ea typeface="Cambria" pitchFamily="34" charset="-122"/>
                <a:cs typeface="Cambria" pitchFamily="34" charset="-120"/>
              </a:rPr>
              <a:t>Lapsing / occasional</a:t>
            </a:r>
            <a:endParaRPr lang="en-US" sz="1700" dirty="0"/>
          </a:p>
        </p:txBody>
      </p:sp>
      <p:sp>
        <p:nvSpPr>
          <p:cNvPr id="19" name="Text 17"/>
          <p:cNvSpPr txBox="1"/>
          <p:nvPr/>
        </p:nvSpPr>
        <p:spPr>
          <a:xfrm>
            <a:off x="4736592" y="2578608"/>
            <a:ext cx="3099816" cy="502920"/>
          </a:xfrm>
          <a:prstGeom prst="rect">
            <a:avLst/>
          </a:prstGeom>
          <a:noFill/>
          <a:ln/>
        </p:spPr>
        <p:txBody>
          <a:bodyPr wrap="square" lIns="0" tIns="0" rIns="0" bIns="0" rtlCol="0" anchor="ctr"/>
          <a:lstStyle/>
          <a:p>
            <a:pPr indent="0" marL="0">
              <a:buNone/>
            </a:pPr>
            <a:r>
              <a:rPr lang="en-US" sz="2800" b="1" dirty="0">
                <a:solidFill>
                  <a:srgbClr val="2B2124"/>
                </a:solidFill>
                <a:latin typeface="Cambria" pitchFamily="34" charset="0"/>
                <a:ea typeface="Cambria" pitchFamily="34" charset="-122"/>
                <a:cs typeface="Cambria" pitchFamily="34" charset="-120"/>
              </a:rPr>
              <a:t>3,521</a:t>
            </a:r>
            <a:endParaRPr lang="en-US" sz="2800" dirty="0"/>
          </a:p>
        </p:txBody>
      </p:sp>
      <p:sp>
        <p:nvSpPr>
          <p:cNvPr id="20" name="Text 18"/>
          <p:cNvSpPr txBox="1"/>
          <p:nvPr/>
        </p:nvSpPr>
        <p:spPr>
          <a:xfrm>
            <a:off x="4736592" y="3072384"/>
            <a:ext cx="3099816" cy="256032"/>
          </a:xfrm>
          <a:prstGeom prst="rect">
            <a:avLst/>
          </a:prstGeom>
          <a:noFill/>
          <a:ln/>
        </p:spPr>
        <p:txBody>
          <a:bodyPr wrap="square" lIns="0" tIns="0" rIns="0" bIns="0" rtlCol="0" anchor="ctr"/>
          <a:lstStyle/>
          <a:p>
            <a:pPr indent="0" marL="0">
              <a:buNone/>
            </a:pPr>
            <a:r>
              <a:rPr lang="en-US" sz="1100" dirty="0">
                <a:solidFill>
                  <a:srgbClr val="6B5C60"/>
                </a:solidFill>
                <a:latin typeface="Calibri" pitchFamily="34" charset="0"/>
                <a:ea typeface="Calibri" pitchFamily="34" charset="-122"/>
                <a:cs typeface="Calibri" pitchFamily="34" charset="-120"/>
              </a:rPr>
              <a:t>59% of customers</a:t>
            </a:r>
            <a:endParaRPr lang="en-US" sz="1100" dirty="0"/>
          </a:p>
        </p:txBody>
      </p:sp>
      <p:sp>
        <p:nvSpPr>
          <p:cNvPr id="21" name="Text 19"/>
          <p:cNvSpPr txBox="1"/>
          <p:nvPr/>
        </p:nvSpPr>
        <p:spPr>
          <a:xfrm>
            <a:off x="4736592" y="3493008"/>
            <a:ext cx="1737360" cy="274320"/>
          </a:xfrm>
          <a:prstGeom prst="rect">
            <a:avLst/>
          </a:prstGeom>
          <a:noFill/>
          <a:ln/>
        </p:spPr>
        <p:txBody>
          <a:bodyPr wrap="square" lIns="0" tIns="0" rIns="0" bIns="0" rtlCol="0" anchor="ctr"/>
          <a:lstStyle/>
          <a:p>
            <a:pPr indent="0" marL="0">
              <a:buNone/>
            </a:pPr>
            <a:r>
              <a:rPr lang="en-US" sz="1100" dirty="0">
                <a:solidFill>
                  <a:srgbClr val="6B5C60"/>
                </a:solidFill>
                <a:latin typeface="Calibri" pitchFamily="34" charset="0"/>
                <a:ea typeface="Calibri" pitchFamily="34" charset="-122"/>
                <a:cs typeface="Calibri" pitchFamily="34" charset="-120"/>
              </a:rPr>
              <a:t>Avg recency</a:t>
            </a:r>
            <a:endParaRPr lang="en-US" sz="1100" dirty="0"/>
          </a:p>
        </p:txBody>
      </p:sp>
      <p:sp>
        <p:nvSpPr>
          <p:cNvPr id="22" name="Text 20"/>
          <p:cNvSpPr txBox="1"/>
          <p:nvPr/>
        </p:nvSpPr>
        <p:spPr>
          <a:xfrm>
            <a:off x="6355080" y="3493008"/>
            <a:ext cx="1481328" cy="274320"/>
          </a:xfrm>
          <a:prstGeom prst="rect">
            <a:avLst/>
          </a:prstGeom>
          <a:noFill/>
          <a:ln/>
        </p:spPr>
        <p:txBody>
          <a:bodyPr wrap="square" lIns="0" tIns="0" rIns="0" bIns="0" rtlCol="0" anchor="ctr"/>
          <a:lstStyle/>
          <a:p>
            <a:pPr algn="r" indent="0" marL="0">
              <a:buNone/>
            </a:pPr>
            <a:r>
              <a:rPr lang="en-US" sz="1150" b="1" dirty="0">
                <a:solidFill>
                  <a:srgbClr val="2B2124"/>
                </a:solidFill>
                <a:latin typeface="Calibri" pitchFamily="34" charset="0"/>
                <a:ea typeface="Calibri" pitchFamily="34" charset="-122"/>
                <a:cs typeface="Calibri" pitchFamily="34" charset="-120"/>
              </a:rPr>
              <a:t>300 days</a:t>
            </a:r>
            <a:endParaRPr lang="en-US" sz="1150" dirty="0"/>
          </a:p>
        </p:txBody>
      </p:sp>
      <p:sp>
        <p:nvSpPr>
          <p:cNvPr id="23" name="Text 21"/>
          <p:cNvSpPr txBox="1"/>
          <p:nvPr/>
        </p:nvSpPr>
        <p:spPr>
          <a:xfrm>
            <a:off x="4736592" y="3877056"/>
            <a:ext cx="1737360" cy="274320"/>
          </a:xfrm>
          <a:prstGeom prst="rect">
            <a:avLst/>
          </a:prstGeom>
          <a:noFill/>
          <a:ln/>
        </p:spPr>
        <p:txBody>
          <a:bodyPr wrap="square" lIns="0" tIns="0" rIns="0" bIns="0" rtlCol="0" anchor="ctr"/>
          <a:lstStyle/>
          <a:p>
            <a:pPr indent="0" marL="0">
              <a:buNone/>
            </a:pPr>
            <a:r>
              <a:rPr lang="en-US" sz="1100" dirty="0">
                <a:solidFill>
                  <a:srgbClr val="6B5C60"/>
                </a:solidFill>
                <a:latin typeface="Calibri" pitchFamily="34" charset="0"/>
                <a:ea typeface="Calibri" pitchFamily="34" charset="-122"/>
                <a:cs typeface="Calibri" pitchFamily="34" charset="-120"/>
              </a:rPr>
              <a:t>Avg frequency</a:t>
            </a:r>
            <a:endParaRPr lang="en-US" sz="1100" dirty="0"/>
          </a:p>
        </p:txBody>
      </p:sp>
      <p:sp>
        <p:nvSpPr>
          <p:cNvPr id="24" name="Text 22"/>
          <p:cNvSpPr txBox="1"/>
          <p:nvPr/>
        </p:nvSpPr>
        <p:spPr>
          <a:xfrm>
            <a:off x="6355080" y="3877056"/>
            <a:ext cx="1481328" cy="274320"/>
          </a:xfrm>
          <a:prstGeom prst="rect">
            <a:avLst/>
          </a:prstGeom>
          <a:noFill/>
          <a:ln/>
        </p:spPr>
        <p:txBody>
          <a:bodyPr wrap="square" lIns="0" tIns="0" rIns="0" bIns="0" rtlCol="0" anchor="ctr"/>
          <a:lstStyle/>
          <a:p>
            <a:pPr algn="r" indent="0" marL="0">
              <a:buNone/>
            </a:pPr>
            <a:r>
              <a:rPr lang="en-US" sz="1150" b="1" dirty="0">
                <a:solidFill>
                  <a:srgbClr val="2B2124"/>
                </a:solidFill>
                <a:latin typeface="Calibri" pitchFamily="34" charset="0"/>
                <a:ea typeface="Calibri" pitchFamily="34" charset="-122"/>
                <a:cs typeface="Calibri" pitchFamily="34" charset="-120"/>
              </a:rPr>
              <a:t>2.5 orders</a:t>
            </a:r>
            <a:endParaRPr lang="en-US" sz="1150" dirty="0"/>
          </a:p>
        </p:txBody>
      </p:sp>
      <p:sp>
        <p:nvSpPr>
          <p:cNvPr id="25" name="Text 23"/>
          <p:cNvSpPr txBox="1"/>
          <p:nvPr/>
        </p:nvSpPr>
        <p:spPr>
          <a:xfrm>
            <a:off x="4736592" y="4261104"/>
            <a:ext cx="1737360" cy="274320"/>
          </a:xfrm>
          <a:prstGeom prst="rect">
            <a:avLst/>
          </a:prstGeom>
          <a:noFill/>
          <a:ln/>
        </p:spPr>
        <p:txBody>
          <a:bodyPr wrap="square" lIns="0" tIns="0" rIns="0" bIns="0" rtlCol="0" anchor="ctr"/>
          <a:lstStyle/>
          <a:p>
            <a:pPr indent="0" marL="0">
              <a:buNone/>
            </a:pPr>
            <a:r>
              <a:rPr lang="en-US" sz="1100" dirty="0">
                <a:solidFill>
                  <a:srgbClr val="6B5C60"/>
                </a:solidFill>
                <a:latin typeface="Calibri" pitchFamily="34" charset="0"/>
                <a:ea typeface="Calibri" pitchFamily="34" charset="-122"/>
                <a:cs typeface="Calibri" pitchFamily="34" charset="-120"/>
              </a:rPr>
              <a:t>Avg spend</a:t>
            </a:r>
            <a:endParaRPr lang="en-US" sz="1100" dirty="0"/>
          </a:p>
        </p:txBody>
      </p:sp>
      <p:sp>
        <p:nvSpPr>
          <p:cNvPr id="26" name="Text 24"/>
          <p:cNvSpPr txBox="1"/>
          <p:nvPr/>
        </p:nvSpPr>
        <p:spPr>
          <a:xfrm>
            <a:off x="6355080" y="4261104"/>
            <a:ext cx="1481328" cy="274320"/>
          </a:xfrm>
          <a:prstGeom prst="rect">
            <a:avLst/>
          </a:prstGeom>
          <a:noFill/>
          <a:ln/>
        </p:spPr>
        <p:txBody>
          <a:bodyPr wrap="square" lIns="0" tIns="0" rIns="0" bIns="0" rtlCol="0" anchor="ctr"/>
          <a:lstStyle/>
          <a:p>
            <a:pPr algn="r" indent="0" marL="0">
              <a:buNone/>
            </a:pPr>
            <a:r>
              <a:rPr lang="en-US" sz="1150" b="1" dirty="0">
                <a:solidFill>
                  <a:srgbClr val="2B2124"/>
                </a:solidFill>
                <a:latin typeface="Calibri" pitchFamily="34" charset="0"/>
                <a:ea typeface="Calibri" pitchFamily="34" charset="-122"/>
                <a:cs typeface="Calibri" pitchFamily="34" charset="-120"/>
              </a:rPr>
              <a:t>£645</a:t>
            </a:r>
            <a:endParaRPr lang="en-US" sz="1150" dirty="0"/>
          </a:p>
        </p:txBody>
      </p:sp>
      <p:sp>
        <p:nvSpPr>
          <p:cNvPr id="27" name="Text 25"/>
          <p:cNvSpPr txBox="1"/>
          <p:nvPr/>
        </p:nvSpPr>
        <p:spPr>
          <a:xfrm>
            <a:off x="4736592" y="4754880"/>
            <a:ext cx="3099816" cy="685800"/>
          </a:xfrm>
          <a:prstGeom prst="rect">
            <a:avLst/>
          </a:prstGeom>
          <a:noFill/>
          <a:ln/>
        </p:spPr>
        <p:txBody>
          <a:bodyPr wrap="square" lIns="0" tIns="0" rIns="0" bIns="0" rtlCol="0" anchor="ctr"/>
          <a:lstStyle/>
          <a:p>
            <a:pPr indent="0" marL="0">
              <a:buNone/>
            </a:pPr>
            <a:r>
              <a:rPr lang="en-US" sz="1100" i="1" dirty="0">
                <a:solidFill>
                  <a:srgbClr val="6B5C60"/>
                </a:solidFill>
                <a:latin typeface="Calibri" pitchFamily="34" charset="0"/>
                <a:ea typeface="Calibri" pitchFamily="34" charset="-122"/>
                <a:cs typeface="Calibri" pitchFamily="34" charset="-120"/>
              </a:rPr>
              <a:t>Bought once or twice, long since gone quiet. The reactivation pool.</a:t>
            </a:r>
            <a:endParaRPr lang="en-US" sz="1100" dirty="0"/>
          </a:p>
        </p:txBody>
      </p:sp>
      <p:sp>
        <p:nvSpPr>
          <p:cNvPr id="28" name="Shape 26"/>
          <p:cNvSpPr/>
          <p:nvPr/>
        </p:nvSpPr>
        <p:spPr>
          <a:xfrm>
            <a:off x="8412480" y="2011680"/>
            <a:ext cx="3611880" cy="3520440"/>
          </a:xfrm>
          <a:prstGeom prst="roundRect">
            <a:avLst>
              <a:gd name="adj" fmla="val 2597"/>
            </a:avLst>
          </a:prstGeom>
          <a:solidFill>
            <a:srgbClr val="F7F2EA"/>
          </a:solidFill>
          <a:ln w="12700">
            <a:solidFill>
              <a:srgbClr val="ECE2D0"/>
            </a:solidFill>
            <a:prstDash val="solid"/>
          </a:ln>
          <a:effectLst>
            <a:outerShdw sx="100000" sy="100000" kx="0" ky="0" algn="bl" rotWithShape="0" blurRad="101600" dist="12700" dir="5400000">
              <a:srgbClr val="000000">
                <a:alpha val="8000"/>
              </a:srgbClr>
            </a:outerShdw>
          </a:effectLst>
        </p:spPr>
      </p:sp>
      <p:sp>
        <p:nvSpPr>
          <p:cNvPr id="29" name="Text 27"/>
          <p:cNvSpPr txBox="1"/>
          <p:nvPr/>
        </p:nvSpPr>
        <p:spPr>
          <a:xfrm>
            <a:off x="8668512" y="2212848"/>
            <a:ext cx="3099816" cy="310896"/>
          </a:xfrm>
          <a:prstGeom prst="rect">
            <a:avLst/>
          </a:prstGeom>
          <a:noFill/>
          <a:ln/>
        </p:spPr>
        <p:txBody>
          <a:bodyPr wrap="square" lIns="0" tIns="0" rIns="0" bIns="0" rtlCol="0" anchor="ctr"/>
          <a:lstStyle/>
          <a:p>
            <a:pPr indent="0" marL="0">
              <a:buNone/>
            </a:pPr>
            <a:r>
              <a:rPr lang="en-US" sz="1700" b="1" dirty="0">
                <a:solidFill>
                  <a:srgbClr val="6D2E46"/>
                </a:solidFill>
                <a:latin typeface="Cambria" pitchFamily="34" charset="0"/>
                <a:ea typeface="Cambria" pitchFamily="34" charset="-122"/>
                <a:cs typeface="Cambria" pitchFamily="34" charset="-120"/>
              </a:rPr>
              <a:t>Net-negative</a:t>
            </a:r>
            <a:endParaRPr lang="en-US" sz="1700" dirty="0"/>
          </a:p>
        </p:txBody>
      </p:sp>
      <p:sp>
        <p:nvSpPr>
          <p:cNvPr id="30" name="Text 28"/>
          <p:cNvSpPr txBox="1"/>
          <p:nvPr/>
        </p:nvSpPr>
        <p:spPr>
          <a:xfrm>
            <a:off x="8668512" y="2578608"/>
            <a:ext cx="3099816" cy="502920"/>
          </a:xfrm>
          <a:prstGeom prst="rect">
            <a:avLst/>
          </a:prstGeom>
          <a:noFill/>
          <a:ln/>
        </p:spPr>
        <p:txBody>
          <a:bodyPr wrap="square" lIns="0" tIns="0" rIns="0" bIns="0" rtlCol="0" anchor="ctr"/>
          <a:lstStyle/>
          <a:p>
            <a:pPr indent="0" marL="0">
              <a:buNone/>
            </a:pPr>
            <a:r>
              <a:rPr lang="en-US" sz="2800" b="1" dirty="0">
                <a:solidFill>
                  <a:srgbClr val="2B2124"/>
                </a:solidFill>
                <a:latin typeface="Cambria" pitchFamily="34" charset="0"/>
                <a:ea typeface="Cambria" pitchFamily="34" charset="-122"/>
                <a:cs typeface="Cambria" pitchFamily="34" charset="-120"/>
              </a:rPr>
              <a:t>105</a:t>
            </a:r>
            <a:endParaRPr lang="en-US" sz="2800" dirty="0"/>
          </a:p>
        </p:txBody>
      </p:sp>
      <p:sp>
        <p:nvSpPr>
          <p:cNvPr id="31" name="Text 29"/>
          <p:cNvSpPr txBox="1"/>
          <p:nvPr/>
        </p:nvSpPr>
        <p:spPr>
          <a:xfrm>
            <a:off x="8668512" y="3072384"/>
            <a:ext cx="3099816" cy="256032"/>
          </a:xfrm>
          <a:prstGeom prst="rect">
            <a:avLst/>
          </a:prstGeom>
          <a:noFill/>
          <a:ln/>
        </p:spPr>
        <p:txBody>
          <a:bodyPr wrap="square" lIns="0" tIns="0" rIns="0" bIns="0" rtlCol="0" anchor="ctr"/>
          <a:lstStyle/>
          <a:p>
            <a:pPr indent="0" marL="0">
              <a:buNone/>
            </a:pPr>
            <a:r>
              <a:rPr lang="en-US" sz="1100" dirty="0">
                <a:solidFill>
                  <a:srgbClr val="6B5C60"/>
                </a:solidFill>
                <a:latin typeface="Calibri" pitchFamily="34" charset="0"/>
                <a:ea typeface="Calibri" pitchFamily="34" charset="-122"/>
                <a:cs typeface="Calibri" pitchFamily="34" charset="-120"/>
              </a:rPr>
              <a:t>2% of customers</a:t>
            </a:r>
            <a:endParaRPr lang="en-US" sz="1100" dirty="0"/>
          </a:p>
        </p:txBody>
      </p:sp>
      <p:sp>
        <p:nvSpPr>
          <p:cNvPr id="32" name="Text 30"/>
          <p:cNvSpPr txBox="1"/>
          <p:nvPr/>
        </p:nvSpPr>
        <p:spPr>
          <a:xfrm>
            <a:off x="8668512" y="3493008"/>
            <a:ext cx="1737360" cy="274320"/>
          </a:xfrm>
          <a:prstGeom prst="rect">
            <a:avLst/>
          </a:prstGeom>
          <a:noFill/>
          <a:ln/>
        </p:spPr>
        <p:txBody>
          <a:bodyPr wrap="square" lIns="0" tIns="0" rIns="0" bIns="0" rtlCol="0" anchor="ctr"/>
          <a:lstStyle/>
          <a:p>
            <a:pPr indent="0" marL="0">
              <a:buNone/>
            </a:pPr>
            <a:r>
              <a:rPr lang="en-US" sz="1100" dirty="0">
                <a:solidFill>
                  <a:srgbClr val="6B5C60"/>
                </a:solidFill>
                <a:latin typeface="Calibri" pitchFamily="34" charset="0"/>
                <a:ea typeface="Calibri" pitchFamily="34" charset="-122"/>
                <a:cs typeface="Calibri" pitchFamily="34" charset="-120"/>
              </a:rPr>
              <a:t>Avg recency</a:t>
            </a:r>
            <a:endParaRPr lang="en-US" sz="1100" dirty="0"/>
          </a:p>
        </p:txBody>
      </p:sp>
      <p:sp>
        <p:nvSpPr>
          <p:cNvPr id="33" name="Text 31"/>
          <p:cNvSpPr txBox="1"/>
          <p:nvPr/>
        </p:nvSpPr>
        <p:spPr>
          <a:xfrm>
            <a:off x="10287000" y="3493008"/>
            <a:ext cx="1481328" cy="274320"/>
          </a:xfrm>
          <a:prstGeom prst="rect">
            <a:avLst/>
          </a:prstGeom>
          <a:noFill/>
          <a:ln/>
        </p:spPr>
        <p:txBody>
          <a:bodyPr wrap="square" lIns="0" tIns="0" rIns="0" bIns="0" rtlCol="0" anchor="ctr"/>
          <a:lstStyle/>
          <a:p>
            <a:pPr algn="r" indent="0" marL="0">
              <a:buNone/>
            </a:pPr>
            <a:r>
              <a:rPr lang="en-US" sz="1150" b="1" dirty="0">
                <a:solidFill>
                  <a:srgbClr val="2B2124"/>
                </a:solidFill>
                <a:latin typeface="Calibri" pitchFamily="34" charset="0"/>
                <a:ea typeface="Calibri" pitchFamily="34" charset="-122"/>
                <a:cs typeface="Calibri" pitchFamily="34" charset="-120"/>
              </a:rPr>
              <a:t>512 days</a:t>
            </a:r>
            <a:endParaRPr lang="en-US" sz="1150" dirty="0"/>
          </a:p>
        </p:txBody>
      </p:sp>
      <p:sp>
        <p:nvSpPr>
          <p:cNvPr id="34" name="Text 32"/>
          <p:cNvSpPr txBox="1"/>
          <p:nvPr/>
        </p:nvSpPr>
        <p:spPr>
          <a:xfrm>
            <a:off x="8668512" y="3877056"/>
            <a:ext cx="1737360" cy="274320"/>
          </a:xfrm>
          <a:prstGeom prst="rect">
            <a:avLst/>
          </a:prstGeom>
          <a:noFill/>
          <a:ln/>
        </p:spPr>
        <p:txBody>
          <a:bodyPr wrap="square" lIns="0" tIns="0" rIns="0" bIns="0" rtlCol="0" anchor="ctr"/>
          <a:lstStyle/>
          <a:p>
            <a:pPr indent="0" marL="0">
              <a:buNone/>
            </a:pPr>
            <a:r>
              <a:rPr lang="en-US" sz="1100" dirty="0">
                <a:solidFill>
                  <a:srgbClr val="6B5C60"/>
                </a:solidFill>
                <a:latin typeface="Calibri" pitchFamily="34" charset="0"/>
                <a:ea typeface="Calibri" pitchFamily="34" charset="-122"/>
                <a:cs typeface="Calibri" pitchFamily="34" charset="-120"/>
              </a:rPr>
              <a:t>Avg frequency</a:t>
            </a:r>
            <a:endParaRPr lang="en-US" sz="1100" dirty="0"/>
          </a:p>
        </p:txBody>
      </p:sp>
      <p:sp>
        <p:nvSpPr>
          <p:cNvPr id="35" name="Text 33"/>
          <p:cNvSpPr txBox="1"/>
          <p:nvPr/>
        </p:nvSpPr>
        <p:spPr>
          <a:xfrm>
            <a:off x="10287000" y="3877056"/>
            <a:ext cx="1481328" cy="274320"/>
          </a:xfrm>
          <a:prstGeom prst="rect">
            <a:avLst/>
          </a:prstGeom>
          <a:noFill/>
          <a:ln/>
        </p:spPr>
        <p:txBody>
          <a:bodyPr wrap="square" lIns="0" tIns="0" rIns="0" bIns="0" rtlCol="0" anchor="ctr"/>
          <a:lstStyle/>
          <a:p>
            <a:pPr algn="r" indent="0" marL="0">
              <a:buNone/>
            </a:pPr>
            <a:r>
              <a:rPr lang="en-US" sz="1150" b="1" dirty="0">
                <a:solidFill>
                  <a:srgbClr val="2B2124"/>
                </a:solidFill>
                <a:latin typeface="Calibri" pitchFamily="34" charset="0"/>
                <a:ea typeface="Calibri" pitchFamily="34" charset="-122"/>
                <a:cs typeface="Calibri" pitchFamily="34" charset="-120"/>
              </a:rPr>
              <a:t>2.1 orders</a:t>
            </a:r>
            <a:endParaRPr lang="en-US" sz="1150" dirty="0"/>
          </a:p>
        </p:txBody>
      </p:sp>
      <p:sp>
        <p:nvSpPr>
          <p:cNvPr id="36" name="Text 34"/>
          <p:cNvSpPr txBox="1"/>
          <p:nvPr/>
        </p:nvSpPr>
        <p:spPr>
          <a:xfrm>
            <a:off x="8668512" y="4261104"/>
            <a:ext cx="1737360" cy="274320"/>
          </a:xfrm>
          <a:prstGeom prst="rect">
            <a:avLst/>
          </a:prstGeom>
          <a:noFill/>
          <a:ln/>
        </p:spPr>
        <p:txBody>
          <a:bodyPr wrap="square" lIns="0" tIns="0" rIns="0" bIns="0" rtlCol="0" anchor="ctr"/>
          <a:lstStyle/>
          <a:p>
            <a:pPr indent="0" marL="0">
              <a:buNone/>
            </a:pPr>
            <a:r>
              <a:rPr lang="en-US" sz="1100" dirty="0">
                <a:solidFill>
                  <a:srgbClr val="6B5C60"/>
                </a:solidFill>
                <a:latin typeface="Calibri" pitchFamily="34" charset="0"/>
                <a:ea typeface="Calibri" pitchFamily="34" charset="-122"/>
                <a:cs typeface="Calibri" pitchFamily="34" charset="-120"/>
              </a:rPr>
              <a:t>Avg spend</a:t>
            </a:r>
            <a:endParaRPr lang="en-US" sz="1100" dirty="0"/>
          </a:p>
        </p:txBody>
      </p:sp>
      <p:sp>
        <p:nvSpPr>
          <p:cNvPr id="37" name="Text 35"/>
          <p:cNvSpPr txBox="1"/>
          <p:nvPr/>
        </p:nvSpPr>
        <p:spPr>
          <a:xfrm>
            <a:off x="10287000" y="4261104"/>
            <a:ext cx="1481328" cy="274320"/>
          </a:xfrm>
          <a:prstGeom prst="rect">
            <a:avLst/>
          </a:prstGeom>
          <a:noFill/>
          <a:ln/>
        </p:spPr>
        <p:txBody>
          <a:bodyPr wrap="square" lIns="0" tIns="0" rIns="0" bIns="0" rtlCol="0" anchor="ctr"/>
          <a:lstStyle/>
          <a:p>
            <a:pPr algn="r" indent="0" marL="0">
              <a:buNone/>
            </a:pPr>
            <a:r>
              <a:rPr lang="en-US" sz="1150" b="1" dirty="0">
                <a:solidFill>
                  <a:srgbClr val="2B2124"/>
                </a:solidFill>
                <a:latin typeface="Calibri" pitchFamily="34" charset="0"/>
                <a:ea typeface="Calibri" pitchFamily="34" charset="-122"/>
                <a:cs typeface="Calibri" pitchFamily="34" charset="-120"/>
              </a:rPr>
              <a:t>−£882</a:t>
            </a:r>
            <a:endParaRPr lang="en-US" sz="1150" dirty="0"/>
          </a:p>
        </p:txBody>
      </p:sp>
      <p:sp>
        <p:nvSpPr>
          <p:cNvPr id="38" name="Text 36"/>
          <p:cNvSpPr txBox="1"/>
          <p:nvPr/>
        </p:nvSpPr>
        <p:spPr>
          <a:xfrm>
            <a:off x="8668512" y="4754880"/>
            <a:ext cx="3099816" cy="685800"/>
          </a:xfrm>
          <a:prstGeom prst="rect">
            <a:avLst/>
          </a:prstGeom>
          <a:noFill/>
          <a:ln/>
        </p:spPr>
        <p:txBody>
          <a:bodyPr wrap="square" lIns="0" tIns="0" rIns="0" bIns="0" rtlCol="0" anchor="ctr"/>
          <a:lstStyle/>
          <a:p>
            <a:pPr indent="0" marL="0">
              <a:buNone/>
            </a:pPr>
            <a:r>
              <a:rPr lang="en-US" sz="1100" i="1" dirty="0">
                <a:solidFill>
                  <a:srgbClr val="6B5C60"/>
                </a:solidFill>
                <a:latin typeface="Calibri" pitchFamily="34" charset="0"/>
                <a:ea typeface="Calibri" pitchFamily="34" charset="-122"/>
                <a:cs typeface="Calibri" pitchFamily="34" charset="-120"/>
              </a:rPr>
              <a:t>Returns exceed purchases. Worth investigating before re-targeting.</a:t>
            </a:r>
            <a:endParaRPr lang="en-US" sz="1100" dirty="0"/>
          </a:p>
        </p:txBody>
      </p:sp>
      <p:sp>
        <p:nvSpPr>
          <p:cNvPr id="40" name="Text 37"/>
          <p:cNvSpPr txBox="1"/>
          <p:nvPr/>
        </p:nvSpPr>
        <p:spPr>
          <a:xfrm>
            <a:off x="548640" y="6236208"/>
            <a:ext cx="5486400" cy="274320"/>
          </a:xfrm>
          <a:prstGeom prst="rect">
            <a:avLst/>
          </a:prstGeom>
          <a:noFill/>
          <a:ln/>
        </p:spPr>
        <p:txBody>
          <a:bodyPr wrap="square" lIns="0" tIns="0" rIns="0" bIns="0" rtlCol="0" anchor="ctr"/>
          <a:lstStyle/>
          <a:p>
            <a:pPr indent="0" marL="0">
              <a:buNone/>
            </a:pPr>
            <a:r>
              <a:rPr lang="en-US" sz="950" dirty="0">
                <a:solidFill>
                  <a:srgbClr val="A9989C"/>
                </a:solidFill>
                <a:latin typeface="Calibri" pitchFamily="34" charset="0"/>
                <a:ea typeface="Calibri" pitchFamily="34" charset="-122"/>
                <a:cs typeface="Calibri" pitchFamily="34" charset="-120"/>
              </a:rPr>
              <a:t>Customer 360  ·  Online Retail II</a:t>
            </a:r>
            <a:endParaRPr lang="en-US" sz="950" dirty="0"/>
          </a:p>
        </p:txBody>
      </p:sp>
      <p:sp>
        <p:nvSpPr>
          <p:cNvPr id="41" name="Text 38"/>
          <p:cNvSpPr txBox="1"/>
          <p:nvPr/>
        </p:nvSpPr>
        <p:spPr>
          <a:xfrm>
            <a:off x="10515600" y="6236208"/>
            <a:ext cx="1097280" cy="274320"/>
          </a:xfrm>
          <a:prstGeom prst="rect">
            <a:avLst/>
          </a:prstGeom>
          <a:noFill/>
          <a:ln/>
        </p:spPr>
        <p:txBody>
          <a:bodyPr wrap="square" lIns="0" tIns="0" rIns="0" bIns="0" rtlCol="0" anchor="ctr"/>
          <a:lstStyle/>
          <a:p>
            <a:pPr algn="r" indent="0" marL="0">
              <a:buNone/>
            </a:pPr>
            <a:r>
              <a:rPr lang="en-US" sz="950" b="1" dirty="0">
                <a:solidFill>
                  <a:srgbClr val="A26769"/>
                </a:solidFill>
                <a:latin typeface="Calibri" pitchFamily="34" charset="0"/>
                <a:ea typeface="Calibri" pitchFamily="34" charset="-122"/>
                <a:cs typeface="Calibri" pitchFamily="34" charset="-120"/>
              </a:rPr>
              <a:t>08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408176" cy="274320"/>
          </a:xfrm>
          <a:prstGeom prst="roundRect">
            <a:avLst>
              <a:gd name="adj" fmla="val 46667"/>
            </a:avLst>
          </a:prstGeom>
          <a:solidFill>
            <a:srgbClr val="ECE2D0"/>
          </a:solidFill>
          <a:ln w="12700">
            <a:solidFill>
              <a:srgbClr val="ECE2D0"/>
            </a:solidFill>
            <a:prstDash val="solid"/>
          </a:ln>
        </p:spPr>
      </p:sp>
      <p:sp>
        <p:nvSpPr>
          <p:cNvPr id="3" name="Text 1"/>
          <p:cNvSpPr txBox="1"/>
          <p:nvPr/>
        </p:nvSpPr>
        <p:spPr>
          <a:xfrm>
            <a:off x="548640" y="384048"/>
            <a:ext cx="1408176" cy="274320"/>
          </a:xfrm>
          <a:prstGeom prst="rect">
            <a:avLst/>
          </a:prstGeom>
          <a:noFill/>
          <a:ln/>
        </p:spPr>
        <p:txBody>
          <a:bodyPr wrap="square" lIns="0" tIns="0" rIns="0" bIns="0" rtlCol="0" anchor="ctr"/>
          <a:lstStyle/>
          <a:p>
            <a:pPr algn="ctr" indent="0" marL="0">
              <a:buNone/>
            </a:pPr>
            <a:r>
              <a:rPr lang="en-US" sz="1050" b="1" spc="120" kern="0" dirty="0">
                <a:solidFill>
                  <a:srgbClr val="6D2E46"/>
                </a:solidFill>
                <a:latin typeface="Calibri" pitchFamily="34" charset="0"/>
                <a:ea typeface="Calibri" pitchFamily="34" charset="-122"/>
                <a:cs typeface="Calibri" pitchFamily="34" charset="-120"/>
              </a:rPr>
              <a:t>MODELLING SETUP</a:t>
            </a:r>
            <a:endParaRPr lang="en-US" sz="1050" dirty="0"/>
          </a:p>
        </p:txBody>
      </p:sp>
      <p:sp>
        <p:nvSpPr>
          <p:cNvPr id="4" name="Text 2"/>
          <p:cNvSpPr txBox="1"/>
          <p:nvPr/>
        </p:nvSpPr>
        <p:spPr>
          <a:xfrm>
            <a:off x="548640" y="749808"/>
            <a:ext cx="11064240" cy="658368"/>
          </a:xfrm>
          <a:prstGeom prst="rect">
            <a:avLst/>
          </a:prstGeom>
          <a:noFill/>
          <a:ln/>
        </p:spPr>
        <p:txBody>
          <a:bodyPr wrap="square" lIns="0" tIns="0" rIns="0" bIns="0" rtlCol="0" anchor="ctr"/>
          <a:lstStyle/>
          <a:p>
            <a:pPr indent="0" marL="0">
              <a:buNone/>
            </a:pPr>
            <a:r>
              <a:rPr lang="en-US" sz="3200" b="1" dirty="0">
                <a:solidFill>
                  <a:srgbClr val="2B2124"/>
                </a:solidFill>
                <a:latin typeface="Cambria" pitchFamily="34" charset="0"/>
                <a:ea typeface="Cambria" pitchFamily="34" charset="-122"/>
                <a:cs typeface="Cambria" pitchFamily="34" charset="-120"/>
              </a:rPr>
              <a:t>A target that cannot leak</a:t>
            </a:r>
            <a:endParaRPr lang="en-US" sz="3200" dirty="0"/>
          </a:p>
        </p:txBody>
      </p:sp>
      <p:sp>
        <p:nvSpPr>
          <p:cNvPr id="5" name="Text 3"/>
          <p:cNvSpPr txBox="1"/>
          <p:nvPr/>
        </p:nvSpPr>
        <p:spPr>
          <a:xfrm>
            <a:off x="548640" y="1389888"/>
            <a:ext cx="11064240" cy="365760"/>
          </a:xfrm>
          <a:prstGeom prst="rect">
            <a:avLst/>
          </a:prstGeom>
          <a:noFill/>
          <a:ln/>
        </p:spPr>
        <p:txBody>
          <a:bodyPr wrap="square" lIns="0" tIns="0" rIns="0" bIns="0" rtlCol="0" anchor="t"/>
          <a:lstStyle/>
          <a:p>
            <a:pPr indent="0" marL="0">
              <a:buNone/>
            </a:pPr>
            <a:r>
              <a:rPr lang="en-US" sz="1400" dirty="0">
                <a:solidFill>
                  <a:srgbClr val="6B5C60"/>
                </a:solidFill>
                <a:latin typeface="Calibri" pitchFamily="34" charset="0"/>
                <a:ea typeface="Calibri" pitchFamily="34" charset="-122"/>
                <a:cs typeface="Calibri" pitchFamily="34" charset="-120"/>
              </a:rPr>
              <a:t>Repeat purchase is defined across a time boundary, not sampled at random from the same period.</a:t>
            </a:r>
            <a:endParaRPr lang="en-US" sz="1400" dirty="0"/>
          </a:p>
        </p:txBody>
      </p:sp>
      <p:sp>
        <p:nvSpPr>
          <p:cNvPr id="6" name="Shape 4"/>
          <p:cNvSpPr/>
          <p:nvPr/>
        </p:nvSpPr>
        <p:spPr>
          <a:xfrm>
            <a:off x="548640" y="2011680"/>
            <a:ext cx="5943600" cy="1874520"/>
          </a:xfrm>
          <a:prstGeom prst="roundRect">
            <a:avLst>
              <a:gd name="adj" fmla="val 4878"/>
            </a:avLst>
          </a:prstGeom>
          <a:solidFill>
            <a:srgbClr val="F7F2EA"/>
          </a:solidFill>
          <a:ln w="12700">
            <a:solidFill>
              <a:srgbClr val="ECE2D0"/>
            </a:solidFill>
            <a:prstDash val="solid"/>
          </a:ln>
          <a:effectLst>
            <a:outerShdw sx="100000" sy="100000" kx="0" ky="0" algn="bl" rotWithShape="0" blurRad="101600" dist="12700" dir="5400000">
              <a:srgbClr val="000000">
                <a:alpha val="8000"/>
              </a:srgbClr>
            </a:outerShdw>
          </a:effectLst>
        </p:spPr>
      </p:sp>
      <p:sp>
        <p:nvSpPr>
          <p:cNvPr id="7" name="Text 5"/>
          <p:cNvSpPr txBox="1"/>
          <p:nvPr/>
        </p:nvSpPr>
        <p:spPr>
          <a:xfrm>
            <a:off x="822960" y="2176272"/>
            <a:ext cx="2743200" cy="274320"/>
          </a:xfrm>
          <a:prstGeom prst="rect">
            <a:avLst/>
          </a:prstGeom>
          <a:noFill/>
          <a:ln/>
        </p:spPr>
        <p:txBody>
          <a:bodyPr wrap="square" lIns="0" tIns="0" rIns="0" bIns="0" rtlCol="0" anchor="ctr"/>
          <a:lstStyle/>
          <a:p>
            <a:pPr indent="0" marL="0">
              <a:buNone/>
            </a:pPr>
            <a:r>
              <a:rPr lang="en-US" sz="1200" b="1" dirty="0">
                <a:solidFill>
                  <a:srgbClr val="6D2E46"/>
                </a:solidFill>
                <a:latin typeface="Calibri" pitchFamily="34" charset="0"/>
                <a:ea typeface="Calibri" pitchFamily="34" charset="-122"/>
                <a:cs typeface="Calibri" pitchFamily="34" charset="-120"/>
              </a:rPr>
              <a:t>Temporal split</a:t>
            </a:r>
            <a:endParaRPr lang="en-US" sz="1200" dirty="0"/>
          </a:p>
        </p:txBody>
      </p:sp>
      <p:sp>
        <p:nvSpPr>
          <p:cNvPr id="8" name="Shape 6"/>
          <p:cNvSpPr/>
          <p:nvPr/>
        </p:nvSpPr>
        <p:spPr>
          <a:xfrm>
            <a:off x="822960" y="2542032"/>
            <a:ext cx="3566160" cy="566928"/>
          </a:xfrm>
          <a:prstGeom prst="roundRect">
            <a:avLst>
              <a:gd name="adj" fmla="val 12903"/>
            </a:avLst>
          </a:prstGeom>
          <a:solidFill>
            <a:srgbClr val="6D2E46"/>
          </a:solidFill>
          <a:ln w="12700">
            <a:solidFill>
              <a:srgbClr val="6D2E46"/>
            </a:solidFill>
            <a:prstDash val="solid"/>
          </a:ln>
        </p:spPr>
      </p:sp>
      <p:sp>
        <p:nvSpPr>
          <p:cNvPr id="9" name="Text 7"/>
          <p:cNvSpPr txBox="1"/>
          <p:nvPr/>
        </p:nvSpPr>
        <p:spPr>
          <a:xfrm>
            <a:off x="822960" y="2542032"/>
            <a:ext cx="356616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History  ·  features only</a:t>
            </a:r>
            <a:endParaRPr lang="en-US" sz="1200" dirty="0"/>
          </a:p>
        </p:txBody>
      </p:sp>
      <p:sp>
        <p:nvSpPr>
          <p:cNvPr id="10" name="Shape 8"/>
          <p:cNvSpPr/>
          <p:nvPr/>
        </p:nvSpPr>
        <p:spPr>
          <a:xfrm>
            <a:off x="4480560" y="2542032"/>
            <a:ext cx="1737360" cy="566928"/>
          </a:xfrm>
          <a:prstGeom prst="roundRect">
            <a:avLst>
              <a:gd name="adj" fmla="val 12903"/>
            </a:avLst>
          </a:prstGeom>
          <a:solidFill>
            <a:srgbClr val="C08A2E"/>
          </a:solidFill>
          <a:ln w="12700">
            <a:solidFill>
              <a:srgbClr val="C08A2E"/>
            </a:solidFill>
            <a:prstDash val="solid"/>
          </a:ln>
        </p:spPr>
      </p:sp>
      <p:sp>
        <p:nvSpPr>
          <p:cNvPr id="11" name="Text 9"/>
          <p:cNvSpPr txBox="1"/>
          <p:nvPr/>
        </p:nvSpPr>
        <p:spPr>
          <a:xfrm>
            <a:off x="4480560" y="2542032"/>
            <a:ext cx="1737360" cy="566928"/>
          </a:xfrm>
          <a:prstGeom prst="rect">
            <a:avLst/>
          </a:prstGeom>
          <a:noFill/>
          <a:ln/>
        </p:spPr>
        <p:txBody>
          <a:bodyPr wrap="square" lIns="0" tIns="0" rIns="0" bIns="0" rtlCol="0" anchor="ctr"/>
          <a:lstStyle/>
          <a:p>
            <a:pPr algn="ctr" indent="0" marL="0">
              <a:buNone/>
            </a:pPr>
            <a:r>
              <a:rPr lang="en-US" sz="1200" b="1" dirty="0">
                <a:solidFill>
                  <a:srgbClr val="43172B"/>
                </a:solidFill>
                <a:latin typeface="Calibri" pitchFamily="34" charset="0"/>
                <a:ea typeface="Calibri" pitchFamily="34" charset="-122"/>
                <a:cs typeface="Calibri" pitchFamily="34" charset="-120"/>
              </a:rPr>
              <a:t>Next 90 days</a:t>
            </a:r>
            <a:endParaRPr lang="en-US" sz="1200" dirty="0"/>
          </a:p>
        </p:txBody>
      </p:sp>
      <p:sp>
        <p:nvSpPr>
          <p:cNvPr id="12" name="Text 10"/>
          <p:cNvSpPr txBox="1"/>
          <p:nvPr/>
        </p:nvSpPr>
        <p:spPr>
          <a:xfrm>
            <a:off x="822960" y="3200400"/>
            <a:ext cx="5394960" cy="548640"/>
          </a:xfrm>
          <a:prstGeom prst="rect">
            <a:avLst/>
          </a:prstGeom>
          <a:noFill/>
          <a:ln/>
        </p:spPr>
        <p:txBody>
          <a:bodyPr wrap="square" lIns="0" tIns="0" rIns="0" bIns="0" rtlCol="0" anchor="ctr"/>
          <a:lstStyle/>
          <a:p>
            <a:pPr indent="0" marL="0">
              <a:buNone/>
            </a:pPr>
            <a:r>
              <a:rPr lang="en-US" sz="1100" dirty="0">
                <a:solidFill>
                  <a:srgbClr val="6B5C60"/>
                </a:solidFill>
                <a:latin typeface="Calibri" pitchFamily="34" charset="0"/>
                <a:ea typeface="Calibri" pitchFamily="34" charset="-122"/>
                <a:cs typeface="Calibri" pitchFamily="34" charset="-120"/>
              </a:rPr>
              <a:t>Features are computed only from transactions on or before the cut-off. The label is whether the customer ordered again in the 90 days that follow.</a:t>
            </a:r>
            <a:endParaRPr lang="en-US" sz="1100" dirty="0"/>
          </a:p>
        </p:txBody>
      </p:sp>
      <p:sp>
        <p:nvSpPr>
          <p:cNvPr id="13" name="Shape 11"/>
          <p:cNvSpPr/>
          <p:nvPr/>
        </p:nvSpPr>
        <p:spPr>
          <a:xfrm>
            <a:off x="548640" y="4069080"/>
            <a:ext cx="5943600" cy="1463040"/>
          </a:xfrm>
          <a:prstGeom prst="roundRect">
            <a:avLst>
              <a:gd name="adj" fmla="val 6250"/>
            </a:avLst>
          </a:prstGeom>
          <a:solidFill>
            <a:srgbClr val="F7F2EA"/>
          </a:solidFill>
          <a:ln w="12700">
            <a:solidFill>
              <a:srgbClr val="ECE2D0"/>
            </a:solidFill>
            <a:prstDash val="solid"/>
          </a:ln>
          <a:effectLst>
            <a:outerShdw sx="100000" sy="100000" kx="0" ky="0" algn="bl" rotWithShape="0" blurRad="101600" dist="12700" dir="5400000">
              <a:srgbClr val="000000">
                <a:alpha val="8000"/>
              </a:srgbClr>
            </a:outerShdw>
          </a:effectLst>
        </p:spPr>
      </p:sp>
      <p:sp>
        <p:nvSpPr>
          <p:cNvPr id="14" name="Text 12"/>
          <p:cNvSpPr txBox="1"/>
          <p:nvPr/>
        </p:nvSpPr>
        <p:spPr>
          <a:xfrm>
            <a:off x="822960" y="4251960"/>
            <a:ext cx="1554480" cy="502920"/>
          </a:xfrm>
          <a:prstGeom prst="rect">
            <a:avLst/>
          </a:prstGeom>
          <a:noFill/>
          <a:ln/>
        </p:spPr>
        <p:txBody>
          <a:bodyPr wrap="square" lIns="0" tIns="0" rIns="0" bIns="0" rtlCol="0" anchor="ctr"/>
          <a:lstStyle/>
          <a:p>
            <a:pPr indent="0" marL="0">
              <a:buNone/>
            </a:pPr>
            <a:r>
              <a:rPr lang="en-US" sz="2800" b="1" dirty="0">
                <a:solidFill>
                  <a:srgbClr val="6D2E46"/>
                </a:solidFill>
                <a:latin typeface="Cambria" pitchFamily="34" charset="0"/>
                <a:ea typeface="Cambria" pitchFamily="34" charset="-122"/>
                <a:cs typeface="Cambria" pitchFamily="34" charset="-120"/>
              </a:rPr>
              <a:t>5,346</a:t>
            </a:r>
            <a:endParaRPr lang="en-US" sz="2800" dirty="0"/>
          </a:p>
        </p:txBody>
      </p:sp>
      <p:sp>
        <p:nvSpPr>
          <p:cNvPr id="15" name="Text 13"/>
          <p:cNvSpPr txBox="1"/>
          <p:nvPr/>
        </p:nvSpPr>
        <p:spPr>
          <a:xfrm>
            <a:off x="822960" y="4754880"/>
            <a:ext cx="1828800" cy="457200"/>
          </a:xfrm>
          <a:prstGeom prst="rect">
            <a:avLst/>
          </a:prstGeom>
          <a:noFill/>
          <a:ln/>
        </p:spPr>
        <p:txBody>
          <a:bodyPr wrap="square" lIns="0" tIns="0" rIns="0" bIns="0" rtlCol="0" anchor="ctr"/>
          <a:lstStyle/>
          <a:p>
            <a:pPr indent="0" marL="0">
              <a:buNone/>
            </a:pPr>
            <a:r>
              <a:rPr lang="en-US" sz="1050" dirty="0">
                <a:solidFill>
                  <a:srgbClr val="6B5C60"/>
                </a:solidFill>
                <a:latin typeface="Calibri" pitchFamily="34" charset="0"/>
                <a:ea typeface="Calibri" pitchFamily="34" charset="-122"/>
                <a:cs typeface="Calibri" pitchFamily="34" charset="-120"/>
              </a:rPr>
              <a:t>customers in the modelling set</a:t>
            </a:r>
            <a:endParaRPr lang="en-US" sz="1050" dirty="0"/>
          </a:p>
        </p:txBody>
      </p:sp>
      <p:sp>
        <p:nvSpPr>
          <p:cNvPr id="16" name="Text 14"/>
          <p:cNvSpPr txBox="1"/>
          <p:nvPr/>
        </p:nvSpPr>
        <p:spPr>
          <a:xfrm>
            <a:off x="2834640" y="4251960"/>
            <a:ext cx="1554480" cy="502920"/>
          </a:xfrm>
          <a:prstGeom prst="rect">
            <a:avLst/>
          </a:prstGeom>
          <a:noFill/>
          <a:ln/>
        </p:spPr>
        <p:txBody>
          <a:bodyPr wrap="square" lIns="0" tIns="0" rIns="0" bIns="0" rtlCol="0" anchor="ctr"/>
          <a:lstStyle/>
          <a:p>
            <a:pPr indent="0" marL="0">
              <a:buNone/>
            </a:pPr>
            <a:r>
              <a:rPr lang="en-US" sz="2800" b="1" dirty="0">
                <a:solidFill>
                  <a:srgbClr val="6D2E46"/>
                </a:solidFill>
                <a:latin typeface="Cambria" pitchFamily="34" charset="0"/>
                <a:ea typeface="Cambria" pitchFamily="34" charset="-122"/>
                <a:cs typeface="Cambria" pitchFamily="34" charset="-120"/>
              </a:rPr>
              <a:t>43.4%</a:t>
            </a:r>
            <a:endParaRPr lang="en-US" sz="2800" dirty="0"/>
          </a:p>
        </p:txBody>
      </p:sp>
      <p:sp>
        <p:nvSpPr>
          <p:cNvPr id="17" name="Text 15"/>
          <p:cNvSpPr txBox="1"/>
          <p:nvPr/>
        </p:nvSpPr>
        <p:spPr>
          <a:xfrm>
            <a:off x="2834640" y="4754880"/>
            <a:ext cx="1828800" cy="457200"/>
          </a:xfrm>
          <a:prstGeom prst="rect">
            <a:avLst/>
          </a:prstGeom>
          <a:noFill/>
          <a:ln/>
        </p:spPr>
        <p:txBody>
          <a:bodyPr wrap="square" lIns="0" tIns="0" rIns="0" bIns="0" rtlCol="0" anchor="ctr"/>
          <a:lstStyle/>
          <a:p>
            <a:pPr indent="0" marL="0">
              <a:buNone/>
            </a:pPr>
            <a:r>
              <a:rPr lang="en-US" sz="1050" dirty="0">
                <a:solidFill>
                  <a:srgbClr val="6B5C60"/>
                </a:solidFill>
                <a:latin typeface="Calibri" pitchFamily="34" charset="0"/>
                <a:ea typeface="Calibri" pitchFamily="34" charset="-122"/>
                <a:cs typeface="Calibri" pitchFamily="34" charset="-120"/>
              </a:rPr>
              <a:t>repurchased — 2,322 of them</a:t>
            </a:r>
            <a:endParaRPr lang="en-US" sz="1050" dirty="0"/>
          </a:p>
        </p:txBody>
      </p:sp>
      <p:sp>
        <p:nvSpPr>
          <p:cNvPr id="18" name="Text 16"/>
          <p:cNvSpPr txBox="1"/>
          <p:nvPr/>
        </p:nvSpPr>
        <p:spPr>
          <a:xfrm>
            <a:off x="4846320" y="4251960"/>
            <a:ext cx="1371600" cy="502920"/>
          </a:xfrm>
          <a:prstGeom prst="rect">
            <a:avLst/>
          </a:prstGeom>
          <a:noFill/>
          <a:ln/>
        </p:spPr>
        <p:txBody>
          <a:bodyPr wrap="square" lIns="0" tIns="0" rIns="0" bIns="0" rtlCol="0" anchor="ctr"/>
          <a:lstStyle/>
          <a:p>
            <a:pPr indent="0" marL="0">
              <a:buNone/>
            </a:pPr>
            <a:r>
              <a:rPr lang="en-US" sz="2800" b="1" dirty="0">
                <a:solidFill>
                  <a:srgbClr val="6D2E46"/>
                </a:solidFill>
                <a:latin typeface="Cambria" pitchFamily="34" charset="0"/>
                <a:ea typeface="Cambria" pitchFamily="34" charset="-122"/>
                <a:cs typeface="Cambria" pitchFamily="34" charset="-120"/>
              </a:rPr>
              <a:t>8</a:t>
            </a:r>
            <a:endParaRPr lang="en-US" sz="2800" dirty="0"/>
          </a:p>
        </p:txBody>
      </p:sp>
      <p:sp>
        <p:nvSpPr>
          <p:cNvPr id="19" name="Text 17"/>
          <p:cNvSpPr txBox="1"/>
          <p:nvPr/>
        </p:nvSpPr>
        <p:spPr>
          <a:xfrm>
            <a:off x="4846320" y="4754880"/>
            <a:ext cx="1463040" cy="548640"/>
          </a:xfrm>
          <a:prstGeom prst="rect">
            <a:avLst/>
          </a:prstGeom>
          <a:noFill/>
          <a:ln/>
        </p:spPr>
        <p:txBody>
          <a:bodyPr wrap="square" lIns="0" tIns="0" rIns="0" bIns="0" rtlCol="0" anchor="ctr"/>
          <a:lstStyle/>
          <a:p>
            <a:pPr indent="0" marL="0">
              <a:buNone/>
            </a:pPr>
            <a:r>
              <a:rPr lang="en-US" sz="1050" dirty="0">
                <a:solidFill>
                  <a:srgbClr val="6B5C60"/>
                </a:solidFill>
                <a:latin typeface="Calibri" pitchFamily="34" charset="0"/>
                <a:ea typeface="Calibri" pitchFamily="34" charset="-122"/>
                <a:cs typeface="Calibri" pitchFamily="34" charset="-120"/>
              </a:rPr>
              <a:t>behavioural features, 80/20 stratified split</a:t>
            </a:r>
            <a:endParaRPr lang="en-US" sz="1050" dirty="0"/>
          </a:p>
        </p:txBody>
      </p:sp>
      <p:sp>
        <p:nvSpPr>
          <p:cNvPr id="20" name="Shape 18"/>
          <p:cNvSpPr/>
          <p:nvPr/>
        </p:nvSpPr>
        <p:spPr>
          <a:xfrm>
            <a:off x="6766560" y="2011680"/>
            <a:ext cx="4846320" cy="3520440"/>
          </a:xfrm>
          <a:prstGeom prst="roundRect">
            <a:avLst>
              <a:gd name="adj" fmla="val 2597"/>
            </a:avLst>
          </a:prstGeom>
          <a:solidFill>
            <a:srgbClr val="6D2E46"/>
          </a:solidFill>
          <a:ln w="12700">
            <a:solidFill>
              <a:srgbClr val="6D2E46"/>
            </a:solidFill>
            <a:prstDash val="solid"/>
          </a:ln>
          <a:effectLst>
            <a:outerShdw sx="100000" sy="100000" kx="0" ky="0" algn="bl" rotWithShape="0" blurRad="101600" dist="12700" dir="5400000">
              <a:srgbClr val="000000">
                <a:alpha val="8000"/>
              </a:srgbClr>
            </a:outerShdw>
          </a:effectLst>
        </p:spPr>
      </p:sp>
      <p:sp>
        <p:nvSpPr>
          <p:cNvPr id="21" name="Text 19"/>
          <p:cNvSpPr txBox="1"/>
          <p:nvPr/>
        </p:nvSpPr>
        <p:spPr>
          <a:xfrm>
            <a:off x="7040880" y="2212848"/>
            <a:ext cx="4297680" cy="548640"/>
          </a:xfrm>
          <a:prstGeom prst="rect">
            <a:avLst/>
          </a:prstGeom>
          <a:noFill/>
          <a:ln/>
        </p:spPr>
        <p:txBody>
          <a:bodyPr wrap="square" lIns="0" tIns="0" rIns="0" bIns="0" rtlCol="0" anchor="ctr"/>
          <a:lstStyle/>
          <a:p>
            <a:pPr indent="0" marL="0">
              <a:buNone/>
            </a:pPr>
            <a:r>
              <a:rPr lang="en-US" sz="1300" b="1" dirty="0">
                <a:solidFill>
                  <a:srgbClr val="ECE2D0"/>
                </a:solidFill>
                <a:latin typeface="Calibri" pitchFamily="34" charset="0"/>
                <a:ea typeface="Calibri" pitchFamily="34" charset="-122"/>
                <a:cs typeface="Calibri" pitchFamily="34" charset="-120"/>
              </a:rPr>
              <a:t>The two groups behave very differently</a:t>
            </a:r>
            <a:endParaRPr lang="en-US" sz="1300" dirty="0"/>
          </a:p>
        </p:txBody>
      </p:sp>
      <p:sp>
        <p:nvSpPr>
          <p:cNvPr id="22" name="Text 20"/>
          <p:cNvSpPr txBox="1"/>
          <p:nvPr/>
        </p:nvSpPr>
        <p:spPr>
          <a:xfrm>
            <a:off x="7040880" y="2880360"/>
            <a:ext cx="2011680" cy="365760"/>
          </a:xfrm>
          <a:prstGeom prst="rect">
            <a:avLst/>
          </a:prstGeom>
          <a:noFill/>
          <a:ln/>
        </p:spPr>
        <p:txBody>
          <a:bodyPr wrap="square" lIns="0" tIns="0" rIns="0" bIns="0" rtlCol="0" anchor="ctr"/>
          <a:lstStyle/>
          <a:p>
            <a:pPr indent="0" marL="0">
              <a:buNone/>
            </a:pPr>
            <a:endParaRPr lang="en-US" sz="1150" dirty="0"/>
          </a:p>
        </p:txBody>
      </p:sp>
      <p:sp>
        <p:nvSpPr>
          <p:cNvPr id="23" name="Text 21"/>
          <p:cNvSpPr txBox="1"/>
          <p:nvPr/>
        </p:nvSpPr>
        <p:spPr>
          <a:xfrm>
            <a:off x="9052560" y="2880360"/>
            <a:ext cx="1143000" cy="365760"/>
          </a:xfrm>
          <a:prstGeom prst="rect">
            <a:avLst/>
          </a:prstGeom>
          <a:noFill/>
          <a:ln/>
        </p:spPr>
        <p:txBody>
          <a:bodyPr wrap="square" lIns="0" tIns="0" rIns="0" bIns="0" rtlCol="0" anchor="ctr"/>
          <a:lstStyle/>
          <a:p>
            <a:pPr algn="r" indent="0" marL="0">
              <a:buNone/>
            </a:pPr>
            <a:r>
              <a:rPr lang="en-US" sz="1150" b="1" dirty="0">
                <a:solidFill>
                  <a:srgbClr val="D3ABB1"/>
                </a:solidFill>
                <a:latin typeface="Calibri" pitchFamily="34" charset="0"/>
                <a:ea typeface="Calibri" pitchFamily="34" charset="-122"/>
                <a:cs typeface="Calibri" pitchFamily="34" charset="-120"/>
              </a:rPr>
              <a:t>Did not return</a:t>
            </a:r>
            <a:endParaRPr lang="en-US" sz="1150" dirty="0"/>
          </a:p>
        </p:txBody>
      </p:sp>
      <p:sp>
        <p:nvSpPr>
          <p:cNvPr id="24" name="Text 22"/>
          <p:cNvSpPr txBox="1"/>
          <p:nvPr/>
        </p:nvSpPr>
        <p:spPr>
          <a:xfrm>
            <a:off x="10241280" y="2880360"/>
            <a:ext cx="1143000" cy="365760"/>
          </a:xfrm>
          <a:prstGeom prst="rect">
            <a:avLst/>
          </a:prstGeom>
          <a:noFill/>
          <a:ln/>
        </p:spPr>
        <p:txBody>
          <a:bodyPr wrap="square" lIns="0" tIns="0" rIns="0" bIns="0" rtlCol="0" anchor="ctr"/>
          <a:lstStyle/>
          <a:p>
            <a:pPr algn="r" indent="0" marL="0">
              <a:buNone/>
            </a:pPr>
            <a:r>
              <a:rPr lang="en-US" sz="1150" b="1" dirty="0">
                <a:solidFill>
                  <a:srgbClr val="D3ABB1"/>
                </a:solidFill>
                <a:latin typeface="Calibri" pitchFamily="34" charset="0"/>
                <a:ea typeface="Calibri" pitchFamily="34" charset="-122"/>
                <a:cs typeface="Calibri" pitchFamily="34" charset="-120"/>
              </a:rPr>
              <a:t>Returned</a:t>
            </a:r>
            <a:endParaRPr lang="en-US" sz="1150" dirty="0"/>
          </a:p>
        </p:txBody>
      </p:sp>
      <p:sp>
        <p:nvSpPr>
          <p:cNvPr id="25" name="Text 23"/>
          <p:cNvSpPr txBox="1"/>
          <p:nvPr/>
        </p:nvSpPr>
        <p:spPr>
          <a:xfrm>
            <a:off x="7040880" y="3355848"/>
            <a:ext cx="2011680" cy="365760"/>
          </a:xfrm>
          <a:prstGeom prst="rect">
            <a:avLst/>
          </a:prstGeom>
          <a:noFill/>
          <a:ln/>
        </p:spPr>
        <p:txBody>
          <a:bodyPr wrap="square" lIns="0" tIns="0" rIns="0" bIns="0" rtlCol="0" anchor="ctr"/>
          <a:lstStyle/>
          <a:p>
            <a:pPr indent="0" marL="0">
              <a:buNone/>
            </a:pPr>
            <a:r>
              <a:rPr lang="en-US" sz="1150" b="1" dirty="0">
                <a:solidFill>
                  <a:srgbClr val="ECE2D0"/>
                </a:solidFill>
                <a:latin typeface="Calibri" pitchFamily="34" charset="0"/>
                <a:ea typeface="Calibri" pitchFamily="34" charset="-122"/>
                <a:cs typeface="Calibri" pitchFamily="34" charset="-120"/>
              </a:rPr>
              <a:t>Customers</a:t>
            </a:r>
            <a:endParaRPr lang="en-US" sz="1150" dirty="0"/>
          </a:p>
        </p:txBody>
      </p:sp>
      <p:sp>
        <p:nvSpPr>
          <p:cNvPr id="26" name="Text 24"/>
          <p:cNvSpPr txBox="1"/>
          <p:nvPr/>
        </p:nvSpPr>
        <p:spPr>
          <a:xfrm>
            <a:off x="9052560" y="3355848"/>
            <a:ext cx="1143000" cy="365760"/>
          </a:xfrm>
          <a:prstGeom prst="rect">
            <a:avLst/>
          </a:prstGeom>
          <a:noFill/>
          <a:ln/>
        </p:spPr>
        <p:txBody>
          <a:bodyPr wrap="square" lIns="0" tIns="0" rIns="0" bIns="0" rtlCol="0" anchor="ctr"/>
          <a:lstStyle/>
          <a:p>
            <a:pPr algn="r" indent="0" marL="0">
              <a:buNone/>
            </a:pPr>
            <a:r>
              <a:rPr lang="en-US" sz="1150" b="1" dirty="0">
                <a:solidFill>
                  <a:srgbClr val="FFFFFF"/>
                </a:solidFill>
                <a:latin typeface="Calibri" pitchFamily="34" charset="0"/>
                <a:ea typeface="Calibri" pitchFamily="34" charset="-122"/>
                <a:cs typeface="Calibri" pitchFamily="34" charset="-120"/>
              </a:rPr>
              <a:t>3,024</a:t>
            </a:r>
            <a:endParaRPr lang="en-US" sz="1150" dirty="0"/>
          </a:p>
        </p:txBody>
      </p:sp>
      <p:sp>
        <p:nvSpPr>
          <p:cNvPr id="27" name="Text 25"/>
          <p:cNvSpPr txBox="1"/>
          <p:nvPr/>
        </p:nvSpPr>
        <p:spPr>
          <a:xfrm>
            <a:off x="10241280" y="3355848"/>
            <a:ext cx="1143000" cy="365760"/>
          </a:xfrm>
          <a:prstGeom prst="rect">
            <a:avLst/>
          </a:prstGeom>
          <a:noFill/>
          <a:ln/>
        </p:spPr>
        <p:txBody>
          <a:bodyPr wrap="square" lIns="0" tIns="0" rIns="0" bIns="0" rtlCol="0" anchor="ctr"/>
          <a:lstStyle/>
          <a:p>
            <a:pPr algn="r" indent="0" marL="0">
              <a:buNone/>
            </a:pPr>
            <a:r>
              <a:rPr lang="en-US" sz="1150" b="1" dirty="0">
                <a:solidFill>
                  <a:srgbClr val="C08A2E"/>
                </a:solidFill>
                <a:latin typeface="Calibri" pitchFamily="34" charset="0"/>
                <a:ea typeface="Calibri" pitchFamily="34" charset="-122"/>
                <a:cs typeface="Calibri" pitchFamily="34" charset="-120"/>
              </a:rPr>
              <a:t>2,322</a:t>
            </a:r>
            <a:endParaRPr lang="en-US" sz="1150" dirty="0"/>
          </a:p>
        </p:txBody>
      </p:sp>
      <p:sp>
        <p:nvSpPr>
          <p:cNvPr id="28" name="Shape 26"/>
          <p:cNvSpPr/>
          <p:nvPr/>
        </p:nvSpPr>
        <p:spPr>
          <a:xfrm>
            <a:off x="7040880" y="3767328"/>
            <a:ext cx="4343400" cy="0"/>
          </a:xfrm>
          <a:prstGeom prst="line">
            <a:avLst/>
          </a:prstGeom>
          <a:noFill/>
          <a:ln w="12700">
            <a:solidFill>
              <a:srgbClr val="7A4059"/>
            </a:solidFill>
            <a:prstDash val="solid"/>
          </a:ln>
        </p:spPr>
      </p:sp>
      <p:sp>
        <p:nvSpPr>
          <p:cNvPr id="29" name="Text 27"/>
          <p:cNvSpPr txBox="1"/>
          <p:nvPr/>
        </p:nvSpPr>
        <p:spPr>
          <a:xfrm>
            <a:off x="7040880" y="3831336"/>
            <a:ext cx="2011680" cy="365760"/>
          </a:xfrm>
          <a:prstGeom prst="rect">
            <a:avLst/>
          </a:prstGeom>
          <a:noFill/>
          <a:ln/>
        </p:spPr>
        <p:txBody>
          <a:bodyPr wrap="square" lIns="0" tIns="0" rIns="0" bIns="0" rtlCol="0" anchor="ctr"/>
          <a:lstStyle/>
          <a:p>
            <a:pPr indent="0" marL="0">
              <a:buNone/>
            </a:pPr>
            <a:r>
              <a:rPr lang="en-US" sz="1150" b="1" dirty="0">
                <a:solidFill>
                  <a:srgbClr val="ECE2D0"/>
                </a:solidFill>
                <a:latin typeface="Calibri" pitchFamily="34" charset="0"/>
                <a:ea typeface="Calibri" pitchFamily="34" charset="-122"/>
                <a:cs typeface="Calibri" pitchFamily="34" charset="-120"/>
              </a:rPr>
              <a:t>Avg historic spend</a:t>
            </a:r>
            <a:endParaRPr lang="en-US" sz="1150" dirty="0"/>
          </a:p>
        </p:txBody>
      </p:sp>
      <p:sp>
        <p:nvSpPr>
          <p:cNvPr id="30" name="Text 28"/>
          <p:cNvSpPr txBox="1"/>
          <p:nvPr/>
        </p:nvSpPr>
        <p:spPr>
          <a:xfrm>
            <a:off x="9052560" y="3831336"/>
            <a:ext cx="1143000" cy="365760"/>
          </a:xfrm>
          <a:prstGeom prst="rect">
            <a:avLst/>
          </a:prstGeom>
          <a:noFill/>
          <a:ln/>
        </p:spPr>
        <p:txBody>
          <a:bodyPr wrap="square" lIns="0" tIns="0" rIns="0" bIns="0" rtlCol="0" anchor="ctr"/>
          <a:lstStyle/>
          <a:p>
            <a:pPr algn="r" indent="0" marL="0">
              <a:buNone/>
            </a:pPr>
            <a:r>
              <a:rPr lang="en-US" sz="1150" b="1" dirty="0">
                <a:solidFill>
                  <a:srgbClr val="FFFFFF"/>
                </a:solidFill>
                <a:latin typeface="Calibri" pitchFamily="34" charset="0"/>
                <a:ea typeface="Calibri" pitchFamily="34" charset="-122"/>
                <a:cs typeface="Calibri" pitchFamily="34" charset="-120"/>
              </a:rPr>
              <a:t>£964</a:t>
            </a:r>
            <a:endParaRPr lang="en-US" sz="1150" dirty="0"/>
          </a:p>
        </p:txBody>
      </p:sp>
      <p:sp>
        <p:nvSpPr>
          <p:cNvPr id="31" name="Text 29"/>
          <p:cNvSpPr txBox="1"/>
          <p:nvPr/>
        </p:nvSpPr>
        <p:spPr>
          <a:xfrm>
            <a:off x="10241280" y="3831336"/>
            <a:ext cx="1143000" cy="365760"/>
          </a:xfrm>
          <a:prstGeom prst="rect">
            <a:avLst/>
          </a:prstGeom>
          <a:noFill/>
          <a:ln/>
        </p:spPr>
        <p:txBody>
          <a:bodyPr wrap="square" lIns="0" tIns="0" rIns="0" bIns="0" rtlCol="0" anchor="ctr"/>
          <a:lstStyle/>
          <a:p>
            <a:pPr algn="r" indent="0" marL="0">
              <a:buNone/>
            </a:pPr>
            <a:r>
              <a:rPr lang="en-US" sz="1150" b="1" dirty="0">
                <a:solidFill>
                  <a:srgbClr val="C08A2E"/>
                </a:solidFill>
                <a:latin typeface="Calibri" pitchFamily="34" charset="0"/>
                <a:ea typeface="Calibri" pitchFamily="34" charset="-122"/>
                <a:cs typeface="Calibri" pitchFamily="34" charset="-120"/>
              </a:rPr>
              <a:t>£4,400</a:t>
            </a:r>
            <a:endParaRPr lang="en-US" sz="1150" dirty="0"/>
          </a:p>
        </p:txBody>
      </p:sp>
      <p:sp>
        <p:nvSpPr>
          <p:cNvPr id="32" name="Shape 30"/>
          <p:cNvSpPr/>
          <p:nvPr/>
        </p:nvSpPr>
        <p:spPr>
          <a:xfrm>
            <a:off x="7040880" y="4242816"/>
            <a:ext cx="4343400" cy="0"/>
          </a:xfrm>
          <a:prstGeom prst="line">
            <a:avLst/>
          </a:prstGeom>
          <a:noFill/>
          <a:ln w="12700">
            <a:solidFill>
              <a:srgbClr val="7A4059"/>
            </a:solidFill>
            <a:prstDash val="solid"/>
          </a:ln>
        </p:spPr>
      </p:sp>
      <p:sp>
        <p:nvSpPr>
          <p:cNvPr id="33" name="Text 31"/>
          <p:cNvSpPr txBox="1"/>
          <p:nvPr/>
        </p:nvSpPr>
        <p:spPr>
          <a:xfrm>
            <a:off x="7040880" y="4306824"/>
            <a:ext cx="2011680" cy="365760"/>
          </a:xfrm>
          <a:prstGeom prst="rect">
            <a:avLst/>
          </a:prstGeom>
          <a:noFill/>
          <a:ln/>
        </p:spPr>
        <p:txBody>
          <a:bodyPr wrap="square" lIns="0" tIns="0" rIns="0" bIns="0" rtlCol="0" anchor="ctr"/>
          <a:lstStyle/>
          <a:p>
            <a:pPr indent="0" marL="0">
              <a:buNone/>
            </a:pPr>
            <a:r>
              <a:rPr lang="en-US" sz="1150" b="1" dirty="0">
                <a:solidFill>
                  <a:srgbClr val="ECE2D0"/>
                </a:solidFill>
                <a:latin typeface="Calibri" pitchFamily="34" charset="0"/>
                <a:ea typeface="Calibri" pitchFamily="34" charset="-122"/>
                <a:cs typeface="Calibri" pitchFamily="34" charset="-120"/>
              </a:rPr>
              <a:t>Avg orders</a:t>
            </a:r>
            <a:endParaRPr lang="en-US" sz="1150" dirty="0"/>
          </a:p>
        </p:txBody>
      </p:sp>
      <p:sp>
        <p:nvSpPr>
          <p:cNvPr id="34" name="Text 32"/>
          <p:cNvSpPr txBox="1"/>
          <p:nvPr/>
        </p:nvSpPr>
        <p:spPr>
          <a:xfrm>
            <a:off x="9052560" y="4306824"/>
            <a:ext cx="1143000" cy="365760"/>
          </a:xfrm>
          <a:prstGeom prst="rect">
            <a:avLst/>
          </a:prstGeom>
          <a:noFill/>
          <a:ln/>
        </p:spPr>
        <p:txBody>
          <a:bodyPr wrap="square" lIns="0" tIns="0" rIns="0" bIns="0" rtlCol="0" anchor="ctr"/>
          <a:lstStyle/>
          <a:p>
            <a:pPr algn="r" indent="0" marL="0">
              <a:buNone/>
            </a:pPr>
            <a:r>
              <a:rPr lang="en-US" sz="1150" b="1" dirty="0">
                <a:solidFill>
                  <a:srgbClr val="FFFFFF"/>
                </a:solidFill>
                <a:latin typeface="Calibri" pitchFamily="34" charset="0"/>
                <a:ea typeface="Calibri" pitchFamily="34" charset="-122"/>
                <a:cs typeface="Calibri" pitchFamily="34" charset="-120"/>
              </a:rPr>
              <a:t>3.6</a:t>
            </a:r>
            <a:endParaRPr lang="en-US" sz="1150" dirty="0"/>
          </a:p>
        </p:txBody>
      </p:sp>
      <p:sp>
        <p:nvSpPr>
          <p:cNvPr id="35" name="Text 33"/>
          <p:cNvSpPr txBox="1"/>
          <p:nvPr/>
        </p:nvSpPr>
        <p:spPr>
          <a:xfrm>
            <a:off x="10241280" y="4306824"/>
            <a:ext cx="1143000" cy="365760"/>
          </a:xfrm>
          <a:prstGeom prst="rect">
            <a:avLst/>
          </a:prstGeom>
          <a:noFill/>
          <a:ln/>
        </p:spPr>
        <p:txBody>
          <a:bodyPr wrap="square" lIns="0" tIns="0" rIns="0" bIns="0" rtlCol="0" anchor="ctr"/>
          <a:lstStyle/>
          <a:p>
            <a:pPr algn="r" indent="0" marL="0">
              <a:buNone/>
            </a:pPr>
            <a:r>
              <a:rPr lang="en-US" sz="1150" b="1" dirty="0">
                <a:solidFill>
                  <a:srgbClr val="C08A2E"/>
                </a:solidFill>
                <a:latin typeface="Calibri" pitchFamily="34" charset="0"/>
                <a:ea typeface="Calibri" pitchFamily="34" charset="-122"/>
                <a:cs typeface="Calibri" pitchFamily="34" charset="-120"/>
              </a:rPr>
              <a:t>11.3</a:t>
            </a:r>
            <a:endParaRPr lang="en-US" sz="1150" dirty="0"/>
          </a:p>
        </p:txBody>
      </p:sp>
      <p:sp>
        <p:nvSpPr>
          <p:cNvPr id="36" name="Shape 34"/>
          <p:cNvSpPr/>
          <p:nvPr/>
        </p:nvSpPr>
        <p:spPr>
          <a:xfrm>
            <a:off x="7040880" y="4718304"/>
            <a:ext cx="4343400" cy="0"/>
          </a:xfrm>
          <a:prstGeom prst="line">
            <a:avLst/>
          </a:prstGeom>
          <a:noFill/>
          <a:ln w="12700">
            <a:solidFill>
              <a:srgbClr val="7A4059"/>
            </a:solidFill>
            <a:prstDash val="solid"/>
          </a:ln>
        </p:spPr>
      </p:sp>
      <p:sp>
        <p:nvSpPr>
          <p:cNvPr id="37" name="Text 35"/>
          <p:cNvSpPr txBox="1"/>
          <p:nvPr/>
        </p:nvSpPr>
        <p:spPr>
          <a:xfrm>
            <a:off x="7040880" y="4782312"/>
            <a:ext cx="2011680" cy="365760"/>
          </a:xfrm>
          <a:prstGeom prst="rect">
            <a:avLst/>
          </a:prstGeom>
          <a:noFill/>
          <a:ln/>
        </p:spPr>
        <p:txBody>
          <a:bodyPr wrap="square" lIns="0" tIns="0" rIns="0" bIns="0" rtlCol="0" anchor="ctr"/>
          <a:lstStyle/>
          <a:p>
            <a:pPr indent="0" marL="0">
              <a:buNone/>
            </a:pPr>
            <a:r>
              <a:rPr lang="en-US" sz="1150" b="1" dirty="0">
                <a:solidFill>
                  <a:srgbClr val="ECE2D0"/>
                </a:solidFill>
                <a:latin typeface="Calibri" pitchFamily="34" charset="0"/>
                <a:ea typeface="Calibri" pitchFamily="34" charset="-122"/>
                <a:cs typeface="Calibri" pitchFamily="34" charset="-120"/>
              </a:rPr>
              <a:t>Avg distinct products</a:t>
            </a:r>
            <a:endParaRPr lang="en-US" sz="1150" dirty="0"/>
          </a:p>
        </p:txBody>
      </p:sp>
      <p:sp>
        <p:nvSpPr>
          <p:cNvPr id="38" name="Text 36"/>
          <p:cNvSpPr txBox="1"/>
          <p:nvPr/>
        </p:nvSpPr>
        <p:spPr>
          <a:xfrm>
            <a:off x="9052560" y="4782312"/>
            <a:ext cx="1143000" cy="365760"/>
          </a:xfrm>
          <a:prstGeom prst="rect">
            <a:avLst/>
          </a:prstGeom>
          <a:noFill/>
          <a:ln/>
        </p:spPr>
        <p:txBody>
          <a:bodyPr wrap="square" lIns="0" tIns="0" rIns="0" bIns="0" rtlCol="0" anchor="ctr"/>
          <a:lstStyle/>
          <a:p>
            <a:pPr algn="r" indent="0" marL="0">
              <a:buNone/>
            </a:pPr>
            <a:r>
              <a:rPr lang="en-US" sz="1150" b="1" dirty="0">
                <a:solidFill>
                  <a:srgbClr val="FFFFFF"/>
                </a:solidFill>
                <a:latin typeface="Calibri" pitchFamily="34" charset="0"/>
                <a:ea typeface="Calibri" pitchFamily="34" charset="-122"/>
                <a:cs typeface="Calibri" pitchFamily="34" charset="-120"/>
              </a:rPr>
              <a:t>44</a:t>
            </a:r>
            <a:endParaRPr lang="en-US" sz="1150" dirty="0"/>
          </a:p>
        </p:txBody>
      </p:sp>
      <p:sp>
        <p:nvSpPr>
          <p:cNvPr id="39" name="Text 37"/>
          <p:cNvSpPr txBox="1"/>
          <p:nvPr/>
        </p:nvSpPr>
        <p:spPr>
          <a:xfrm>
            <a:off x="10241280" y="4782312"/>
            <a:ext cx="1143000" cy="365760"/>
          </a:xfrm>
          <a:prstGeom prst="rect">
            <a:avLst/>
          </a:prstGeom>
          <a:noFill/>
          <a:ln/>
        </p:spPr>
        <p:txBody>
          <a:bodyPr wrap="square" lIns="0" tIns="0" rIns="0" bIns="0" rtlCol="0" anchor="ctr"/>
          <a:lstStyle/>
          <a:p>
            <a:pPr algn="r" indent="0" marL="0">
              <a:buNone/>
            </a:pPr>
            <a:r>
              <a:rPr lang="en-US" sz="1150" b="1" dirty="0">
                <a:solidFill>
                  <a:srgbClr val="C08A2E"/>
                </a:solidFill>
                <a:latin typeface="Calibri" pitchFamily="34" charset="0"/>
                <a:ea typeface="Calibri" pitchFamily="34" charset="-122"/>
                <a:cs typeface="Calibri" pitchFamily="34" charset="-120"/>
              </a:rPr>
              <a:t>112</a:t>
            </a:r>
            <a:endParaRPr lang="en-US" sz="1150" dirty="0"/>
          </a:p>
        </p:txBody>
      </p:sp>
      <p:sp>
        <p:nvSpPr>
          <p:cNvPr id="41" name="Text 38"/>
          <p:cNvSpPr txBox="1"/>
          <p:nvPr/>
        </p:nvSpPr>
        <p:spPr>
          <a:xfrm>
            <a:off x="548640" y="6236208"/>
            <a:ext cx="5486400" cy="274320"/>
          </a:xfrm>
          <a:prstGeom prst="rect">
            <a:avLst/>
          </a:prstGeom>
          <a:noFill/>
          <a:ln/>
        </p:spPr>
        <p:txBody>
          <a:bodyPr wrap="square" lIns="0" tIns="0" rIns="0" bIns="0" rtlCol="0" anchor="ctr"/>
          <a:lstStyle/>
          <a:p>
            <a:pPr indent="0" marL="0">
              <a:buNone/>
            </a:pPr>
            <a:r>
              <a:rPr lang="en-US" sz="950" dirty="0">
                <a:solidFill>
                  <a:srgbClr val="A9989C"/>
                </a:solidFill>
                <a:latin typeface="Calibri" pitchFamily="34" charset="0"/>
                <a:ea typeface="Calibri" pitchFamily="34" charset="-122"/>
                <a:cs typeface="Calibri" pitchFamily="34" charset="-120"/>
              </a:rPr>
              <a:t>Customer 360  ·  Online Retail II</a:t>
            </a:r>
            <a:endParaRPr lang="en-US" sz="950" dirty="0"/>
          </a:p>
        </p:txBody>
      </p:sp>
      <p:sp>
        <p:nvSpPr>
          <p:cNvPr id="42" name="Text 39"/>
          <p:cNvSpPr txBox="1"/>
          <p:nvPr/>
        </p:nvSpPr>
        <p:spPr>
          <a:xfrm>
            <a:off x="10515600" y="6236208"/>
            <a:ext cx="1097280" cy="274320"/>
          </a:xfrm>
          <a:prstGeom prst="rect">
            <a:avLst/>
          </a:prstGeom>
          <a:noFill/>
          <a:ln/>
        </p:spPr>
        <p:txBody>
          <a:bodyPr wrap="square" lIns="0" tIns="0" rIns="0" bIns="0" rtlCol="0" anchor="ctr"/>
          <a:lstStyle/>
          <a:p>
            <a:pPr algn="r" indent="0" marL="0">
              <a:buNone/>
            </a:pPr>
            <a:r>
              <a:rPr lang="en-US" sz="950" b="1" dirty="0">
                <a:solidFill>
                  <a:srgbClr val="A26769"/>
                </a:solidFill>
                <a:latin typeface="Calibri" pitchFamily="34" charset="0"/>
                <a:ea typeface="Calibri" pitchFamily="34" charset="-122"/>
                <a:cs typeface="Calibri" pitchFamily="34" charset="-120"/>
              </a:rPr>
              <a:t>09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408176" cy="274320"/>
          </a:xfrm>
          <a:prstGeom prst="roundRect">
            <a:avLst>
              <a:gd name="adj" fmla="val 46667"/>
            </a:avLst>
          </a:prstGeom>
          <a:solidFill>
            <a:srgbClr val="ECE2D0"/>
          </a:solidFill>
          <a:ln w="12700">
            <a:solidFill>
              <a:srgbClr val="ECE2D0"/>
            </a:solidFill>
            <a:prstDash val="solid"/>
          </a:ln>
        </p:spPr>
      </p:sp>
      <p:sp>
        <p:nvSpPr>
          <p:cNvPr id="3" name="Text 1"/>
          <p:cNvSpPr txBox="1"/>
          <p:nvPr/>
        </p:nvSpPr>
        <p:spPr>
          <a:xfrm>
            <a:off x="548640" y="384048"/>
            <a:ext cx="1408176" cy="274320"/>
          </a:xfrm>
          <a:prstGeom prst="rect">
            <a:avLst/>
          </a:prstGeom>
          <a:noFill/>
          <a:ln/>
        </p:spPr>
        <p:txBody>
          <a:bodyPr wrap="square" lIns="0" tIns="0" rIns="0" bIns="0" rtlCol="0" anchor="ctr"/>
          <a:lstStyle/>
          <a:p>
            <a:pPr algn="ctr" indent="0" marL="0">
              <a:buNone/>
            </a:pPr>
            <a:r>
              <a:rPr lang="en-US" sz="1050" b="1" spc="120" kern="0" dirty="0">
                <a:solidFill>
                  <a:srgbClr val="6D2E46"/>
                </a:solidFill>
                <a:latin typeface="Calibri" pitchFamily="34" charset="0"/>
                <a:ea typeface="Calibri" pitchFamily="34" charset="-122"/>
                <a:cs typeface="Calibri" pitchFamily="34" charset="-120"/>
              </a:rPr>
              <a:t>MODEL SELECTION</a:t>
            </a:r>
            <a:endParaRPr lang="en-US" sz="1050" dirty="0"/>
          </a:p>
        </p:txBody>
      </p:sp>
      <p:sp>
        <p:nvSpPr>
          <p:cNvPr id="4" name="Text 2"/>
          <p:cNvSpPr txBox="1"/>
          <p:nvPr/>
        </p:nvSpPr>
        <p:spPr>
          <a:xfrm>
            <a:off x="548640" y="749808"/>
            <a:ext cx="11064240" cy="658368"/>
          </a:xfrm>
          <a:prstGeom prst="rect">
            <a:avLst/>
          </a:prstGeom>
          <a:noFill/>
          <a:ln/>
        </p:spPr>
        <p:txBody>
          <a:bodyPr wrap="square" lIns="0" tIns="0" rIns="0" bIns="0" rtlCol="0" anchor="ctr"/>
          <a:lstStyle/>
          <a:p>
            <a:pPr indent="0" marL="0">
              <a:buNone/>
            </a:pPr>
            <a:r>
              <a:rPr lang="en-US" sz="3200" b="1" dirty="0">
                <a:solidFill>
                  <a:srgbClr val="2B2124"/>
                </a:solidFill>
                <a:latin typeface="Cambria" pitchFamily="34" charset="0"/>
                <a:ea typeface="Cambria" pitchFamily="34" charset="-122"/>
                <a:cs typeface="Cambria" pitchFamily="34" charset="-120"/>
              </a:rPr>
              <a:t>Six candidates, one protocol</a:t>
            </a:r>
            <a:endParaRPr lang="en-US" sz="3200" dirty="0"/>
          </a:p>
        </p:txBody>
      </p:sp>
      <p:sp>
        <p:nvSpPr>
          <p:cNvPr id="5" name="Text 3"/>
          <p:cNvSpPr txBox="1"/>
          <p:nvPr/>
        </p:nvSpPr>
        <p:spPr>
          <a:xfrm>
            <a:off x="548640" y="1389888"/>
            <a:ext cx="11064240" cy="365760"/>
          </a:xfrm>
          <a:prstGeom prst="rect">
            <a:avLst/>
          </a:prstGeom>
          <a:noFill/>
          <a:ln/>
        </p:spPr>
        <p:txBody>
          <a:bodyPr wrap="square" lIns="0" tIns="0" rIns="0" bIns="0" rtlCol="0" anchor="t"/>
          <a:lstStyle/>
          <a:p>
            <a:pPr indent="0" marL="0">
              <a:buNone/>
            </a:pPr>
            <a:r>
              <a:rPr lang="en-US" sz="1400" dirty="0">
                <a:solidFill>
                  <a:srgbClr val="6B5C60"/>
                </a:solidFill>
                <a:latin typeface="Calibri" pitchFamily="34" charset="0"/>
                <a:ea typeface="Calibri" pitchFamily="34" charset="-122"/>
                <a:cs typeface="Calibri" pitchFamily="34" charset="-120"/>
              </a:rPr>
              <a:t>Five-fold stratified cross-validation on the training set. Ranked by PR-AUC, the right metric for a partially imbalanced target.</a:t>
            </a:r>
            <a:endParaRPr lang="en-US" sz="1400" dirty="0"/>
          </a:p>
        </p:txBody>
      </p:sp>
      <p:graphicFrame>
        <p:nvGraphicFramePr>
          <p:cNvPr id="6" name="Chart 0" descr=""/>
          <p:cNvGraphicFramePr/>
          <p:nvPr/>
        </p:nvGraphicFramePr>
        <p:xfrm>
          <a:off x="548640" y="1965960"/>
          <a:ext cx="7589520" cy="35661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8412480" y="1965960"/>
            <a:ext cx="3200400" cy="3566160"/>
          </a:xfrm>
          <a:prstGeom prst="roundRect">
            <a:avLst>
              <a:gd name="adj" fmla="val 2857"/>
            </a:avLst>
          </a:prstGeom>
          <a:solidFill>
            <a:srgbClr val="F7F2EA"/>
          </a:solidFill>
          <a:ln w="12700">
            <a:solidFill>
              <a:srgbClr val="ECE2D0"/>
            </a:solidFill>
            <a:prstDash val="solid"/>
          </a:ln>
          <a:effectLst>
            <a:outerShdw sx="100000" sy="100000" kx="0" ky="0" algn="bl" rotWithShape="0" blurRad="101600" dist="12700" dir="5400000">
              <a:srgbClr val="000000">
                <a:alpha val="8000"/>
              </a:srgbClr>
            </a:outerShdw>
          </a:effectLst>
        </p:spPr>
      </p:sp>
      <p:sp>
        <p:nvSpPr>
          <p:cNvPr id="8" name="Text 5"/>
          <p:cNvSpPr txBox="1"/>
          <p:nvPr/>
        </p:nvSpPr>
        <p:spPr>
          <a:xfrm>
            <a:off x="8686800" y="2176272"/>
            <a:ext cx="2926080" cy="274320"/>
          </a:xfrm>
          <a:prstGeom prst="rect">
            <a:avLst/>
          </a:prstGeom>
          <a:noFill/>
          <a:ln/>
        </p:spPr>
        <p:txBody>
          <a:bodyPr wrap="square" lIns="0" tIns="0" rIns="0" bIns="0" rtlCol="0" anchor="ctr"/>
          <a:lstStyle/>
          <a:p>
            <a:pPr indent="0" marL="0">
              <a:buNone/>
            </a:pPr>
            <a:r>
              <a:rPr lang="en-US" sz="1300" b="1" dirty="0">
                <a:solidFill>
                  <a:srgbClr val="6D2E46"/>
                </a:solidFill>
                <a:latin typeface="Calibri" pitchFamily="34" charset="0"/>
                <a:ea typeface="Calibri" pitchFamily="34" charset="-122"/>
                <a:cs typeface="Calibri" pitchFamily="34" charset="-120"/>
              </a:rPr>
              <a:t>What the spread tells us</a:t>
            </a:r>
            <a:endParaRPr lang="en-US" sz="1300" dirty="0"/>
          </a:p>
        </p:txBody>
      </p:sp>
      <p:sp>
        <p:nvSpPr>
          <p:cNvPr id="9" name="Shape 6"/>
          <p:cNvSpPr/>
          <p:nvPr/>
        </p:nvSpPr>
        <p:spPr>
          <a:xfrm>
            <a:off x="8686800" y="2660904"/>
            <a:ext cx="128016" cy="128016"/>
          </a:xfrm>
          <a:prstGeom prst="ellipse">
            <a:avLst/>
          </a:prstGeom>
          <a:solidFill>
            <a:srgbClr val="C08A2E"/>
          </a:solidFill>
          <a:ln w="12700">
            <a:solidFill>
              <a:srgbClr val="C08A2E"/>
            </a:solidFill>
            <a:prstDash val="solid"/>
          </a:ln>
        </p:spPr>
      </p:sp>
      <p:sp>
        <p:nvSpPr>
          <p:cNvPr id="10" name="Text 7"/>
          <p:cNvSpPr txBox="1"/>
          <p:nvPr/>
        </p:nvSpPr>
        <p:spPr>
          <a:xfrm>
            <a:off x="8924544" y="2569464"/>
            <a:ext cx="2560320" cy="274320"/>
          </a:xfrm>
          <a:prstGeom prst="rect">
            <a:avLst/>
          </a:prstGeom>
          <a:noFill/>
          <a:ln/>
        </p:spPr>
        <p:txBody>
          <a:bodyPr wrap="square" lIns="0" tIns="0" rIns="0" bIns="0" rtlCol="0" anchor="ctr"/>
          <a:lstStyle/>
          <a:p>
            <a:pPr indent="0" marL="0">
              <a:buNone/>
            </a:pPr>
            <a:r>
              <a:rPr lang="en-US" sz="1200" b="1" dirty="0">
                <a:solidFill>
                  <a:srgbClr val="2B2124"/>
                </a:solidFill>
                <a:latin typeface="Calibri" pitchFamily="34" charset="0"/>
                <a:ea typeface="Calibri" pitchFamily="34" charset="-122"/>
                <a:cs typeface="Calibri" pitchFamily="34" charset="-120"/>
              </a:rPr>
              <a:t>The models agree</a:t>
            </a:r>
            <a:endParaRPr lang="en-US" sz="1200" dirty="0"/>
          </a:p>
        </p:txBody>
      </p:sp>
      <p:sp>
        <p:nvSpPr>
          <p:cNvPr id="11" name="Text 8"/>
          <p:cNvSpPr txBox="1"/>
          <p:nvPr/>
        </p:nvSpPr>
        <p:spPr>
          <a:xfrm>
            <a:off x="8924544" y="2825496"/>
            <a:ext cx="2560320" cy="731520"/>
          </a:xfrm>
          <a:prstGeom prst="rect">
            <a:avLst/>
          </a:prstGeom>
          <a:noFill/>
          <a:ln/>
        </p:spPr>
        <p:txBody>
          <a:bodyPr wrap="square" lIns="0" tIns="0" rIns="0" bIns="0" rtlCol="0" anchor="ctr"/>
          <a:lstStyle/>
          <a:p>
            <a:pPr indent="0" marL="0">
              <a:buNone/>
            </a:pPr>
            <a:r>
              <a:rPr lang="en-US" sz="1050" dirty="0">
                <a:solidFill>
                  <a:srgbClr val="6B5C60"/>
                </a:solidFill>
                <a:latin typeface="Calibri" pitchFamily="34" charset="0"/>
                <a:ea typeface="Calibri" pitchFamily="34" charset="-122"/>
                <a:cs typeface="Calibri" pitchFamily="34" charset="-120"/>
              </a:rPr>
              <a:t>Every candidate lands within 0.02 PR-AUC. The signal is in the features, not the algorithm.</a:t>
            </a:r>
            <a:endParaRPr lang="en-US" sz="1050" dirty="0"/>
          </a:p>
        </p:txBody>
      </p:sp>
      <p:sp>
        <p:nvSpPr>
          <p:cNvPr id="12" name="Shape 9"/>
          <p:cNvSpPr/>
          <p:nvPr/>
        </p:nvSpPr>
        <p:spPr>
          <a:xfrm>
            <a:off x="8686800" y="3648456"/>
            <a:ext cx="128016" cy="128016"/>
          </a:xfrm>
          <a:prstGeom prst="ellipse">
            <a:avLst/>
          </a:prstGeom>
          <a:solidFill>
            <a:srgbClr val="C08A2E"/>
          </a:solidFill>
          <a:ln w="12700">
            <a:solidFill>
              <a:srgbClr val="C08A2E"/>
            </a:solidFill>
            <a:prstDash val="solid"/>
          </a:ln>
        </p:spPr>
      </p:sp>
      <p:sp>
        <p:nvSpPr>
          <p:cNvPr id="13" name="Text 10"/>
          <p:cNvSpPr txBox="1"/>
          <p:nvPr/>
        </p:nvSpPr>
        <p:spPr>
          <a:xfrm>
            <a:off x="8924544" y="3557016"/>
            <a:ext cx="2560320" cy="274320"/>
          </a:xfrm>
          <a:prstGeom prst="rect">
            <a:avLst/>
          </a:prstGeom>
          <a:noFill/>
          <a:ln/>
        </p:spPr>
        <p:txBody>
          <a:bodyPr wrap="square" lIns="0" tIns="0" rIns="0" bIns="0" rtlCol="0" anchor="ctr"/>
          <a:lstStyle/>
          <a:p>
            <a:pPr indent="0" marL="0">
              <a:buNone/>
            </a:pPr>
            <a:r>
              <a:rPr lang="en-US" sz="1200" b="1" dirty="0">
                <a:solidFill>
                  <a:srgbClr val="2B2124"/>
                </a:solidFill>
                <a:latin typeface="Calibri" pitchFamily="34" charset="0"/>
                <a:ea typeface="Calibri" pitchFamily="34" charset="-122"/>
                <a:cs typeface="Calibri" pitchFamily="34" charset="-120"/>
              </a:rPr>
              <a:t>The MLP does not win</a:t>
            </a:r>
            <a:endParaRPr lang="en-US" sz="1200" dirty="0"/>
          </a:p>
        </p:txBody>
      </p:sp>
      <p:sp>
        <p:nvSpPr>
          <p:cNvPr id="14" name="Text 11"/>
          <p:cNvSpPr txBox="1"/>
          <p:nvPr/>
        </p:nvSpPr>
        <p:spPr>
          <a:xfrm>
            <a:off x="8924544" y="3813048"/>
            <a:ext cx="2560320" cy="731520"/>
          </a:xfrm>
          <a:prstGeom prst="rect">
            <a:avLst/>
          </a:prstGeom>
          <a:noFill/>
          <a:ln/>
        </p:spPr>
        <p:txBody>
          <a:bodyPr wrap="square" lIns="0" tIns="0" rIns="0" bIns="0" rtlCol="0" anchor="ctr"/>
          <a:lstStyle/>
          <a:p>
            <a:pPr indent="0" marL="0">
              <a:buNone/>
            </a:pPr>
            <a:r>
              <a:rPr lang="en-US" sz="1050" dirty="0">
                <a:solidFill>
                  <a:srgbClr val="6B5C60"/>
                </a:solidFill>
                <a:latin typeface="Calibri" pitchFamily="34" charset="0"/>
                <a:ea typeface="Calibri" pitchFamily="34" charset="-122"/>
                <a:cs typeface="Calibri" pitchFamily="34" charset="-120"/>
              </a:rPr>
              <a:t>Neural nets need richer or sequential inputs to beat a tuned ensemble on eight tabular features.</a:t>
            </a:r>
            <a:endParaRPr lang="en-US" sz="1050" dirty="0"/>
          </a:p>
        </p:txBody>
      </p:sp>
      <p:sp>
        <p:nvSpPr>
          <p:cNvPr id="15" name="Shape 12"/>
          <p:cNvSpPr/>
          <p:nvPr/>
        </p:nvSpPr>
        <p:spPr>
          <a:xfrm>
            <a:off x="8686800" y="4636008"/>
            <a:ext cx="128016" cy="128016"/>
          </a:xfrm>
          <a:prstGeom prst="ellipse">
            <a:avLst/>
          </a:prstGeom>
          <a:solidFill>
            <a:srgbClr val="C08A2E"/>
          </a:solidFill>
          <a:ln w="12700">
            <a:solidFill>
              <a:srgbClr val="C08A2E"/>
            </a:solidFill>
            <a:prstDash val="solid"/>
          </a:ln>
        </p:spPr>
      </p:sp>
      <p:sp>
        <p:nvSpPr>
          <p:cNvPr id="16" name="Text 13"/>
          <p:cNvSpPr txBox="1"/>
          <p:nvPr/>
        </p:nvSpPr>
        <p:spPr>
          <a:xfrm>
            <a:off x="8924544" y="4544568"/>
            <a:ext cx="2560320" cy="274320"/>
          </a:xfrm>
          <a:prstGeom prst="rect">
            <a:avLst/>
          </a:prstGeom>
          <a:noFill/>
          <a:ln/>
        </p:spPr>
        <p:txBody>
          <a:bodyPr wrap="square" lIns="0" tIns="0" rIns="0" bIns="0" rtlCol="0" anchor="ctr"/>
          <a:lstStyle/>
          <a:p>
            <a:pPr indent="0" marL="0">
              <a:buNone/>
            </a:pPr>
            <a:r>
              <a:rPr lang="en-US" sz="1200" b="1" dirty="0">
                <a:solidFill>
                  <a:srgbClr val="2B2124"/>
                </a:solidFill>
                <a:latin typeface="Calibri" pitchFamily="34" charset="0"/>
                <a:ea typeface="Calibri" pitchFamily="34" charset="-122"/>
                <a:cs typeface="Calibri" pitchFamily="34" charset="-120"/>
              </a:rPr>
              <a:t>Gradient Boosting selected</a:t>
            </a:r>
            <a:endParaRPr lang="en-US" sz="1200" dirty="0"/>
          </a:p>
        </p:txBody>
      </p:sp>
      <p:sp>
        <p:nvSpPr>
          <p:cNvPr id="17" name="Text 14"/>
          <p:cNvSpPr txBox="1"/>
          <p:nvPr/>
        </p:nvSpPr>
        <p:spPr>
          <a:xfrm>
            <a:off x="8924544" y="4800600"/>
            <a:ext cx="2560320" cy="731520"/>
          </a:xfrm>
          <a:prstGeom prst="rect">
            <a:avLst/>
          </a:prstGeom>
          <a:noFill/>
          <a:ln/>
        </p:spPr>
        <p:txBody>
          <a:bodyPr wrap="square" lIns="0" tIns="0" rIns="0" bIns="0" rtlCol="0" anchor="ctr"/>
          <a:lstStyle/>
          <a:p>
            <a:pPr indent="0" marL="0">
              <a:buNone/>
            </a:pPr>
            <a:r>
              <a:rPr lang="en-US" sz="1050" dirty="0">
                <a:solidFill>
                  <a:srgbClr val="6B5C60"/>
                </a:solidFill>
                <a:latin typeface="Calibri" pitchFamily="34" charset="0"/>
                <a:ea typeface="Calibri" pitchFamily="34" charset="-122"/>
                <a:cs typeface="Calibri" pitchFamily="34" charset="-120"/>
              </a:rPr>
              <a:t>Best mean PR-AUC, and cheap to tune and explain.</a:t>
            </a:r>
            <a:endParaRPr lang="en-US" sz="1050" dirty="0"/>
          </a:p>
        </p:txBody>
      </p:sp>
      <p:sp>
        <p:nvSpPr>
          <p:cNvPr id="19" name="Text 15"/>
          <p:cNvSpPr txBox="1"/>
          <p:nvPr/>
        </p:nvSpPr>
        <p:spPr>
          <a:xfrm>
            <a:off x="548640" y="6236208"/>
            <a:ext cx="5486400" cy="274320"/>
          </a:xfrm>
          <a:prstGeom prst="rect">
            <a:avLst/>
          </a:prstGeom>
          <a:noFill/>
          <a:ln/>
        </p:spPr>
        <p:txBody>
          <a:bodyPr wrap="square" lIns="0" tIns="0" rIns="0" bIns="0" rtlCol="0" anchor="ctr"/>
          <a:lstStyle/>
          <a:p>
            <a:pPr indent="0" marL="0">
              <a:buNone/>
            </a:pPr>
            <a:r>
              <a:rPr lang="en-US" sz="950" dirty="0">
                <a:solidFill>
                  <a:srgbClr val="A9989C"/>
                </a:solidFill>
                <a:latin typeface="Calibri" pitchFamily="34" charset="0"/>
                <a:ea typeface="Calibri" pitchFamily="34" charset="-122"/>
                <a:cs typeface="Calibri" pitchFamily="34" charset="-120"/>
              </a:rPr>
              <a:t>Customer 360  ·  Online Retail II</a:t>
            </a:r>
            <a:endParaRPr lang="en-US" sz="950" dirty="0"/>
          </a:p>
        </p:txBody>
      </p:sp>
      <p:sp>
        <p:nvSpPr>
          <p:cNvPr id="20" name="Text 16"/>
          <p:cNvSpPr txBox="1"/>
          <p:nvPr/>
        </p:nvSpPr>
        <p:spPr>
          <a:xfrm>
            <a:off x="10515600" y="6236208"/>
            <a:ext cx="1097280" cy="274320"/>
          </a:xfrm>
          <a:prstGeom prst="rect">
            <a:avLst/>
          </a:prstGeom>
          <a:noFill/>
          <a:ln/>
        </p:spPr>
        <p:txBody>
          <a:bodyPr wrap="square" lIns="0" tIns="0" rIns="0" bIns="0" rtlCol="0" anchor="ctr"/>
          <a:lstStyle/>
          <a:p>
            <a:pPr algn="r" indent="0" marL="0">
              <a:buNone/>
            </a:pPr>
            <a:r>
              <a:rPr lang="en-US" sz="950" b="1" dirty="0">
                <a:solidFill>
                  <a:srgbClr val="A26769"/>
                </a:solidFill>
                <a:latin typeface="Calibri" pitchFamily="34" charset="0"/>
                <a:ea typeface="Calibri" pitchFamily="34" charset="-122"/>
                <a:cs typeface="Calibri" pitchFamily="34" charset="-120"/>
              </a:rPr>
              <a:t>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43172B"/>
        </a:solidFill>
      </p:bgPr>
    </p:bg>
    <p:spTree>
      <p:nvGrpSpPr>
        <p:cNvPr id="1" name=""/>
        <p:cNvGrpSpPr/>
        <p:nvPr/>
      </p:nvGrpSpPr>
      <p:grpSpPr>
        <a:xfrm>
          <a:off x="0" y="0"/>
          <a:ext cx="0" cy="0"/>
          <a:chOff x="0" y="0"/>
          <a:chExt cx="0" cy="0"/>
        </a:xfrm>
      </p:grpSpPr>
      <p:sp>
        <p:nvSpPr>
          <p:cNvPr id="2" name="Shape 0"/>
          <p:cNvSpPr/>
          <p:nvPr/>
        </p:nvSpPr>
        <p:spPr>
          <a:xfrm>
            <a:off x="548640" y="384048"/>
            <a:ext cx="764438" cy="274320"/>
          </a:xfrm>
          <a:prstGeom prst="roundRect">
            <a:avLst>
              <a:gd name="adj" fmla="val 46667"/>
            </a:avLst>
          </a:prstGeom>
          <a:solidFill>
            <a:srgbClr val="C08A2E"/>
          </a:solidFill>
          <a:ln w="12700">
            <a:solidFill>
              <a:srgbClr val="C08A2E"/>
            </a:solidFill>
            <a:prstDash val="solid"/>
          </a:ln>
        </p:spPr>
      </p:sp>
      <p:sp>
        <p:nvSpPr>
          <p:cNvPr id="3" name="Text 1"/>
          <p:cNvSpPr txBox="1"/>
          <p:nvPr/>
        </p:nvSpPr>
        <p:spPr>
          <a:xfrm>
            <a:off x="548640" y="384048"/>
            <a:ext cx="764438" cy="274320"/>
          </a:xfrm>
          <a:prstGeom prst="rect">
            <a:avLst/>
          </a:prstGeom>
          <a:noFill/>
          <a:ln/>
        </p:spPr>
        <p:txBody>
          <a:bodyPr wrap="square" lIns="0" tIns="0" rIns="0" bIns="0" rtlCol="0" anchor="ctr"/>
          <a:lstStyle/>
          <a:p>
            <a:pPr algn="ctr" indent="0" marL="0">
              <a:buNone/>
            </a:pPr>
            <a:r>
              <a:rPr lang="en-US" sz="1050" b="1" spc="120" kern="0" dirty="0">
                <a:solidFill>
                  <a:srgbClr val="6D2E46"/>
                </a:solidFill>
                <a:latin typeface="Calibri" pitchFamily="34" charset="0"/>
                <a:ea typeface="Calibri" pitchFamily="34" charset="-122"/>
                <a:cs typeface="Calibri" pitchFamily="34" charset="-120"/>
              </a:rPr>
              <a:t>RESULTS</a:t>
            </a:r>
            <a:endParaRPr lang="en-US" sz="1050" dirty="0"/>
          </a:p>
        </p:txBody>
      </p:sp>
      <p:sp>
        <p:nvSpPr>
          <p:cNvPr id="4" name="Text 2"/>
          <p:cNvSpPr txBox="1"/>
          <p:nvPr/>
        </p:nvSpPr>
        <p:spPr>
          <a:xfrm>
            <a:off x="548640" y="749808"/>
            <a:ext cx="11064240" cy="658368"/>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Champion model on the held-out test set</a:t>
            </a:r>
            <a:endParaRPr lang="en-US" sz="3200" dirty="0"/>
          </a:p>
        </p:txBody>
      </p:sp>
      <p:sp>
        <p:nvSpPr>
          <p:cNvPr id="5" name="Text 3"/>
          <p:cNvSpPr txBox="1"/>
          <p:nvPr/>
        </p:nvSpPr>
        <p:spPr>
          <a:xfrm>
            <a:off x="548640" y="1389888"/>
            <a:ext cx="11064240" cy="365760"/>
          </a:xfrm>
          <a:prstGeom prst="rect">
            <a:avLst/>
          </a:prstGeom>
          <a:noFill/>
          <a:ln/>
        </p:spPr>
        <p:txBody>
          <a:bodyPr wrap="square" lIns="0" tIns="0" rIns="0" bIns="0" rtlCol="0" anchor="t"/>
          <a:lstStyle/>
          <a:p>
            <a:pPr indent="0" marL="0">
              <a:buNone/>
            </a:pPr>
            <a:r>
              <a:rPr lang="en-US" sz="1400" dirty="0">
                <a:solidFill>
                  <a:srgbClr val="D3ABB1"/>
                </a:solidFill>
                <a:latin typeface="Calibri" pitchFamily="34" charset="0"/>
                <a:ea typeface="Calibri" pitchFamily="34" charset="-122"/>
                <a:cs typeface="Calibri" pitchFamily="34" charset="-120"/>
              </a:rPr>
              <a:t>Gradient Boosting — 100 estimators, learning rate 0.05, max depth 3. Evaluated once, on data never used for selection.</a:t>
            </a:r>
            <a:endParaRPr lang="en-US" sz="1400" dirty="0"/>
          </a:p>
        </p:txBody>
      </p:sp>
      <p:sp>
        <p:nvSpPr>
          <p:cNvPr id="6" name="Shape 4"/>
          <p:cNvSpPr/>
          <p:nvPr/>
        </p:nvSpPr>
        <p:spPr>
          <a:xfrm>
            <a:off x="548640" y="2103120"/>
            <a:ext cx="2103120" cy="1691640"/>
          </a:xfrm>
          <a:prstGeom prst="roundRect">
            <a:avLst>
              <a:gd name="adj" fmla="val 5405"/>
            </a:avLst>
          </a:prstGeom>
          <a:solidFill>
            <a:srgbClr val="6D2E46"/>
          </a:solidFill>
          <a:ln w="12700">
            <a:solidFill>
              <a:srgbClr val="5A2539"/>
            </a:solidFill>
            <a:prstDash val="solid"/>
          </a:ln>
        </p:spPr>
      </p:sp>
      <p:sp>
        <p:nvSpPr>
          <p:cNvPr id="7" name="Text 5"/>
          <p:cNvSpPr txBox="1"/>
          <p:nvPr/>
        </p:nvSpPr>
        <p:spPr>
          <a:xfrm>
            <a:off x="713232" y="2286000"/>
            <a:ext cx="1773936" cy="5943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0.800</a:t>
            </a:r>
            <a:endParaRPr lang="en-US" sz="3000" dirty="0"/>
          </a:p>
        </p:txBody>
      </p:sp>
      <p:sp>
        <p:nvSpPr>
          <p:cNvPr id="8" name="Text 6"/>
          <p:cNvSpPr txBox="1"/>
          <p:nvPr/>
        </p:nvSpPr>
        <p:spPr>
          <a:xfrm>
            <a:off x="713232" y="2862072"/>
            <a:ext cx="1773936" cy="274320"/>
          </a:xfrm>
          <a:prstGeom prst="rect">
            <a:avLst/>
          </a:prstGeom>
          <a:noFill/>
          <a:ln/>
        </p:spPr>
        <p:txBody>
          <a:bodyPr wrap="square" lIns="0" tIns="0" rIns="0" bIns="0" rtlCol="0" anchor="ctr"/>
          <a:lstStyle/>
          <a:p>
            <a:pPr indent="0" marL="0">
              <a:buNone/>
            </a:pPr>
            <a:r>
              <a:rPr lang="en-US" sz="1250" b="1" dirty="0">
                <a:solidFill>
                  <a:srgbClr val="ECE2D0"/>
                </a:solidFill>
                <a:latin typeface="Calibri" pitchFamily="34" charset="0"/>
                <a:ea typeface="Calibri" pitchFamily="34" charset="-122"/>
                <a:cs typeface="Calibri" pitchFamily="34" charset="-120"/>
              </a:rPr>
              <a:t>ROC-AUC</a:t>
            </a:r>
            <a:endParaRPr lang="en-US" sz="1250" dirty="0"/>
          </a:p>
        </p:txBody>
      </p:sp>
      <p:sp>
        <p:nvSpPr>
          <p:cNvPr id="9" name="Text 7"/>
          <p:cNvSpPr txBox="1"/>
          <p:nvPr/>
        </p:nvSpPr>
        <p:spPr>
          <a:xfrm>
            <a:off x="713232" y="3127248"/>
            <a:ext cx="1773936" cy="457200"/>
          </a:xfrm>
          <a:prstGeom prst="rect">
            <a:avLst/>
          </a:prstGeom>
          <a:noFill/>
          <a:ln/>
        </p:spPr>
        <p:txBody>
          <a:bodyPr wrap="square" lIns="0" tIns="0" rIns="0" bIns="0" rtlCol="0" anchor="ctr"/>
          <a:lstStyle/>
          <a:p>
            <a:pPr indent="0" marL="0">
              <a:buNone/>
            </a:pPr>
            <a:r>
              <a:rPr lang="en-US" sz="1000" dirty="0">
                <a:solidFill>
                  <a:srgbClr val="D3ABB1"/>
                </a:solidFill>
                <a:latin typeface="Calibri" pitchFamily="34" charset="0"/>
                <a:ea typeface="Calibri" pitchFamily="34" charset="-122"/>
                <a:cs typeface="Calibri" pitchFamily="34" charset="-120"/>
              </a:rPr>
              <a:t>ranking quality</a:t>
            </a:r>
            <a:endParaRPr lang="en-US" sz="1000" dirty="0"/>
          </a:p>
        </p:txBody>
      </p:sp>
      <p:sp>
        <p:nvSpPr>
          <p:cNvPr id="10" name="Shape 8"/>
          <p:cNvSpPr/>
          <p:nvPr/>
        </p:nvSpPr>
        <p:spPr>
          <a:xfrm>
            <a:off x="2852928" y="2103120"/>
            <a:ext cx="2103120" cy="1691640"/>
          </a:xfrm>
          <a:prstGeom prst="roundRect">
            <a:avLst>
              <a:gd name="adj" fmla="val 5405"/>
            </a:avLst>
          </a:prstGeom>
          <a:solidFill>
            <a:srgbClr val="C08A2E"/>
          </a:solidFill>
          <a:ln w="12700">
            <a:solidFill>
              <a:srgbClr val="C08A2E"/>
            </a:solidFill>
            <a:prstDash val="solid"/>
          </a:ln>
        </p:spPr>
      </p:sp>
      <p:sp>
        <p:nvSpPr>
          <p:cNvPr id="11" name="Text 9"/>
          <p:cNvSpPr txBox="1"/>
          <p:nvPr/>
        </p:nvSpPr>
        <p:spPr>
          <a:xfrm>
            <a:off x="3017520" y="2286000"/>
            <a:ext cx="1773936" cy="594360"/>
          </a:xfrm>
          <a:prstGeom prst="rect">
            <a:avLst/>
          </a:prstGeom>
          <a:noFill/>
          <a:ln/>
        </p:spPr>
        <p:txBody>
          <a:bodyPr wrap="square" lIns="0" tIns="0" rIns="0" bIns="0" rtlCol="0" anchor="ctr"/>
          <a:lstStyle/>
          <a:p>
            <a:pPr indent="0" marL="0">
              <a:buNone/>
            </a:pPr>
            <a:r>
              <a:rPr lang="en-US" sz="3000" b="1" dirty="0">
                <a:solidFill>
                  <a:srgbClr val="43172B"/>
                </a:solidFill>
                <a:latin typeface="Cambria" pitchFamily="34" charset="0"/>
                <a:ea typeface="Cambria" pitchFamily="34" charset="-122"/>
                <a:cs typeface="Cambria" pitchFamily="34" charset="-120"/>
              </a:rPr>
              <a:t>0.772</a:t>
            </a:r>
            <a:endParaRPr lang="en-US" sz="3000" dirty="0"/>
          </a:p>
        </p:txBody>
      </p:sp>
      <p:sp>
        <p:nvSpPr>
          <p:cNvPr id="12" name="Text 10"/>
          <p:cNvSpPr txBox="1"/>
          <p:nvPr/>
        </p:nvSpPr>
        <p:spPr>
          <a:xfrm>
            <a:off x="3017520" y="2862072"/>
            <a:ext cx="1773936" cy="274320"/>
          </a:xfrm>
          <a:prstGeom prst="rect">
            <a:avLst/>
          </a:prstGeom>
          <a:noFill/>
          <a:ln/>
        </p:spPr>
        <p:txBody>
          <a:bodyPr wrap="square" lIns="0" tIns="0" rIns="0" bIns="0" rtlCol="0" anchor="ctr"/>
          <a:lstStyle/>
          <a:p>
            <a:pPr indent="0" marL="0">
              <a:buNone/>
            </a:pPr>
            <a:r>
              <a:rPr lang="en-US" sz="1250" b="1" dirty="0">
                <a:solidFill>
                  <a:srgbClr val="43172B"/>
                </a:solidFill>
                <a:latin typeface="Calibri" pitchFamily="34" charset="0"/>
                <a:ea typeface="Calibri" pitchFamily="34" charset="-122"/>
                <a:cs typeface="Calibri" pitchFamily="34" charset="-120"/>
              </a:rPr>
              <a:t>PR-AUC</a:t>
            </a:r>
            <a:endParaRPr lang="en-US" sz="1250" dirty="0"/>
          </a:p>
        </p:txBody>
      </p:sp>
      <p:sp>
        <p:nvSpPr>
          <p:cNvPr id="13" name="Text 11"/>
          <p:cNvSpPr txBox="1"/>
          <p:nvPr/>
        </p:nvSpPr>
        <p:spPr>
          <a:xfrm>
            <a:off x="3017520" y="3127248"/>
            <a:ext cx="1773936" cy="457200"/>
          </a:xfrm>
          <a:prstGeom prst="rect">
            <a:avLst/>
          </a:prstGeom>
          <a:noFill/>
          <a:ln/>
        </p:spPr>
        <p:txBody>
          <a:bodyPr wrap="square" lIns="0" tIns="0" rIns="0" bIns="0" rtlCol="0" anchor="ctr"/>
          <a:lstStyle/>
          <a:p>
            <a:pPr indent="0" marL="0">
              <a:buNone/>
            </a:pPr>
            <a:r>
              <a:rPr lang="en-US" sz="1000" dirty="0">
                <a:solidFill>
                  <a:srgbClr val="6B4A1E"/>
                </a:solidFill>
                <a:latin typeface="Calibri" pitchFamily="34" charset="0"/>
                <a:ea typeface="Calibri" pitchFamily="34" charset="-122"/>
                <a:cs typeface="Calibri" pitchFamily="34" charset="-120"/>
              </a:rPr>
              <a:t>primary metric</a:t>
            </a:r>
            <a:endParaRPr lang="en-US" sz="1000" dirty="0"/>
          </a:p>
        </p:txBody>
      </p:sp>
      <p:sp>
        <p:nvSpPr>
          <p:cNvPr id="14" name="Shape 12"/>
          <p:cNvSpPr/>
          <p:nvPr/>
        </p:nvSpPr>
        <p:spPr>
          <a:xfrm>
            <a:off x="5157216" y="2103120"/>
            <a:ext cx="2103120" cy="1691640"/>
          </a:xfrm>
          <a:prstGeom prst="roundRect">
            <a:avLst>
              <a:gd name="adj" fmla="val 5405"/>
            </a:avLst>
          </a:prstGeom>
          <a:solidFill>
            <a:srgbClr val="6D2E46"/>
          </a:solidFill>
          <a:ln w="12700">
            <a:solidFill>
              <a:srgbClr val="5A2539"/>
            </a:solidFill>
            <a:prstDash val="solid"/>
          </a:ln>
        </p:spPr>
      </p:sp>
      <p:sp>
        <p:nvSpPr>
          <p:cNvPr id="15" name="Text 13"/>
          <p:cNvSpPr txBox="1"/>
          <p:nvPr/>
        </p:nvSpPr>
        <p:spPr>
          <a:xfrm>
            <a:off x="5321808" y="2286000"/>
            <a:ext cx="1773936" cy="5943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0.714</a:t>
            </a:r>
            <a:endParaRPr lang="en-US" sz="3000" dirty="0"/>
          </a:p>
        </p:txBody>
      </p:sp>
      <p:sp>
        <p:nvSpPr>
          <p:cNvPr id="16" name="Text 14"/>
          <p:cNvSpPr txBox="1"/>
          <p:nvPr/>
        </p:nvSpPr>
        <p:spPr>
          <a:xfrm>
            <a:off x="5321808" y="2862072"/>
            <a:ext cx="1773936" cy="274320"/>
          </a:xfrm>
          <a:prstGeom prst="rect">
            <a:avLst/>
          </a:prstGeom>
          <a:noFill/>
          <a:ln/>
        </p:spPr>
        <p:txBody>
          <a:bodyPr wrap="square" lIns="0" tIns="0" rIns="0" bIns="0" rtlCol="0" anchor="ctr"/>
          <a:lstStyle/>
          <a:p>
            <a:pPr indent="0" marL="0">
              <a:buNone/>
            </a:pPr>
            <a:r>
              <a:rPr lang="en-US" sz="1250" b="1" dirty="0">
                <a:solidFill>
                  <a:srgbClr val="ECE2D0"/>
                </a:solidFill>
                <a:latin typeface="Calibri" pitchFamily="34" charset="0"/>
                <a:ea typeface="Calibri" pitchFamily="34" charset="-122"/>
                <a:cs typeface="Calibri" pitchFamily="34" charset="-120"/>
              </a:rPr>
              <a:t>Precision</a:t>
            </a:r>
            <a:endParaRPr lang="en-US" sz="1250" dirty="0"/>
          </a:p>
        </p:txBody>
      </p:sp>
      <p:sp>
        <p:nvSpPr>
          <p:cNvPr id="17" name="Text 15"/>
          <p:cNvSpPr txBox="1"/>
          <p:nvPr/>
        </p:nvSpPr>
        <p:spPr>
          <a:xfrm>
            <a:off x="5321808" y="3127248"/>
            <a:ext cx="1773936" cy="457200"/>
          </a:xfrm>
          <a:prstGeom prst="rect">
            <a:avLst/>
          </a:prstGeom>
          <a:noFill/>
          <a:ln/>
        </p:spPr>
        <p:txBody>
          <a:bodyPr wrap="square" lIns="0" tIns="0" rIns="0" bIns="0" rtlCol="0" anchor="ctr"/>
          <a:lstStyle/>
          <a:p>
            <a:pPr indent="0" marL="0">
              <a:buNone/>
            </a:pPr>
            <a:r>
              <a:rPr lang="en-US" sz="1000" dirty="0">
                <a:solidFill>
                  <a:srgbClr val="D3ABB1"/>
                </a:solidFill>
                <a:latin typeface="Calibri" pitchFamily="34" charset="0"/>
                <a:ea typeface="Calibri" pitchFamily="34" charset="-122"/>
                <a:cs typeface="Calibri" pitchFamily="34" charset="-120"/>
              </a:rPr>
              <a:t>of flagged customers</a:t>
            </a:r>
            <a:endParaRPr lang="en-US" sz="1000" dirty="0"/>
          </a:p>
        </p:txBody>
      </p:sp>
      <p:sp>
        <p:nvSpPr>
          <p:cNvPr id="18" name="Shape 16"/>
          <p:cNvSpPr/>
          <p:nvPr/>
        </p:nvSpPr>
        <p:spPr>
          <a:xfrm>
            <a:off x="7461504" y="2103120"/>
            <a:ext cx="2103120" cy="1691640"/>
          </a:xfrm>
          <a:prstGeom prst="roundRect">
            <a:avLst>
              <a:gd name="adj" fmla="val 5405"/>
            </a:avLst>
          </a:prstGeom>
          <a:solidFill>
            <a:srgbClr val="6D2E46"/>
          </a:solidFill>
          <a:ln w="12700">
            <a:solidFill>
              <a:srgbClr val="5A2539"/>
            </a:solidFill>
            <a:prstDash val="solid"/>
          </a:ln>
        </p:spPr>
      </p:sp>
      <p:sp>
        <p:nvSpPr>
          <p:cNvPr id="19" name="Text 17"/>
          <p:cNvSpPr txBox="1"/>
          <p:nvPr/>
        </p:nvSpPr>
        <p:spPr>
          <a:xfrm>
            <a:off x="7626096" y="2286000"/>
            <a:ext cx="1773936" cy="5943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0.622</a:t>
            </a:r>
            <a:endParaRPr lang="en-US" sz="3000" dirty="0"/>
          </a:p>
        </p:txBody>
      </p:sp>
      <p:sp>
        <p:nvSpPr>
          <p:cNvPr id="20" name="Text 18"/>
          <p:cNvSpPr txBox="1"/>
          <p:nvPr/>
        </p:nvSpPr>
        <p:spPr>
          <a:xfrm>
            <a:off x="7626096" y="2862072"/>
            <a:ext cx="1773936" cy="274320"/>
          </a:xfrm>
          <a:prstGeom prst="rect">
            <a:avLst/>
          </a:prstGeom>
          <a:noFill/>
          <a:ln/>
        </p:spPr>
        <p:txBody>
          <a:bodyPr wrap="square" lIns="0" tIns="0" rIns="0" bIns="0" rtlCol="0" anchor="ctr"/>
          <a:lstStyle/>
          <a:p>
            <a:pPr indent="0" marL="0">
              <a:buNone/>
            </a:pPr>
            <a:r>
              <a:rPr lang="en-US" sz="1250" b="1" dirty="0">
                <a:solidFill>
                  <a:srgbClr val="ECE2D0"/>
                </a:solidFill>
                <a:latin typeface="Calibri" pitchFamily="34" charset="0"/>
                <a:ea typeface="Calibri" pitchFamily="34" charset="-122"/>
                <a:cs typeface="Calibri" pitchFamily="34" charset="-120"/>
              </a:rPr>
              <a:t>Recall</a:t>
            </a:r>
            <a:endParaRPr lang="en-US" sz="1250" dirty="0"/>
          </a:p>
        </p:txBody>
      </p:sp>
      <p:sp>
        <p:nvSpPr>
          <p:cNvPr id="21" name="Text 19"/>
          <p:cNvSpPr txBox="1"/>
          <p:nvPr/>
        </p:nvSpPr>
        <p:spPr>
          <a:xfrm>
            <a:off x="7626096" y="3127248"/>
            <a:ext cx="1773936" cy="457200"/>
          </a:xfrm>
          <a:prstGeom prst="rect">
            <a:avLst/>
          </a:prstGeom>
          <a:noFill/>
          <a:ln/>
        </p:spPr>
        <p:txBody>
          <a:bodyPr wrap="square" lIns="0" tIns="0" rIns="0" bIns="0" rtlCol="0" anchor="ctr"/>
          <a:lstStyle/>
          <a:p>
            <a:pPr indent="0" marL="0">
              <a:buNone/>
            </a:pPr>
            <a:r>
              <a:rPr lang="en-US" sz="1000" dirty="0">
                <a:solidFill>
                  <a:srgbClr val="D3ABB1"/>
                </a:solidFill>
                <a:latin typeface="Calibri" pitchFamily="34" charset="0"/>
                <a:ea typeface="Calibri" pitchFamily="34" charset="-122"/>
                <a:cs typeface="Calibri" pitchFamily="34" charset="-120"/>
              </a:rPr>
              <a:t>of true repeaters</a:t>
            </a:r>
            <a:endParaRPr lang="en-US" sz="1000" dirty="0"/>
          </a:p>
        </p:txBody>
      </p:sp>
      <p:sp>
        <p:nvSpPr>
          <p:cNvPr id="22" name="Shape 20"/>
          <p:cNvSpPr/>
          <p:nvPr/>
        </p:nvSpPr>
        <p:spPr>
          <a:xfrm>
            <a:off x="9765792" y="2103120"/>
            <a:ext cx="2103120" cy="1691640"/>
          </a:xfrm>
          <a:prstGeom prst="roundRect">
            <a:avLst>
              <a:gd name="adj" fmla="val 5405"/>
            </a:avLst>
          </a:prstGeom>
          <a:solidFill>
            <a:srgbClr val="6D2E46"/>
          </a:solidFill>
          <a:ln w="12700">
            <a:solidFill>
              <a:srgbClr val="5A2539"/>
            </a:solidFill>
            <a:prstDash val="solid"/>
          </a:ln>
        </p:spPr>
      </p:sp>
      <p:sp>
        <p:nvSpPr>
          <p:cNvPr id="23" name="Text 21"/>
          <p:cNvSpPr txBox="1"/>
          <p:nvPr/>
        </p:nvSpPr>
        <p:spPr>
          <a:xfrm>
            <a:off x="9930384" y="2286000"/>
            <a:ext cx="1773936" cy="5943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0.664</a:t>
            </a:r>
            <a:endParaRPr lang="en-US" sz="3000" dirty="0"/>
          </a:p>
        </p:txBody>
      </p:sp>
      <p:sp>
        <p:nvSpPr>
          <p:cNvPr id="24" name="Text 22"/>
          <p:cNvSpPr txBox="1"/>
          <p:nvPr/>
        </p:nvSpPr>
        <p:spPr>
          <a:xfrm>
            <a:off x="9930384" y="2862072"/>
            <a:ext cx="1773936" cy="274320"/>
          </a:xfrm>
          <a:prstGeom prst="rect">
            <a:avLst/>
          </a:prstGeom>
          <a:noFill/>
          <a:ln/>
        </p:spPr>
        <p:txBody>
          <a:bodyPr wrap="square" lIns="0" tIns="0" rIns="0" bIns="0" rtlCol="0" anchor="ctr"/>
          <a:lstStyle/>
          <a:p>
            <a:pPr indent="0" marL="0">
              <a:buNone/>
            </a:pPr>
            <a:r>
              <a:rPr lang="en-US" sz="1250" b="1" dirty="0">
                <a:solidFill>
                  <a:srgbClr val="ECE2D0"/>
                </a:solidFill>
                <a:latin typeface="Calibri" pitchFamily="34" charset="0"/>
                <a:ea typeface="Calibri" pitchFamily="34" charset="-122"/>
                <a:cs typeface="Calibri" pitchFamily="34" charset="-120"/>
              </a:rPr>
              <a:t>F1</a:t>
            </a:r>
            <a:endParaRPr lang="en-US" sz="1250" dirty="0"/>
          </a:p>
        </p:txBody>
      </p:sp>
      <p:sp>
        <p:nvSpPr>
          <p:cNvPr id="25" name="Text 23"/>
          <p:cNvSpPr txBox="1"/>
          <p:nvPr/>
        </p:nvSpPr>
        <p:spPr>
          <a:xfrm>
            <a:off x="9930384" y="3127248"/>
            <a:ext cx="1773936" cy="457200"/>
          </a:xfrm>
          <a:prstGeom prst="rect">
            <a:avLst/>
          </a:prstGeom>
          <a:noFill/>
          <a:ln/>
        </p:spPr>
        <p:txBody>
          <a:bodyPr wrap="square" lIns="0" tIns="0" rIns="0" bIns="0" rtlCol="0" anchor="ctr"/>
          <a:lstStyle/>
          <a:p>
            <a:pPr indent="0" marL="0">
              <a:buNone/>
            </a:pPr>
            <a:r>
              <a:rPr lang="en-US" sz="1000" dirty="0">
                <a:solidFill>
                  <a:srgbClr val="D3ABB1"/>
                </a:solidFill>
                <a:latin typeface="Calibri" pitchFamily="34" charset="0"/>
                <a:ea typeface="Calibri" pitchFamily="34" charset="-122"/>
                <a:cs typeface="Calibri" pitchFamily="34" charset="-120"/>
              </a:rPr>
              <a:t>balanced score</a:t>
            </a:r>
            <a:endParaRPr lang="en-US" sz="1000" dirty="0"/>
          </a:p>
        </p:txBody>
      </p:sp>
      <p:sp>
        <p:nvSpPr>
          <p:cNvPr id="26" name="Shape 24"/>
          <p:cNvSpPr/>
          <p:nvPr/>
        </p:nvSpPr>
        <p:spPr>
          <a:xfrm>
            <a:off x="548640" y="4023360"/>
            <a:ext cx="5394960" cy="1600200"/>
          </a:xfrm>
          <a:prstGeom prst="roundRect">
            <a:avLst>
              <a:gd name="adj" fmla="val 5714"/>
            </a:avLst>
          </a:prstGeom>
          <a:solidFill>
            <a:srgbClr val="6D2E46"/>
          </a:solidFill>
          <a:ln w="12700">
            <a:solidFill>
              <a:srgbClr val="5A2539"/>
            </a:solidFill>
            <a:prstDash val="solid"/>
          </a:ln>
        </p:spPr>
      </p:sp>
      <p:sp>
        <p:nvSpPr>
          <p:cNvPr id="27" name="Text 25"/>
          <p:cNvSpPr txBox="1"/>
          <p:nvPr/>
        </p:nvSpPr>
        <p:spPr>
          <a:xfrm>
            <a:off x="822960" y="4206240"/>
            <a:ext cx="4846320" cy="274320"/>
          </a:xfrm>
          <a:prstGeom prst="rect">
            <a:avLst/>
          </a:prstGeom>
          <a:noFill/>
          <a:ln/>
        </p:spPr>
        <p:txBody>
          <a:bodyPr wrap="square" lIns="0" tIns="0" rIns="0" bIns="0" rtlCol="0" anchor="ctr"/>
          <a:lstStyle/>
          <a:p>
            <a:pPr indent="0" marL="0">
              <a:buNone/>
            </a:pPr>
            <a:r>
              <a:rPr lang="en-US" sz="1300" b="1" dirty="0">
                <a:solidFill>
                  <a:srgbClr val="C08A2E"/>
                </a:solidFill>
                <a:latin typeface="Calibri" pitchFamily="34" charset="0"/>
                <a:ea typeface="Calibri" pitchFamily="34" charset="-122"/>
                <a:cs typeface="Calibri" pitchFamily="34" charset="-120"/>
              </a:rPr>
              <a:t>Cross-validation held up</a:t>
            </a:r>
            <a:endParaRPr lang="en-US" sz="1300" dirty="0"/>
          </a:p>
        </p:txBody>
      </p:sp>
      <p:sp>
        <p:nvSpPr>
          <p:cNvPr id="28" name="Text 26"/>
          <p:cNvSpPr txBox="1"/>
          <p:nvPr/>
        </p:nvSpPr>
        <p:spPr>
          <a:xfrm>
            <a:off x="822960" y="4526280"/>
            <a:ext cx="4846320" cy="914400"/>
          </a:xfrm>
          <a:prstGeom prst="rect">
            <a:avLst/>
          </a:prstGeom>
          <a:noFill/>
          <a:ln/>
        </p:spPr>
        <p:txBody>
          <a:bodyPr wrap="square" lIns="0" tIns="0" rIns="0" bIns="0" rtlCol="0" anchor="ctr"/>
          <a:lstStyle/>
          <a:p>
            <a:pPr indent="0" marL="0">
              <a:buNone/>
            </a:pPr>
            <a:r>
              <a:rPr lang="en-US" sz="1200" dirty="0">
                <a:solidFill>
                  <a:srgbClr val="ECE2D0"/>
                </a:solidFill>
                <a:latin typeface="Calibri" pitchFamily="34" charset="0"/>
                <a:ea typeface="Calibri" pitchFamily="34" charset="-122"/>
                <a:cs typeface="Calibri" pitchFamily="34" charset="-120"/>
              </a:rPr>
              <a:t>Test PR-AUC of 0.772 sits almost exactly on the cross-validated 0.770 — no optimistic bias from model selection, and no sign of overfitting to the training folds.</a:t>
            </a:r>
            <a:endParaRPr lang="en-US" sz="1200" dirty="0"/>
          </a:p>
        </p:txBody>
      </p:sp>
      <p:sp>
        <p:nvSpPr>
          <p:cNvPr id="29" name="Shape 27"/>
          <p:cNvSpPr/>
          <p:nvPr/>
        </p:nvSpPr>
        <p:spPr>
          <a:xfrm>
            <a:off x="6309360" y="4023360"/>
            <a:ext cx="5303520" cy="1600200"/>
          </a:xfrm>
          <a:prstGeom prst="roundRect">
            <a:avLst>
              <a:gd name="adj" fmla="val 5714"/>
            </a:avLst>
          </a:prstGeom>
          <a:solidFill>
            <a:srgbClr val="6D2E46"/>
          </a:solidFill>
          <a:ln w="12700">
            <a:solidFill>
              <a:srgbClr val="5A2539"/>
            </a:solidFill>
            <a:prstDash val="solid"/>
          </a:ln>
        </p:spPr>
      </p:sp>
      <p:sp>
        <p:nvSpPr>
          <p:cNvPr id="30" name="Text 28"/>
          <p:cNvSpPr txBox="1"/>
          <p:nvPr/>
        </p:nvSpPr>
        <p:spPr>
          <a:xfrm>
            <a:off x="6583680" y="4206240"/>
            <a:ext cx="4846320" cy="274320"/>
          </a:xfrm>
          <a:prstGeom prst="rect">
            <a:avLst/>
          </a:prstGeom>
          <a:noFill/>
          <a:ln/>
        </p:spPr>
        <p:txBody>
          <a:bodyPr wrap="square" lIns="0" tIns="0" rIns="0" bIns="0" rtlCol="0" anchor="ctr"/>
          <a:lstStyle/>
          <a:p>
            <a:pPr indent="0" marL="0">
              <a:buNone/>
            </a:pPr>
            <a:r>
              <a:rPr lang="en-US" sz="1300" b="1" dirty="0">
                <a:solidFill>
                  <a:srgbClr val="C08A2E"/>
                </a:solidFill>
                <a:latin typeface="Calibri" pitchFamily="34" charset="0"/>
                <a:ea typeface="Calibri" pitchFamily="34" charset="-122"/>
                <a:cs typeface="Calibri" pitchFamily="34" charset="-120"/>
              </a:rPr>
              <a:t>How to read it operationally</a:t>
            </a:r>
            <a:endParaRPr lang="en-US" sz="1300" dirty="0"/>
          </a:p>
        </p:txBody>
      </p:sp>
      <p:sp>
        <p:nvSpPr>
          <p:cNvPr id="31" name="Text 29"/>
          <p:cNvSpPr txBox="1"/>
          <p:nvPr/>
        </p:nvSpPr>
        <p:spPr>
          <a:xfrm>
            <a:off x="6583680" y="4526280"/>
            <a:ext cx="4846320" cy="960120"/>
          </a:xfrm>
          <a:prstGeom prst="rect">
            <a:avLst/>
          </a:prstGeom>
          <a:noFill/>
          <a:ln/>
        </p:spPr>
        <p:txBody>
          <a:bodyPr wrap="square" lIns="0" tIns="0" rIns="0" bIns="0" rtlCol="0" anchor="ctr"/>
          <a:lstStyle/>
          <a:p>
            <a:pPr indent="0" marL="0">
              <a:buNone/>
            </a:pPr>
            <a:r>
              <a:rPr lang="en-US" sz="1200" dirty="0">
                <a:solidFill>
                  <a:srgbClr val="ECE2D0"/>
                </a:solidFill>
                <a:latin typeface="Calibri" pitchFamily="34" charset="0"/>
                <a:ea typeface="Calibri" pitchFamily="34" charset="-122"/>
                <a:cs typeface="Calibri" pitchFamily="34" charset="-120"/>
              </a:rPr>
              <a:t>At the default 0.5 threshold, roughly 7 in 10 flagged customers do come back, and the model catches 62% of those who would. The threshold is a business dial: raise it for expensive interventions, lower it for cheap ones.</a:t>
            </a:r>
            <a:endParaRPr lang="en-US" sz="1200" dirty="0"/>
          </a:p>
        </p:txBody>
      </p:sp>
      <p:sp>
        <p:nvSpPr>
          <p:cNvPr id="33" name="Text 30"/>
          <p:cNvSpPr txBox="1"/>
          <p:nvPr/>
        </p:nvSpPr>
        <p:spPr>
          <a:xfrm>
            <a:off x="548640" y="6236208"/>
            <a:ext cx="5486400" cy="274320"/>
          </a:xfrm>
          <a:prstGeom prst="rect">
            <a:avLst/>
          </a:prstGeom>
          <a:noFill/>
          <a:ln/>
        </p:spPr>
        <p:txBody>
          <a:bodyPr wrap="square" lIns="0" tIns="0" rIns="0" bIns="0" rtlCol="0" anchor="ctr"/>
          <a:lstStyle/>
          <a:p>
            <a:pPr indent="0" marL="0">
              <a:buNone/>
            </a:pPr>
            <a:r>
              <a:rPr lang="en-US" sz="950" dirty="0">
                <a:solidFill>
                  <a:srgbClr val="8B5A6B"/>
                </a:solidFill>
                <a:latin typeface="Calibri" pitchFamily="34" charset="0"/>
                <a:ea typeface="Calibri" pitchFamily="34" charset="-122"/>
                <a:cs typeface="Calibri" pitchFamily="34" charset="-120"/>
              </a:rPr>
              <a:t>Customer 360  ·  Online Retail II</a:t>
            </a:r>
            <a:endParaRPr lang="en-US" sz="950" dirty="0"/>
          </a:p>
        </p:txBody>
      </p:sp>
      <p:sp>
        <p:nvSpPr>
          <p:cNvPr id="34" name="Text 31"/>
          <p:cNvSpPr txBox="1"/>
          <p:nvPr/>
        </p:nvSpPr>
        <p:spPr>
          <a:xfrm>
            <a:off x="10515600" y="6236208"/>
            <a:ext cx="1097280" cy="274320"/>
          </a:xfrm>
          <a:prstGeom prst="rect">
            <a:avLst/>
          </a:prstGeom>
          <a:noFill/>
          <a:ln/>
        </p:spPr>
        <p:txBody>
          <a:bodyPr wrap="square" lIns="0" tIns="0" rIns="0" bIns="0" rtlCol="0" anchor="ctr"/>
          <a:lstStyle/>
          <a:p>
            <a:pPr algn="r" indent="0" marL="0">
              <a:buNone/>
            </a:pPr>
            <a:r>
              <a:rPr lang="en-US" sz="950" b="1" dirty="0">
                <a:solidFill>
                  <a:srgbClr val="C08A2E"/>
                </a:solidFill>
                <a:latin typeface="Calibri" pitchFamily="34" charset="0"/>
                <a:ea typeface="Calibri" pitchFamily="34" charset="-122"/>
                <a:cs typeface="Calibri" pitchFamily="34" charset="-120"/>
              </a:rPr>
              <a:t>11</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327709" cy="274320"/>
          </a:xfrm>
          <a:prstGeom prst="roundRect">
            <a:avLst>
              <a:gd name="adj" fmla="val 46667"/>
            </a:avLst>
          </a:prstGeom>
          <a:solidFill>
            <a:srgbClr val="ECE2D0"/>
          </a:solidFill>
          <a:ln w="12700">
            <a:solidFill>
              <a:srgbClr val="ECE2D0"/>
            </a:solidFill>
            <a:prstDash val="solid"/>
          </a:ln>
        </p:spPr>
      </p:sp>
      <p:sp>
        <p:nvSpPr>
          <p:cNvPr id="3" name="Text 1"/>
          <p:cNvSpPr txBox="1"/>
          <p:nvPr/>
        </p:nvSpPr>
        <p:spPr>
          <a:xfrm>
            <a:off x="548640" y="384048"/>
            <a:ext cx="1327709" cy="274320"/>
          </a:xfrm>
          <a:prstGeom prst="rect">
            <a:avLst/>
          </a:prstGeom>
          <a:noFill/>
          <a:ln/>
        </p:spPr>
        <p:txBody>
          <a:bodyPr wrap="square" lIns="0" tIns="0" rIns="0" bIns="0" rtlCol="0" anchor="ctr"/>
          <a:lstStyle/>
          <a:p>
            <a:pPr algn="ctr" indent="0" marL="0">
              <a:buNone/>
            </a:pPr>
            <a:r>
              <a:rPr lang="en-US" sz="1050" b="1" spc="120" kern="0" dirty="0">
                <a:solidFill>
                  <a:srgbClr val="6D2E46"/>
                </a:solidFill>
                <a:latin typeface="Calibri" pitchFamily="34" charset="0"/>
                <a:ea typeface="Calibri" pitchFamily="34" charset="-122"/>
                <a:cs typeface="Calibri" pitchFamily="34" charset="-120"/>
              </a:rPr>
              <a:t>EXPLAINABILITY</a:t>
            </a:r>
            <a:endParaRPr lang="en-US" sz="1050" dirty="0"/>
          </a:p>
        </p:txBody>
      </p:sp>
      <p:sp>
        <p:nvSpPr>
          <p:cNvPr id="4" name="Text 2"/>
          <p:cNvSpPr txBox="1"/>
          <p:nvPr/>
        </p:nvSpPr>
        <p:spPr>
          <a:xfrm>
            <a:off x="548640" y="749808"/>
            <a:ext cx="11064240" cy="658368"/>
          </a:xfrm>
          <a:prstGeom prst="rect">
            <a:avLst/>
          </a:prstGeom>
          <a:noFill/>
          <a:ln/>
        </p:spPr>
        <p:txBody>
          <a:bodyPr wrap="square" lIns="0" tIns="0" rIns="0" bIns="0" rtlCol="0" anchor="ctr"/>
          <a:lstStyle/>
          <a:p>
            <a:pPr indent="0" marL="0">
              <a:buNone/>
            </a:pPr>
            <a:r>
              <a:rPr lang="en-US" sz="3200" b="1" dirty="0">
                <a:solidFill>
                  <a:srgbClr val="2B2124"/>
                </a:solidFill>
                <a:latin typeface="Cambria" pitchFamily="34" charset="0"/>
                <a:ea typeface="Cambria" pitchFamily="34" charset="-122"/>
                <a:cs typeface="Cambria" pitchFamily="34" charset="-120"/>
              </a:rPr>
              <a:t>Recency dominates everything else</a:t>
            </a:r>
            <a:endParaRPr lang="en-US" sz="3200" dirty="0"/>
          </a:p>
        </p:txBody>
      </p:sp>
      <p:sp>
        <p:nvSpPr>
          <p:cNvPr id="5" name="Text 3"/>
          <p:cNvSpPr txBox="1"/>
          <p:nvPr/>
        </p:nvSpPr>
        <p:spPr>
          <a:xfrm>
            <a:off x="548640" y="1389888"/>
            <a:ext cx="11064240" cy="365760"/>
          </a:xfrm>
          <a:prstGeom prst="rect">
            <a:avLst/>
          </a:prstGeom>
          <a:noFill/>
          <a:ln/>
        </p:spPr>
        <p:txBody>
          <a:bodyPr wrap="square" lIns="0" tIns="0" rIns="0" bIns="0" rtlCol="0" anchor="t"/>
          <a:lstStyle/>
          <a:p>
            <a:pPr indent="0" marL="0">
              <a:buNone/>
            </a:pPr>
            <a:r>
              <a:rPr lang="en-US" sz="1400" dirty="0">
                <a:solidFill>
                  <a:srgbClr val="6B5C60"/>
                </a:solidFill>
                <a:latin typeface="Calibri" pitchFamily="34" charset="0"/>
                <a:ea typeface="Calibri" pitchFamily="34" charset="-122"/>
                <a:cs typeface="Calibri" pitchFamily="34" charset="-120"/>
              </a:rPr>
              <a:t>Gradient Boosting feature importance, corroborated by permutation importance measured on the held-out test set.</a:t>
            </a:r>
            <a:endParaRPr lang="en-US" sz="1400" dirty="0"/>
          </a:p>
        </p:txBody>
      </p:sp>
      <p:graphicFrame>
        <p:nvGraphicFramePr>
          <p:cNvPr id="6" name="Chart 0" descr=""/>
          <p:cNvGraphicFramePr/>
          <p:nvPr/>
        </p:nvGraphicFramePr>
        <p:xfrm>
          <a:off x="548640" y="1965960"/>
          <a:ext cx="7223760" cy="35661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8046720" y="1965960"/>
            <a:ext cx="3566160" cy="1691640"/>
          </a:xfrm>
          <a:prstGeom prst="roundRect">
            <a:avLst>
              <a:gd name="adj" fmla="val 5405"/>
            </a:avLst>
          </a:prstGeom>
          <a:solidFill>
            <a:srgbClr val="6D2E46"/>
          </a:solidFill>
          <a:ln w="12700">
            <a:solidFill>
              <a:srgbClr val="6D2E46"/>
            </a:solidFill>
            <a:prstDash val="solid"/>
          </a:ln>
          <a:effectLst>
            <a:outerShdw sx="100000" sy="100000" kx="0" ky="0" algn="bl" rotWithShape="0" blurRad="101600" dist="12700" dir="5400000">
              <a:srgbClr val="000000">
                <a:alpha val="8000"/>
              </a:srgbClr>
            </a:outerShdw>
          </a:effectLst>
        </p:spPr>
      </p:sp>
      <p:sp>
        <p:nvSpPr>
          <p:cNvPr id="8" name="Text 5"/>
          <p:cNvSpPr txBox="1"/>
          <p:nvPr/>
        </p:nvSpPr>
        <p:spPr>
          <a:xfrm>
            <a:off x="8321040" y="2157984"/>
            <a:ext cx="3017520" cy="548640"/>
          </a:xfrm>
          <a:prstGeom prst="rect">
            <a:avLst/>
          </a:prstGeom>
          <a:noFill/>
          <a:ln/>
        </p:spPr>
        <p:txBody>
          <a:bodyPr wrap="square" lIns="0" tIns="0" rIns="0" bIns="0" rtlCol="0" anchor="ctr"/>
          <a:lstStyle/>
          <a:p>
            <a:pPr indent="0" marL="0">
              <a:buNone/>
            </a:pPr>
            <a:r>
              <a:rPr lang="en-US" sz="3200" b="1" dirty="0">
                <a:solidFill>
                  <a:srgbClr val="C08A2E"/>
                </a:solidFill>
                <a:latin typeface="Cambria" pitchFamily="34" charset="0"/>
                <a:ea typeface="Cambria" pitchFamily="34" charset="-122"/>
                <a:cs typeface="Cambria" pitchFamily="34" charset="-120"/>
              </a:rPr>
              <a:t>60%</a:t>
            </a:r>
            <a:endParaRPr lang="en-US" sz="3200" dirty="0"/>
          </a:p>
        </p:txBody>
      </p:sp>
      <p:sp>
        <p:nvSpPr>
          <p:cNvPr id="9" name="Text 6"/>
          <p:cNvSpPr txBox="1"/>
          <p:nvPr/>
        </p:nvSpPr>
        <p:spPr>
          <a:xfrm>
            <a:off x="8321040" y="2724912"/>
            <a:ext cx="3017520" cy="777240"/>
          </a:xfrm>
          <a:prstGeom prst="rect">
            <a:avLst/>
          </a:prstGeom>
          <a:noFill/>
          <a:ln/>
        </p:spPr>
        <p:txBody>
          <a:bodyPr wrap="square" lIns="0" tIns="0" rIns="0" bIns="0" rtlCol="0" anchor="ctr"/>
          <a:lstStyle/>
          <a:p>
            <a:pPr indent="0" marL="0">
              <a:buNone/>
            </a:pPr>
            <a:r>
              <a:rPr lang="en-US" sz="1100" dirty="0">
                <a:solidFill>
                  <a:srgbClr val="ECE2D0"/>
                </a:solidFill>
                <a:latin typeface="Calibri" pitchFamily="34" charset="0"/>
                <a:ea typeface="Calibri" pitchFamily="34" charset="-122"/>
                <a:cs typeface="Calibri" pitchFamily="34" charset="-120"/>
              </a:rPr>
              <a:t>of the model's decision comes from a single feature: how long ago the customer last ordered.</a:t>
            </a:r>
            <a:endParaRPr lang="en-US" sz="1100" dirty="0"/>
          </a:p>
        </p:txBody>
      </p:sp>
      <p:sp>
        <p:nvSpPr>
          <p:cNvPr id="10" name="Shape 7"/>
          <p:cNvSpPr/>
          <p:nvPr/>
        </p:nvSpPr>
        <p:spPr>
          <a:xfrm>
            <a:off x="8046720" y="3840480"/>
            <a:ext cx="3566160" cy="1691640"/>
          </a:xfrm>
          <a:prstGeom prst="roundRect">
            <a:avLst>
              <a:gd name="adj" fmla="val 5405"/>
            </a:avLst>
          </a:prstGeom>
          <a:solidFill>
            <a:srgbClr val="F7F2EA"/>
          </a:solidFill>
          <a:ln w="12700">
            <a:solidFill>
              <a:srgbClr val="ECE2D0"/>
            </a:solidFill>
            <a:prstDash val="solid"/>
          </a:ln>
          <a:effectLst>
            <a:outerShdw sx="100000" sy="100000" kx="0" ky="0" algn="bl" rotWithShape="0" blurRad="101600" dist="12700" dir="5400000">
              <a:srgbClr val="000000">
                <a:alpha val="8000"/>
              </a:srgbClr>
            </a:outerShdw>
          </a:effectLst>
        </p:spPr>
      </p:sp>
      <p:sp>
        <p:nvSpPr>
          <p:cNvPr id="11" name="Text 8"/>
          <p:cNvSpPr txBox="1"/>
          <p:nvPr/>
        </p:nvSpPr>
        <p:spPr>
          <a:xfrm>
            <a:off x="8321040" y="4005072"/>
            <a:ext cx="3017520" cy="256032"/>
          </a:xfrm>
          <a:prstGeom prst="rect">
            <a:avLst/>
          </a:prstGeom>
          <a:noFill/>
          <a:ln/>
        </p:spPr>
        <p:txBody>
          <a:bodyPr wrap="square" lIns="0" tIns="0" rIns="0" bIns="0" rtlCol="0" anchor="ctr"/>
          <a:lstStyle/>
          <a:p>
            <a:pPr indent="0" marL="0">
              <a:buNone/>
            </a:pPr>
            <a:r>
              <a:rPr lang="en-US" sz="1200" b="1" dirty="0">
                <a:solidFill>
                  <a:srgbClr val="6D2E46"/>
                </a:solidFill>
                <a:latin typeface="Calibri" pitchFamily="34" charset="0"/>
                <a:ea typeface="Calibri" pitchFamily="34" charset="-122"/>
                <a:cs typeface="Calibri" pitchFamily="34" charset="-120"/>
              </a:rPr>
              <a:t>So what?</a:t>
            </a:r>
            <a:endParaRPr lang="en-US" sz="1200" dirty="0"/>
          </a:p>
        </p:txBody>
      </p:sp>
      <p:sp>
        <p:nvSpPr>
          <p:cNvPr id="12" name="Text 9"/>
          <p:cNvSpPr txBox="1"/>
          <p:nvPr/>
        </p:nvSpPr>
        <p:spPr>
          <a:xfrm>
            <a:off x="8321040" y="4297680"/>
            <a:ext cx="3017520" cy="1143000"/>
          </a:xfrm>
          <a:prstGeom prst="rect">
            <a:avLst/>
          </a:prstGeom>
          <a:noFill/>
          <a:ln/>
        </p:spPr>
        <p:txBody>
          <a:bodyPr wrap="square" lIns="0" tIns="0" rIns="0" bIns="0" rtlCol="0" anchor="ctr"/>
          <a:lstStyle/>
          <a:p>
            <a:pPr indent="0" marL="0">
              <a:buNone/>
            </a:pPr>
            <a:r>
              <a:rPr lang="en-US" sz="1100" dirty="0">
                <a:solidFill>
                  <a:srgbClr val="6B5C60"/>
                </a:solidFill>
                <a:latin typeface="Calibri" pitchFamily="34" charset="0"/>
                <a:ea typeface="Calibri" pitchFamily="34" charset="-122"/>
                <a:cs typeface="Calibri" pitchFamily="34" charset="-120"/>
              </a:rPr>
              <a:t>Silence is the earliest and cheapest churn signal available. It needs no new data collection — intervention timing can be driven straight off the last-order date, with frequency and spend used to size the offer.</a:t>
            </a:r>
            <a:endParaRPr lang="en-US" sz="1100" dirty="0"/>
          </a:p>
        </p:txBody>
      </p:sp>
      <p:sp>
        <p:nvSpPr>
          <p:cNvPr id="14" name="Text 10"/>
          <p:cNvSpPr txBox="1"/>
          <p:nvPr/>
        </p:nvSpPr>
        <p:spPr>
          <a:xfrm>
            <a:off x="548640" y="6236208"/>
            <a:ext cx="5486400" cy="274320"/>
          </a:xfrm>
          <a:prstGeom prst="rect">
            <a:avLst/>
          </a:prstGeom>
          <a:noFill/>
          <a:ln/>
        </p:spPr>
        <p:txBody>
          <a:bodyPr wrap="square" lIns="0" tIns="0" rIns="0" bIns="0" rtlCol="0" anchor="ctr"/>
          <a:lstStyle/>
          <a:p>
            <a:pPr indent="0" marL="0">
              <a:buNone/>
            </a:pPr>
            <a:r>
              <a:rPr lang="en-US" sz="950" dirty="0">
                <a:solidFill>
                  <a:srgbClr val="A9989C"/>
                </a:solidFill>
                <a:latin typeface="Calibri" pitchFamily="34" charset="0"/>
                <a:ea typeface="Calibri" pitchFamily="34" charset="-122"/>
                <a:cs typeface="Calibri" pitchFamily="34" charset="-120"/>
              </a:rPr>
              <a:t>Customer 360  ·  Online Retail II</a:t>
            </a:r>
            <a:endParaRPr lang="en-US" sz="950" dirty="0"/>
          </a:p>
        </p:txBody>
      </p:sp>
      <p:sp>
        <p:nvSpPr>
          <p:cNvPr id="15" name="Text 11"/>
          <p:cNvSpPr txBox="1"/>
          <p:nvPr/>
        </p:nvSpPr>
        <p:spPr>
          <a:xfrm>
            <a:off x="10515600" y="6236208"/>
            <a:ext cx="1097280" cy="274320"/>
          </a:xfrm>
          <a:prstGeom prst="rect">
            <a:avLst/>
          </a:prstGeom>
          <a:noFill/>
          <a:ln/>
        </p:spPr>
        <p:txBody>
          <a:bodyPr wrap="square" lIns="0" tIns="0" rIns="0" bIns="0" rtlCol="0" anchor="ctr"/>
          <a:lstStyle/>
          <a:p>
            <a:pPr algn="r" indent="0" marL="0">
              <a:buNone/>
            </a:pPr>
            <a:r>
              <a:rPr lang="en-US" sz="950" b="1" dirty="0">
                <a:solidFill>
                  <a:srgbClr val="A26769"/>
                </a:solidFill>
                <a:latin typeface="Calibri" pitchFamily="34" charset="0"/>
                <a:ea typeface="Calibri" pitchFamily="34" charset="-122"/>
                <a:cs typeface="Calibri" pitchFamily="34" charset="-120"/>
              </a:rPr>
              <a:t>12</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408176" cy="274320"/>
          </a:xfrm>
          <a:prstGeom prst="roundRect">
            <a:avLst>
              <a:gd name="adj" fmla="val 46667"/>
            </a:avLst>
          </a:prstGeom>
          <a:solidFill>
            <a:srgbClr val="ECE2D0"/>
          </a:solidFill>
          <a:ln w="12700">
            <a:solidFill>
              <a:srgbClr val="ECE2D0"/>
            </a:solidFill>
            <a:prstDash val="solid"/>
          </a:ln>
        </p:spPr>
      </p:sp>
      <p:sp>
        <p:nvSpPr>
          <p:cNvPr id="3" name="Text 1"/>
          <p:cNvSpPr txBox="1"/>
          <p:nvPr/>
        </p:nvSpPr>
        <p:spPr>
          <a:xfrm>
            <a:off x="548640" y="384048"/>
            <a:ext cx="1408176" cy="274320"/>
          </a:xfrm>
          <a:prstGeom prst="rect">
            <a:avLst/>
          </a:prstGeom>
          <a:noFill/>
          <a:ln/>
        </p:spPr>
        <p:txBody>
          <a:bodyPr wrap="square" lIns="0" tIns="0" rIns="0" bIns="0" rtlCol="0" anchor="ctr"/>
          <a:lstStyle/>
          <a:p>
            <a:pPr algn="ctr" indent="0" marL="0">
              <a:buNone/>
            </a:pPr>
            <a:r>
              <a:rPr lang="en-US" sz="1050" b="1" spc="120" kern="0" dirty="0">
                <a:solidFill>
                  <a:srgbClr val="6D2E46"/>
                </a:solidFill>
                <a:latin typeface="Calibri" pitchFamily="34" charset="0"/>
                <a:ea typeface="Calibri" pitchFamily="34" charset="-122"/>
                <a:cs typeface="Calibri" pitchFamily="34" charset="-120"/>
              </a:rPr>
              <a:t>RECOMMENDATIONS</a:t>
            </a:r>
            <a:endParaRPr lang="en-US" sz="1050" dirty="0"/>
          </a:p>
        </p:txBody>
      </p:sp>
      <p:sp>
        <p:nvSpPr>
          <p:cNvPr id="4" name="Text 2"/>
          <p:cNvSpPr txBox="1"/>
          <p:nvPr/>
        </p:nvSpPr>
        <p:spPr>
          <a:xfrm>
            <a:off x="548640" y="749808"/>
            <a:ext cx="11064240" cy="658368"/>
          </a:xfrm>
          <a:prstGeom prst="rect">
            <a:avLst/>
          </a:prstGeom>
          <a:noFill/>
          <a:ln/>
        </p:spPr>
        <p:txBody>
          <a:bodyPr wrap="square" lIns="0" tIns="0" rIns="0" bIns="0" rtlCol="0" anchor="ctr"/>
          <a:lstStyle/>
          <a:p>
            <a:pPr indent="0" marL="0">
              <a:buNone/>
            </a:pPr>
            <a:r>
              <a:rPr lang="en-US" sz="3200" b="1" dirty="0">
                <a:solidFill>
                  <a:srgbClr val="2B2124"/>
                </a:solidFill>
                <a:latin typeface="Cambria" pitchFamily="34" charset="0"/>
                <a:ea typeface="Cambria" pitchFamily="34" charset="-122"/>
                <a:cs typeface="Cambria" pitchFamily="34" charset="-120"/>
              </a:rPr>
              <a:t>Four recommenders, one honest test</a:t>
            </a:r>
            <a:endParaRPr lang="en-US" sz="3200" dirty="0"/>
          </a:p>
        </p:txBody>
      </p:sp>
      <p:sp>
        <p:nvSpPr>
          <p:cNvPr id="5" name="Text 3"/>
          <p:cNvSpPr txBox="1"/>
          <p:nvPr/>
        </p:nvSpPr>
        <p:spPr>
          <a:xfrm>
            <a:off x="548640" y="1389888"/>
            <a:ext cx="11064240" cy="365760"/>
          </a:xfrm>
          <a:prstGeom prst="rect">
            <a:avLst/>
          </a:prstGeom>
          <a:noFill/>
          <a:ln/>
        </p:spPr>
        <p:txBody>
          <a:bodyPr wrap="square" lIns="0" tIns="0" rIns="0" bIns="0" rtlCol="0" anchor="t"/>
          <a:lstStyle/>
          <a:p>
            <a:pPr indent="0" marL="0">
              <a:buNone/>
            </a:pPr>
            <a:r>
              <a:rPr lang="en-US" sz="1400" dirty="0">
                <a:solidFill>
                  <a:srgbClr val="6B5C60"/>
                </a:solidFill>
                <a:latin typeface="Calibri" pitchFamily="34" charset="0"/>
                <a:ea typeface="Calibri" pitchFamily="34" charset="-122"/>
                <a:cs typeface="Calibri" pitchFamily="34" charset="-120"/>
              </a:rPr>
              <a:t>Leave-last-out evaluation: hold back each customer's most recently adopted product and see whether it appears in the top 10.</a:t>
            </a:r>
            <a:endParaRPr lang="en-US" sz="1400" dirty="0"/>
          </a:p>
        </p:txBody>
      </p:sp>
      <p:graphicFrame>
        <p:nvGraphicFramePr>
          <p:cNvPr id="6" name="Chart 0" descr=""/>
          <p:cNvGraphicFramePr/>
          <p:nvPr/>
        </p:nvGraphicFramePr>
        <p:xfrm>
          <a:off x="548640" y="1965960"/>
          <a:ext cx="7589520" cy="35661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8412480" y="1965960"/>
            <a:ext cx="3200400" cy="3566160"/>
          </a:xfrm>
          <a:prstGeom prst="roundRect">
            <a:avLst>
              <a:gd name="adj" fmla="val 2857"/>
            </a:avLst>
          </a:prstGeom>
          <a:solidFill>
            <a:srgbClr val="6D2E46"/>
          </a:solidFill>
          <a:ln w="12700">
            <a:solidFill>
              <a:srgbClr val="6D2E46"/>
            </a:solidFill>
            <a:prstDash val="solid"/>
          </a:ln>
          <a:effectLst>
            <a:outerShdw sx="100000" sy="100000" kx="0" ky="0" algn="bl" rotWithShape="0" blurRad="101600" dist="12700" dir="5400000">
              <a:srgbClr val="000000">
                <a:alpha val="8000"/>
              </a:srgbClr>
            </a:outerShdw>
          </a:effectLst>
        </p:spPr>
      </p:sp>
      <p:sp>
        <p:nvSpPr>
          <p:cNvPr id="8" name="Text 5"/>
          <p:cNvSpPr txBox="1"/>
          <p:nvPr/>
        </p:nvSpPr>
        <p:spPr>
          <a:xfrm>
            <a:off x="8686800" y="2176272"/>
            <a:ext cx="2926080" cy="274320"/>
          </a:xfrm>
          <a:prstGeom prst="rect">
            <a:avLst/>
          </a:prstGeom>
          <a:noFill/>
          <a:ln/>
        </p:spPr>
        <p:txBody>
          <a:bodyPr wrap="square" lIns="0" tIns="0" rIns="0" bIns="0" rtlCol="0" anchor="ctr"/>
          <a:lstStyle/>
          <a:p>
            <a:pPr indent="0" marL="0">
              <a:buNone/>
            </a:pPr>
            <a:r>
              <a:rPr lang="en-US" sz="1300" b="1" dirty="0">
                <a:solidFill>
                  <a:srgbClr val="C08A2E"/>
                </a:solidFill>
                <a:latin typeface="Calibri" pitchFamily="34" charset="0"/>
                <a:ea typeface="Calibri" pitchFamily="34" charset="-122"/>
                <a:cs typeface="Calibri" pitchFamily="34" charset="-120"/>
              </a:rPr>
              <a:t>Evaluation set</a:t>
            </a:r>
            <a:endParaRPr lang="en-US" sz="1300" dirty="0"/>
          </a:p>
        </p:txBody>
      </p:sp>
      <p:sp>
        <p:nvSpPr>
          <p:cNvPr id="9" name="Text 6"/>
          <p:cNvSpPr txBox="1"/>
          <p:nvPr/>
        </p:nvSpPr>
        <p:spPr>
          <a:xfrm>
            <a:off x="8686800" y="2542032"/>
            <a:ext cx="1371600" cy="29260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5,544</a:t>
            </a:r>
            <a:endParaRPr lang="en-US" sz="1600" dirty="0"/>
          </a:p>
        </p:txBody>
      </p:sp>
      <p:sp>
        <p:nvSpPr>
          <p:cNvPr id="10" name="Text 7"/>
          <p:cNvSpPr txBox="1"/>
          <p:nvPr/>
        </p:nvSpPr>
        <p:spPr>
          <a:xfrm>
            <a:off x="10104120" y="2542032"/>
            <a:ext cx="1371600" cy="292608"/>
          </a:xfrm>
          <a:prstGeom prst="rect">
            <a:avLst/>
          </a:prstGeom>
          <a:noFill/>
          <a:ln/>
        </p:spPr>
        <p:txBody>
          <a:bodyPr wrap="square" lIns="0" tIns="0" rIns="0" bIns="0" rtlCol="0" anchor="ctr"/>
          <a:lstStyle/>
          <a:p>
            <a:pPr algn="r" indent="0" marL="0">
              <a:buNone/>
            </a:pPr>
            <a:r>
              <a:rPr lang="en-US" sz="1050" dirty="0">
                <a:solidFill>
                  <a:srgbClr val="D3ABB1"/>
                </a:solidFill>
                <a:latin typeface="Calibri" pitchFamily="34" charset="0"/>
                <a:ea typeface="Calibri" pitchFamily="34" charset="-122"/>
                <a:cs typeface="Calibri" pitchFamily="34" charset="-120"/>
              </a:rPr>
              <a:t>customers</a:t>
            </a:r>
            <a:endParaRPr lang="en-US" sz="1050" dirty="0"/>
          </a:p>
        </p:txBody>
      </p:sp>
      <p:sp>
        <p:nvSpPr>
          <p:cNvPr id="11" name="Text 8"/>
          <p:cNvSpPr txBox="1"/>
          <p:nvPr/>
        </p:nvSpPr>
        <p:spPr>
          <a:xfrm>
            <a:off x="8686800" y="3108960"/>
            <a:ext cx="1371600" cy="29260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4,206</a:t>
            </a:r>
            <a:endParaRPr lang="en-US" sz="1600" dirty="0"/>
          </a:p>
        </p:txBody>
      </p:sp>
      <p:sp>
        <p:nvSpPr>
          <p:cNvPr id="12" name="Text 9"/>
          <p:cNvSpPr txBox="1"/>
          <p:nvPr/>
        </p:nvSpPr>
        <p:spPr>
          <a:xfrm>
            <a:off x="10104120" y="3108960"/>
            <a:ext cx="1371600" cy="292608"/>
          </a:xfrm>
          <a:prstGeom prst="rect">
            <a:avLst/>
          </a:prstGeom>
          <a:noFill/>
          <a:ln/>
        </p:spPr>
        <p:txBody>
          <a:bodyPr wrap="square" lIns="0" tIns="0" rIns="0" bIns="0" rtlCol="0" anchor="ctr"/>
          <a:lstStyle/>
          <a:p>
            <a:pPr algn="r" indent="0" marL="0">
              <a:buNone/>
            </a:pPr>
            <a:r>
              <a:rPr lang="en-US" sz="1050" dirty="0">
                <a:solidFill>
                  <a:srgbClr val="D3ABB1"/>
                </a:solidFill>
                <a:latin typeface="Calibri" pitchFamily="34" charset="0"/>
                <a:ea typeface="Calibri" pitchFamily="34" charset="-122"/>
                <a:cs typeface="Calibri" pitchFamily="34" charset="-120"/>
              </a:rPr>
              <a:t>products</a:t>
            </a:r>
            <a:endParaRPr lang="en-US" sz="1050" dirty="0"/>
          </a:p>
        </p:txBody>
      </p:sp>
      <p:sp>
        <p:nvSpPr>
          <p:cNvPr id="13" name="Text 10"/>
          <p:cNvSpPr txBox="1"/>
          <p:nvPr/>
        </p:nvSpPr>
        <p:spPr>
          <a:xfrm>
            <a:off x="8686800" y="3675888"/>
            <a:ext cx="1371600" cy="29260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474,684</a:t>
            </a:r>
            <a:endParaRPr lang="en-US" sz="1600" dirty="0"/>
          </a:p>
        </p:txBody>
      </p:sp>
      <p:sp>
        <p:nvSpPr>
          <p:cNvPr id="14" name="Text 11"/>
          <p:cNvSpPr txBox="1"/>
          <p:nvPr/>
        </p:nvSpPr>
        <p:spPr>
          <a:xfrm>
            <a:off x="10104120" y="3675888"/>
            <a:ext cx="1371600" cy="292608"/>
          </a:xfrm>
          <a:prstGeom prst="rect">
            <a:avLst/>
          </a:prstGeom>
          <a:noFill/>
          <a:ln/>
        </p:spPr>
        <p:txBody>
          <a:bodyPr wrap="square" lIns="0" tIns="0" rIns="0" bIns="0" rtlCol="0" anchor="ctr"/>
          <a:lstStyle/>
          <a:p>
            <a:pPr algn="r" indent="0" marL="0">
              <a:buNone/>
            </a:pPr>
            <a:r>
              <a:rPr lang="en-US" sz="1050" dirty="0">
                <a:solidFill>
                  <a:srgbClr val="D3ABB1"/>
                </a:solidFill>
                <a:latin typeface="Calibri" pitchFamily="34" charset="0"/>
                <a:ea typeface="Calibri" pitchFamily="34" charset="-122"/>
                <a:cs typeface="Calibri" pitchFamily="34" charset="-120"/>
              </a:rPr>
              <a:t>training interactions</a:t>
            </a:r>
            <a:endParaRPr lang="en-US" sz="1050" dirty="0"/>
          </a:p>
        </p:txBody>
      </p:sp>
      <p:sp>
        <p:nvSpPr>
          <p:cNvPr id="15" name="Text 12"/>
          <p:cNvSpPr txBox="1"/>
          <p:nvPr/>
        </p:nvSpPr>
        <p:spPr>
          <a:xfrm>
            <a:off x="8686800" y="4242816"/>
            <a:ext cx="1371600" cy="29260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5,544</a:t>
            </a:r>
            <a:endParaRPr lang="en-US" sz="1600" dirty="0"/>
          </a:p>
        </p:txBody>
      </p:sp>
      <p:sp>
        <p:nvSpPr>
          <p:cNvPr id="16" name="Text 13"/>
          <p:cNvSpPr txBox="1"/>
          <p:nvPr/>
        </p:nvSpPr>
        <p:spPr>
          <a:xfrm>
            <a:off x="10104120" y="4242816"/>
            <a:ext cx="1371600" cy="292608"/>
          </a:xfrm>
          <a:prstGeom prst="rect">
            <a:avLst/>
          </a:prstGeom>
          <a:noFill/>
          <a:ln/>
        </p:spPr>
        <p:txBody>
          <a:bodyPr wrap="square" lIns="0" tIns="0" rIns="0" bIns="0" rtlCol="0" anchor="ctr"/>
          <a:lstStyle/>
          <a:p>
            <a:pPr algn="r" indent="0" marL="0">
              <a:buNone/>
            </a:pPr>
            <a:r>
              <a:rPr lang="en-US" sz="1050" dirty="0">
                <a:solidFill>
                  <a:srgbClr val="D3ABB1"/>
                </a:solidFill>
                <a:latin typeface="Calibri" pitchFamily="34" charset="0"/>
                <a:ea typeface="Calibri" pitchFamily="34" charset="-122"/>
                <a:cs typeface="Calibri" pitchFamily="34" charset="-120"/>
              </a:rPr>
              <a:t>held-out targets</a:t>
            </a:r>
            <a:endParaRPr lang="en-US" sz="1050" dirty="0"/>
          </a:p>
        </p:txBody>
      </p:sp>
      <p:sp>
        <p:nvSpPr>
          <p:cNvPr id="17" name="Shape 14"/>
          <p:cNvSpPr/>
          <p:nvPr/>
        </p:nvSpPr>
        <p:spPr>
          <a:xfrm>
            <a:off x="8686800" y="4828032"/>
            <a:ext cx="2743200" cy="0"/>
          </a:xfrm>
          <a:prstGeom prst="line">
            <a:avLst/>
          </a:prstGeom>
          <a:noFill/>
          <a:ln w="12700">
            <a:solidFill>
              <a:srgbClr val="7A4059"/>
            </a:solidFill>
            <a:prstDash val="solid"/>
          </a:ln>
        </p:spPr>
      </p:sp>
      <p:sp>
        <p:nvSpPr>
          <p:cNvPr id="18" name="Text 15"/>
          <p:cNvSpPr txBox="1"/>
          <p:nvPr/>
        </p:nvSpPr>
        <p:spPr>
          <a:xfrm>
            <a:off x="8686800" y="4937760"/>
            <a:ext cx="2743200" cy="548640"/>
          </a:xfrm>
          <a:prstGeom prst="rect">
            <a:avLst/>
          </a:prstGeom>
          <a:noFill/>
          <a:ln/>
        </p:spPr>
        <p:txBody>
          <a:bodyPr wrap="square" lIns="0" tIns="0" rIns="0" bIns="0" rtlCol="0" anchor="ctr"/>
          <a:lstStyle/>
          <a:p>
            <a:pPr indent="0" marL="0">
              <a:buNone/>
            </a:pPr>
            <a:r>
              <a:rPr lang="en-US" sz="1050" i="1" dirty="0">
                <a:solidFill>
                  <a:srgbClr val="ECE2D0"/>
                </a:solidFill>
                <a:latin typeface="Calibri" pitchFamily="34" charset="0"/>
                <a:ea typeface="Calibri" pitchFamily="34" charset="-122"/>
                <a:cs typeface="Calibri" pitchFamily="34" charset="-120"/>
              </a:rPr>
              <a:t>Customers and products with fewer than five interactions were filtered out before the split.</a:t>
            </a:r>
            <a:endParaRPr lang="en-US" sz="1050" dirty="0"/>
          </a:p>
        </p:txBody>
      </p:sp>
      <p:sp>
        <p:nvSpPr>
          <p:cNvPr id="20" name="Text 16"/>
          <p:cNvSpPr txBox="1"/>
          <p:nvPr/>
        </p:nvSpPr>
        <p:spPr>
          <a:xfrm>
            <a:off x="548640" y="6236208"/>
            <a:ext cx="5486400" cy="274320"/>
          </a:xfrm>
          <a:prstGeom prst="rect">
            <a:avLst/>
          </a:prstGeom>
          <a:noFill/>
          <a:ln/>
        </p:spPr>
        <p:txBody>
          <a:bodyPr wrap="square" lIns="0" tIns="0" rIns="0" bIns="0" rtlCol="0" anchor="ctr"/>
          <a:lstStyle/>
          <a:p>
            <a:pPr indent="0" marL="0">
              <a:buNone/>
            </a:pPr>
            <a:r>
              <a:rPr lang="en-US" sz="950" dirty="0">
                <a:solidFill>
                  <a:srgbClr val="A9989C"/>
                </a:solidFill>
                <a:latin typeface="Calibri" pitchFamily="34" charset="0"/>
                <a:ea typeface="Calibri" pitchFamily="34" charset="-122"/>
                <a:cs typeface="Calibri" pitchFamily="34" charset="-120"/>
              </a:rPr>
              <a:t>Customer 360  ·  Online Retail II</a:t>
            </a:r>
            <a:endParaRPr lang="en-US" sz="950" dirty="0"/>
          </a:p>
        </p:txBody>
      </p:sp>
      <p:sp>
        <p:nvSpPr>
          <p:cNvPr id="21" name="Text 17"/>
          <p:cNvSpPr txBox="1"/>
          <p:nvPr/>
        </p:nvSpPr>
        <p:spPr>
          <a:xfrm>
            <a:off x="10515600" y="6236208"/>
            <a:ext cx="1097280" cy="274320"/>
          </a:xfrm>
          <a:prstGeom prst="rect">
            <a:avLst/>
          </a:prstGeom>
          <a:noFill/>
          <a:ln/>
        </p:spPr>
        <p:txBody>
          <a:bodyPr wrap="square" lIns="0" tIns="0" rIns="0" bIns="0" rtlCol="0" anchor="ctr"/>
          <a:lstStyle/>
          <a:p>
            <a:pPr algn="r" indent="0" marL="0">
              <a:buNone/>
            </a:pPr>
            <a:r>
              <a:rPr lang="en-US" sz="950" b="1" dirty="0">
                <a:solidFill>
                  <a:srgbClr val="A26769"/>
                </a:solidFill>
                <a:latin typeface="Calibri" pitchFamily="34" charset="0"/>
                <a:ea typeface="Calibri" pitchFamily="34" charset="-122"/>
                <a:cs typeface="Calibri" pitchFamily="34" charset="-120"/>
              </a:rPr>
              <a:t>13</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086307" cy="274320"/>
          </a:xfrm>
          <a:prstGeom prst="roundRect">
            <a:avLst>
              <a:gd name="adj" fmla="val 46667"/>
            </a:avLst>
          </a:prstGeom>
          <a:solidFill>
            <a:srgbClr val="ECE2D0"/>
          </a:solidFill>
          <a:ln w="12700">
            <a:solidFill>
              <a:srgbClr val="ECE2D0"/>
            </a:solidFill>
            <a:prstDash val="solid"/>
          </a:ln>
        </p:spPr>
      </p:sp>
      <p:sp>
        <p:nvSpPr>
          <p:cNvPr id="3" name="Text 1"/>
          <p:cNvSpPr txBox="1"/>
          <p:nvPr/>
        </p:nvSpPr>
        <p:spPr>
          <a:xfrm>
            <a:off x="548640" y="384048"/>
            <a:ext cx="1086307" cy="274320"/>
          </a:xfrm>
          <a:prstGeom prst="rect">
            <a:avLst/>
          </a:prstGeom>
          <a:noFill/>
          <a:ln/>
        </p:spPr>
        <p:txBody>
          <a:bodyPr wrap="square" lIns="0" tIns="0" rIns="0" bIns="0" rtlCol="0" anchor="ctr"/>
          <a:lstStyle/>
          <a:p>
            <a:pPr algn="ctr" indent="0" marL="0">
              <a:buNone/>
            </a:pPr>
            <a:r>
              <a:rPr lang="en-US" sz="1050" b="1" spc="120" kern="0" dirty="0">
                <a:solidFill>
                  <a:srgbClr val="6D2E46"/>
                </a:solidFill>
                <a:latin typeface="Calibri" pitchFamily="34" charset="0"/>
                <a:ea typeface="Calibri" pitchFamily="34" charset="-122"/>
                <a:cs typeface="Calibri" pitchFamily="34" charset="-120"/>
              </a:rPr>
              <a:t>KEY FINDING</a:t>
            </a:r>
            <a:endParaRPr lang="en-US" sz="1050" dirty="0"/>
          </a:p>
        </p:txBody>
      </p:sp>
      <p:sp>
        <p:nvSpPr>
          <p:cNvPr id="4" name="Text 2"/>
          <p:cNvSpPr txBox="1"/>
          <p:nvPr/>
        </p:nvSpPr>
        <p:spPr>
          <a:xfrm>
            <a:off x="548640" y="749808"/>
            <a:ext cx="11064240" cy="658368"/>
          </a:xfrm>
          <a:prstGeom prst="rect">
            <a:avLst/>
          </a:prstGeom>
          <a:noFill/>
          <a:ln/>
        </p:spPr>
        <p:txBody>
          <a:bodyPr wrap="square" lIns="0" tIns="0" rIns="0" bIns="0" rtlCol="0" anchor="ctr"/>
          <a:lstStyle/>
          <a:p>
            <a:pPr indent="0" marL="0">
              <a:buNone/>
            </a:pPr>
            <a:r>
              <a:rPr lang="en-US" sz="3200" b="1" dirty="0">
                <a:solidFill>
                  <a:srgbClr val="2B2124"/>
                </a:solidFill>
                <a:latin typeface="Cambria" pitchFamily="34" charset="0"/>
                <a:ea typeface="Cambria" pitchFamily="34" charset="-122"/>
                <a:cs typeface="Cambria" pitchFamily="34" charset="-120"/>
              </a:rPr>
              <a:t>Order of purchase beats similarity of taste</a:t>
            </a:r>
            <a:endParaRPr lang="en-US" sz="3200" dirty="0"/>
          </a:p>
        </p:txBody>
      </p:sp>
      <p:sp>
        <p:nvSpPr>
          <p:cNvPr id="5" name="Text 3"/>
          <p:cNvSpPr txBox="1"/>
          <p:nvPr/>
        </p:nvSpPr>
        <p:spPr>
          <a:xfrm>
            <a:off x="548640" y="1389888"/>
            <a:ext cx="11064240" cy="365760"/>
          </a:xfrm>
          <a:prstGeom prst="rect">
            <a:avLst/>
          </a:prstGeom>
          <a:noFill/>
          <a:ln/>
        </p:spPr>
        <p:txBody>
          <a:bodyPr wrap="square" lIns="0" tIns="0" rIns="0" bIns="0" rtlCol="0" anchor="t"/>
          <a:lstStyle/>
          <a:p>
            <a:pPr indent="0" marL="0">
              <a:buNone/>
            </a:pPr>
            <a:r>
              <a:rPr lang="en-US" sz="1400" dirty="0">
                <a:solidFill>
                  <a:srgbClr val="6B5C60"/>
                </a:solidFill>
                <a:latin typeface="Calibri" pitchFamily="34" charset="0"/>
                <a:ea typeface="Calibri" pitchFamily="34" charset="-122"/>
                <a:cs typeface="Calibri" pitchFamily="34" charset="-120"/>
              </a:rPr>
              <a:t>The sequence model is the only one that sees what a customer bought most recently — and it nearly triples the classical baseline.</a:t>
            </a:r>
            <a:endParaRPr lang="en-US" sz="1400" dirty="0"/>
          </a:p>
        </p:txBody>
      </p:sp>
      <p:sp>
        <p:nvSpPr>
          <p:cNvPr id="6" name="Shape 4"/>
          <p:cNvSpPr/>
          <p:nvPr/>
        </p:nvSpPr>
        <p:spPr>
          <a:xfrm>
            <a:off x="548640" y="2057400"/>
            <a:ext cx="3520440" cy="1920240"/>
          </a:xfrm>
          <a:prstGeom prst="roundRect">
            <a:avLst>
              <a:gd name="adj" fmla="val 4762"/>
            </a:avLst>
          </a:prstGeom>
          <a:solidFill>
            <a:srgbClr val="F7F2EA"/>
          </a:solidFill>
          <a:ln w="12700">
            <a:solidFill>
              <a:srgbClr val="ECE2D0"/>
            </a:solidFill>
            <a:prstDash val="solid"/>
          </a:ln>
          <a:effectLst>
            <a:outerShdw sx="100000" sy="100000" kx="0" ky="0" algn="bl" rotWithShape="0" blurRad="101600" dist="12700" dir="5400000">
              <a:srgbClr val="000000">
                <a:alpha val="8000"/>
              </a:srgbClr>
            </a:outerShdw>
          </a:effectLst>
        </p:spPr>
      </p:sp>
      <p:sp>
        <p:nvSpPr>
          <p:cNvPr id="7" name="Text 5"/>
          <p:cNvSpPr txBox="1"/>
          <p:nvPr/>
        </p:nvSpPr>
        <p:spPr>
          <a:xfrm>
            <a:off x="804672" y="2267712"/>
            <a:ext cx="3017520" cy="548640"/>
          </a:xfrm>
          <a:prstGeom prst="rect">
            <a:avLst/>
          </a:prstGeom>
          <a:noFill/>
          <a:ln/>
        </p:spPr>
        <p:txBody>
          <a:bodyPr wrap="square" lIns="0" tIns="0" rIns="0" bIns="0" rtlCol="0" anchor="ctr"/>
          <a:lstStyle/>
          <a:p>
            <a:pPr indent="0" marL="0">
              <a:buNone/>
            </a:pPr>
            <a:r>
              <a:rPr lang="en-US" sz="3000" b="1" dirty="0">
                <a:solidFill>
                  <a:srgbClr val="6B5C60"/>
                </a:solidFill>
                <a:latin typeface="Cambria" pitchFamily="34" charset="0"/>
                <a:ea typeface="Cambria" pitchFamily="34" charset="-122"/>
                <a:cs typeface="Cambria" pitchFamily="34" charset="-120"/>
              </a:rPr>
              <a:t>10.2%</a:t>
            </a:r>
            <a:endParaRPr lang="en-US" sz="3000" dirty="0"/>
          </a:p>
        </p:txBody>
      </p:sp>
      <p:sp>
        <p:nvSpPr>
          <p:cNvPr id="8" name="Text 6"/>
          <p:cNvSpPr txBox="1"/>
          <p:nvPr/>
        </p:nvSpPr>
        <p:spPr>
          <a:xfrm>
            <a:off x="804672" y="2816352"/>
            <a:ext cx="3017520" cy="274320"/>
          </a:xfrm>
          <a:prstGeom prst="rect">
            <a:avLst/>
          </a:prstGeom>
          <a:noFill/>
          <a:ln/>
        </p:spPr>
        <p:txBody>
          <a:bodyPr wrap="square" lIns="0" tIns="0" rIns="0" bIns="0" rtlCol="0" anchor="ctr"/>
          <a:lstStyle/>
          <a:p>
            <a:pPr indent="0" marL="0">
              <a:buNone/>
            </a:pPr>
            <a:r>
              <a:rPr lang="en-US" sz="1250" b="1" dirty="0">
                <a:solidFill>
                  <a:srgbClr val="2B2124"/>
                </a:solidFill>
                <a:latin typeface="Calibri" pitchFamily="34" charset="0"/>
                <a:ea typeface="Calibri" pitchFamily="34" charset="-122"/>
                <a:cs typeface="Calibri" pitchFamily="34" charset="-120"/>
              </a:rPr>
              <a:t>SVD matrix factorisation</a:t>
            </a:r>
            <a:endParaRPr lang="en-US" sz="1250" dirty="0"/>
          </a:p>
        </p:txBody>
      </p:sp>
      <p:sp>
        <p:nvSpPr>
          <p:cNvPr id="9" name="Text 7"/>
          <p:cNvSpPr txBox="1"/>
          <p:nvPr/>
        </p:nvSpPr>
        <p:spPr>
          <a:xfrm>
            <a:off x="804672" y="3108960"/>
            <a:ext cx="3017520" cy="640080"/>
          </a:xfrm>
          <a:prstGeom prst="rect">
            <a:avLst/>
          </a:prstGeom>
          <a:noFill/>
          <a:ln/>
        </p:spPr>
        <p:txBody>
          <a:bodyPr wrap="square" lIns="0" tIns="0" rIns="0" bIns="0" rtlCol="0" anchor="ctr"/>
          <a:lstStyle/>
          <a:p>
            <a:pPr indent="0" marL="0">
              <a:buNone/>
            </a:pPr>
            <a:r>
              <a:rPr lang="en-US" sz="1050" dirty="0">
                <a:solidFill>
                  <a:srgbClr val="6B5C60"/>
                </a:solidFill>
                <a:latin typeface="Calibri" pitchFamily="34" charset="0"/>
                <a:ea typeface="Calibri" pitchFamily="34" charset="-122"/>
                <a:cs typeface="Calibri" pitchFamily="34" charset="-120"/>
              </a:rPr>
              <a:t>Best classical baseline. Learns taste, ignores timing.</a:t>
            </a:r>
            <a:endParaRPr lang="en-US" sz="1050" dirty="0"/>
          </a:p>
        </p:txBody>
      </p:sp>
      <p:sp>
        <p:nvSpPr>
          <p:cNvPr id="10" name="Text 8"/>
          <p:cNvSpPr txBox="1"/>
          <p:nvPr/>
        </p:nvSpPr>
        <p:spPr>
          <a:xfrm>
            <a:off x="4114800" y="2057400"/>
            <a:ext cx="731520" cy="1920240"/>
          </a:xfrm>
          <a:prstGeom prst="rect">
            <a:avLst/>
          </a:prstGeom>
          <a:noFill/>
          <a:ln/>
        </p:spPr>
        <p:txBody>
          <a:bodyPr wrap="square" lIns="0" tIns="0" rIns="0" bIns="0" rtlCol="0" anchor="ctr"/>
          <a:lstStyle/>
          <a:p>
            <a:pPr algn="ctr" indent="0" marL="0">
              <a:buNone/>
            </a:pPr>
            <a:r>
              <a:rPr lang="en-US" sz="3400" dirty="0">
                <a:solidFill>
                  <a:srgbClr val="C08A2E"/>
                </a:solidFill>
                <a:latin typeface="Calibri" pitchFamily="34" charset="0"/>
                <a:ea typeface="Calibri" pitchFamily="34" charset="-122"/>
                <a:cs typeface="Calibri" pitchFamily="34" charset="-120"/>
              </a:rPr>
              <a:t>→</a:t>
            </a:r>
            <a:endParaRPr lang="en-US" sz="3400" dirty="0"/>
          </a:p>
        </p:txBody>
      </p:sp>
      <p:sp>
        <p:nvSpPr>
          <p:cNvPr id="11" name="Shape 9"/>
          <p:cNvSpPr/>
          <p:nvPr/>
        </p:nvSpPr>
        <p:spPr>
          <a:xfrm>
            <a:off x="4892040" y="2057400"/>
            <a:ext cx="3520440" cy="1920240"/>
          </a:xfrm>
          <a:prstGeom prst="roundRect">
            <a:avLst>
              <a:gd name="adj" fmla="val 4762"/>
            </a:avLst>
          </a:prstGeom>
          <a:solidFill>
            <a:srgbClr val="6D2E46"/>
          </a:solidFill>
          <a:ln w="12700">
            <a:solidFill>
              <a:srgbClr val="6D2E46"/>
            </a:solidFill>
            <a:prstDash val="solid"/>
          </a:ln>
          <a:effectLst>
            <a:outerShdw sx="100000" sy="100000" kx="0" ky="0" algn="bl" rotWithShape="0" blurRad="101600" dist="12700" dir="5400000">
              <a:srgbClr val="000000">
                <a:alpha val="8000"/>
              </a:srgbClr>
            </a:outerShdw>
          </a:effectLst>
        </p:spPr>
      </p:sp>
      <p:sp>
        <p:nvSpPr>
          <p:cNvPr id="12" name="Text 10"/>
          <p:cNvSpPr txBox="1"/>
          <p:nvPr/>
        </p:nvSpPr>
        <p:spPr>
          <a:xfrm>
            <a:off x="5148072" y="2267712"/>
            <a:ext cx="3017520" cy="548640"/>
          </a:xfrm>
          <a:prstGeom prst="rect">
            <a:avLst/>
          </a:prstGeom>
          <a:noFill/>
          <a:ln/>
        </p:spPr>
        <p:txBody>
          <a:bodyPr wrap="square" lIns="0" tIns="0" rIns="0" bIns="0" rtlCol="0" anchor="ctr"/>
          <a:lstStyle/>
          <a:p>
            <a:pPr indent="0" marL="0">
              <a:buNone/>
            </a:pPr>
            <a:r>
              <a:rPr lang="en-US" sz="3000" b="1" dirty="0">
                <a:solidFill>
                  <a:srgbClr val="C08A2E"/>
                </a:solidFill>
                <a:latin typeface="Cambria" pitchFamily="34" charset="0"/>
                <a:ea typeface="Cambria" pitchFamily="34" charset="-122"/>
                <a:cs typeface="Cambria" pitchFamily="34" charset="-120"/>
              </a:rPr>
              <a:t>29.8%</a:t>
            </a:r>
            <a:endParaRPr lang="en-US" sz="3000" dirty="0"/>
          </a:p>
        </p:txBody>
      </p:sp>
      <p:sp>
        <p:nvSpPr>
          <p:cNvPr id="13" name="Text 11"/>
          <p:cNvSpPr txBox="1"/>
          <p:nvPr/>
        </p:nvSpPr>
        <p:spPr>
          <a:xfrm>
            <a:off x="5148072" y="2816352"/>
            <a:ext cx="3017520"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Sequence RNN</a:t>
            </a:r>
            <a:endParaRPr lang="en-US" sz="1250" dirty="0"/>
          </a:p>
        </p:txBody>
      </p:sp>
      <p:sp>
        <p:nvSpPr>
          <p:cNvPr id="14" name="Text 12"/>
          <p:cNvSpPr txBox="1"/>
          <p:nvPr/>
        </p:nvSpPr>
        <p:spPr>
          <a:xfrm>
            <a:off x="5148072" y="3108960"/>
            <a:ext cx="3017520" cy="640080"/>
          </a:xfrm>
          <a:prstGeom prst="rect">
            <a:avLst/>
          </a:prstGeom>
          <a:noFill/>
          <a:ln/>
        </p:spPr>
        <p:txBody>
          <a:bodyPr wrap="square" lIns="0" tIns="0" rIns="0" bIns="0" rtlCol="0" anchor="ctr"/>
          <a:lstStyle/>
          <a:p>
            <a:pPr indent="0" marL="0">
              <a:buNone/>
            </a:pPr>
            <a:r>
              <a:rPr lang="en-US" sz="1050" dirty="0">
                <a:solidFill>
                  <a:srgbClr val="ECE2D0"/>
                </a:solidFill>
                <a:latin typeface="Calibri" pitchFamily="34" charset="0"/>
                <a:ea typeface="Calibri" pitchFamily="34" charset="-122"/>
                <a:cs typeface="Calibri" pitchFamily="34" charset="-120"/>
              </a:rPr>
              <a:t>Reads the last ten products in order. Hit Rate@10, same test set.</a:t>
            </a:r>
            <a:endParaRPr lang="en-US" sz="1050" dirty="0"/>
          </a:p>
        </p:txBody>
      </p:sp>
      <p:sp>
        <p:nvSpPr>
          <p:cNvPr id="15" name="Shape 13"/>
          <p:cNvSpPr/>
          <p:nvPr/>
        </p:nvSpPr>
        <p:spPr>
          <a:xfrm>
            <a:off x="8641080" y="2057400"/>
            <a:ext cx="2971800" cy="1920240"/>
          </a:xfrm>
          <a:prstGeom prst="roundRect">
            <a:avLst>
              <a:gd name="adj" fmla="val 4762"/>
            </a:avLst>
          </a:prstGeom>
          <a:solidFill>
            <a:srgbClr val="F7F2EA"/>
          </a:solidFill>
          <a:ln w="12700">
            <a:solidFill>
              <a:srgbClr val="ECE2D0"/>
            </a:solidFill>
            <a:prstDash val="solid"/>
          </a:ln>
          <a:effectLst>
            <a:outerShdw sx="100000" sy="100000" kx="0" ky="0" algn="bl" rotWithShape="0" blurRad="101600" dist="12700" dir="5400000">
              <a:srgbClr val="000000">
                <a:alpha val="8000"/>
              </a:srgbClr>
            </a:outerShdw>
          </a:effectLst>
        </p:spPr>
      </p:sp>
      <p:sp>
        <p:nvSpPr>
          <p:cNvPr id="16" name="Text 14"/>
          <p:cNvSpPr txBox="1"/>
          <p:nvPr/>
        </p:nvSpPr>
        <p:spPr>
          <a:xfrm>
            <a:off x="8897112" y="2267712"/>
            <a:ext cx="2468880" cy="548640"/>
          </a:xfrm>
          <a:prstGeom prst="rect">
            <a:avLst/>
          </a:prstGeom>
          <a:noFill/>
          <a:ln/>
        </p:spPr>
        <p:txBody>
          <a:bodyPr wrap="square" lIns="0" tIns="0" rIns="0" bIns="0" rtlCol="0" anchor="ctr"/>
          <a:lstStyle/>
          <a:p>
            <a:pPr indent="0" marL="0">
              <a:buNone/>
            </a:pPr>
            <a:r>
              <a:rPr lang="en-US" sz="3000" b="1" dirty="0">
                <a:solidFill>
                  <a:srgbClr val="6D2E46"/>
                </a:solidFill>
                <a:latin typeface="Cambria" pitchFamily="34" charset="0"/>
                <a:ea typeface="Cambria" pitchFamily="34" charset="-122"/>
                <a:cs typeface="Cambria" pitchFamily="34" charset="-120"/>
              </a:rPr>
              <a:t>2.9×</a:t>
            </a:r>
            <a:endParaRPr lang="en-US" sz="3000" dirty="0"/>
          </a:p>
        </p:txBody>
      </p:sp>
      <p:sp>
        <p:nvSpPr>
          <p:cNvPr id="17" name="Text 15"/>
          <p:cNvSpPr txBox="1"/>
          <p:nvPr/>
        </p:nvSpPr>
        <p:spPr>
          <a:xfrm>
            <a:off x="8897112" y="2816352"/>
            <a:ext cx="2468880" cy="274320"/>
          </a:xfrm>
          <a:prstGeom prst="rect">
            <a:avLst/>
          </a:prstGeom>
          <a:noFill/>
          <a:ln/>
        </p:spPr>
        <p:txBody>
          <a:bodyPr wrap="square" lIns="0" tIns="0" rIns="0" bIns="0" rtlCol="0" anchor="ctr"/>
          <a:lstStyle/>
          <a:p>
            <a:pPr indent="0" marL="0">
              <a:buNone/>
            </a:pPr>
            <a:r>
              <a:rPr lang="en-US" sz="1250" b="1" dirty="0">
                <a:solidFill>
                  <a:srgbClr val="2B2124"/>
                </a:solidFill>
                <a:latin typeface="Calibri" pitchFamily="34" charset="0"/>
                <a:ea typeface="Calibri" pitchFamily="34" charset="-122"/>
                <a:cs typeface="Calibri" pitchFamily="34" charset="-120"/>
              </a:rPr>
              <a:t>Lift over the baseline</a:t>
            </a:r>
            <a:endParaRPr lang="en-US" sz="1250" dirty="0"/>
          </a:p>
        </p:txBody>
      </p:sp>
      <p:sp>
        <p:nvSpPr>
          <p:cNvPr id="18" name="Text 16"/>
          <p:cNvSpPr txBox="1"/>
          <p:nvPr/>
        </p:nvSpPr>
        <p:spPr>
          <a:xfrm>
            <a:off x="8897112" y="3108960"/>
            <a:ext cx="2468880" cy="685800"/>
          </a:xfrm>
          <a:prstGeom prst="rect">
            <a:avLst/>
          </a:prstGeom>
          <a:noFill/>
          <a:ln/>
        </p:spPr>
        <p:txBody>
          <a:bodyPr wrap="square" lIns="0" tIns="0" rIns="0" bIns="0" rtlCol="0" anchor="ctr"/>
          <a:lstStyle/>
          <a:p>
            <a:pPr indent="0" marL="0">
              <a:buNone/>
            </a:pPr>
            <a:r>
              <a:rPr lang="en-US" sz="1050" dirty="0">
                <a:solidFill>
                  <a:srgbClr val="6B5C60"/>
                </a:solidFill>
                <a:latin typeface="Calibri" pitchFamily="34" charset="0"/>
                <a:ea typeface="Calibri" pitchFamily="34" charset="-122"/>
                <a:cs typeface="Calibri" pitchFamily="34" charset="-120"/>
              </a:rPr>
              <a:t>MRR@10 rises 0.040 → 0.186: correct items also rank higher.</a:t>
            </a:r>
            <a:endParaRPr lang="en-US" sz="1050" dirty="0"/>
          </a:p>
        </p:txBody>
      </p:sp>
      <p:sp>
        <p:nvSpPr>
          <p:cNvPr id="19" name="Shape 17"/>
          <p:cNvSpPr/>
          <p:nvPr/>
        </p:nvSpPr>
        <p:spPr>
          <a:xfrm>
            <a:off x="548640" y="4206240"/>
            <a:ext cx="11064240" cy="1463040"/>
          </a:xfrm>
          <a:prstGeom prst="roundRect">
            <a:avLst>
              <a:gd name="adj" fmla="val 6250"/>
            </a:avLst>
          </a:prstGeom>
          <a:solidFill>
            <a:srgbClr val="F7F2EA"/>
          </a:solidFill>
          <a:ln w="12700">
            <a:solidFill>
              <a:srgbClr val="ECE2D0"/>
            </a:solidFill>
            <a:prstDash val="solid"/>
          </a:ln>
          <a:effectLst>
            <a:outerShdw sx="100000" sy="100000" kx="0" ky="0" algn="bl" rotWithShape="0" blurRad="101600" dist="12700" dir="5400000">
              <a:srgbClr val="000000">
                <a:alpha val="8000"/>
              </a:srgbClr>
            </a:outerShdw>
          </a:effectLst>
        </p:spPr>
      </p:sp>
      <p:sp>
        <p:nvSpPr>
          <p:cNvPr id="20" name="Text 18"/>
          <p:cNvSpPr txBox="1"/>
          <p:nvPr/>
        </p:nvSpPr>
        <p:spPr>
          <a:xfrm>
            <a:off x="822960" y="4370832"/>
            <a:ext cx="3657600" cy="274320"/>
          </a:xfrm>
          <a:prstGeom prst="rect">
            <a:avLst/>
          </a:prstGeom>
          <a:noFill/>
          <a:ln/>
        </p:spPr>
        <p:txBody>
          <a:bodyPr wrap="square" lIns="0" tIns="0" rIns="0" bIns="0" rtlCol="0" anchor="ctr"/>
          <a:lstStyle/>
          <a:p>
            <a:pPr indent="0" marL="0">
              <a:buNone/>
            </a:pPr>
            <a:r>
              <a:rPr lang="en-US" sz="1300" b="1" dirty="0">
                <a:solidFill>
                  <a:srgbClr val="6D2E46"/>
                </a:solidFill>
                <a:latin typeface="Calibri" pitchFamily="34" charset="0"/>
                <a:ea typeface="Calibri" pitchFamily="34" charset="-122"/>
                <a:cs typeface="Calibri" pitchFamily="34" charset="-120"/>
              </a:rPr>
              <a:t>Read this carefully</a:t>
            </a:r>
            <a:endParaRPr lang="en-US" sz="1300" dirty="0"/>
          </a:p>
        </p:txBody>
      </p:sp>
      <p:sp>
        <p:nvSpPr>
          <p:cNvPr id="21" name="Text 19"/>
          <p:cNvSpPr txBox="1"/>
          <p:nvPr/>
        </p:nvSpPr>
        <p:spPr>
          <a:xfrm>
            <a:off x="822960" y="4681728"/>
            <a:ext cx="10515600" cy="868680"/>
          </a:xfrm>
          <a:prstGeom prst="rect">
            <a:avLst/>
          </a:prstGeom>
          <a:noFill/>
          <a:ln/>
        </p:spPr>
        <p:txBody>
          <a:bodyPr wrap="square" lIns="0" tIns="0" rIns="0" bIns="0" rtlCol="0" anchor="ctr"/>
          <a:lstStyle/>
          <a:p>
            <a:pPr indent="0" marL="0">
              <a:buNone/>
            </a:pPr>
            <a:r>
              <a:rPr lang="en-US" sz="1200" dirty="0">
                <a:solidFill>
                  <a:srgbClr val="6B5C60"/>
                </a:solidFill>
                <a:latin typeface="Calibri" pitchFamily="34" charset="0"/>
                <a:ea typeface="Calibri" pitchFamily="34" charset="-122"/>
                <a:cs typeface="Calibri" pitchFamily="34" charset="-120"/>
              </a:rPr>
              <a:t>The gap reflects strong short-term repeat-purchase behaviour in this catalogue — customers restock consumable gift lines in predictable runs — rather than a general claim that recurrent networks beat matrix factorisation. Both neural models were kept deliberately small (few epochs, compact embeddings) to run without a GPU, so these are floors, not ceilings.</a:t>
            </a:r>
            <a:endParaRPr lang="en-US" sz="1200" dirty="0"/>
          </a:p>
        </p:txBody>
      </p:sp>
      <p:sp>
        <p:nvSpPr>
          <p:cNvPr id="23" name="Text 20"/>
          <p:cNvSpPr txBox="1"/>
          <p:nvPr/>
        </p:nvSpPr>
        <p:spPr>
          <a:xfrm>
            <a:off x="548640" y="6236208"/>
            <a:ext cx="5486400" cy="274320"/>
          </a:xfrm>
          <a:prstGeom prst="rect">
            <a:avLst/>
          </a:prstGeom>
          <a:noFill/>
          <a:ln/>
        </p:spPr>
        <p:txBody>
          <a:bodyPr wrap="square" lIns="0" tIns="0" rIns="0" bIns="0" rtlCol="0" anchor="ctr"/>
          <a:lstStyle/>
          <a:p>
            <a:pPr indent="0" marL="0">
              <a:buNone/>
            </a:pPr>
            <a:r>
              <a:rPr lang="en-US" sz="950" dirty="0">
                <a:solidFill>
                  <a:srgbClr val="A9989C"/>
                </a:solidFill>
                <a:latin typeface="Calibri" pitchFamily="34" charset="0"/>
                <a:ea typeface="Calibri" pitchFamily="34" charset="-122"/>
                <a:cs typeface="Calibri" pitchFamily="34" charset="-120"/>
              </a:rPr>
              <a:t>Customer 360  ·  Online Retail II</a:t>
            </a:r>
            <a:endParaRPr lang="en-US" sz="950" dirty="0"/>
          </a:p>
        </p:txBody>
      </p:sp>
      <p:sp>
        <p:nvSpPr>
          <p:cNvPr id="24" name="Text 21"/>
          <p:cNvSpPr txBox="1"/>
          <p:nvPr/>
        </p:nvSpPr>
        <p:spPr>
          <a:xfrm>
            <a:off x="10515600" y="6236208"/>
            <a:ext cx="1097280" cy="274320"/>
          </a:xfrm>
          <a:prstGeom prst="rect">
            <a:avLst/>
          </a:prstGeom>
          <a:noFill/>
          <a:ln/>
        </p:spPr>
        <p:txBody>
          <a:bodyPr wrap="square" lIns="0" tIns="0" rIns="0" bIns="0" rtlCol="0" anchor="ctr"/>
          <a:lstStyle/>
          <a:p>
            <a:pPr algn="r" indent="0" marL="0">
              <a:buNone/>
            </a:pPr>
            <a:r>
              <a:rPr lang="en-US" sz="950" b="1" dirty="0">
                <a:solidFill>
                  <a:srgbClr val="A26769"/>
                </a:solidFill>
                <a:latin typeface="Calibri" pitchFamily="34" charset="0"/>
                <a:ea typeface="Calibri" pitchFamily="34" charset="-122"/>
                <a:cs typeface="Calibri" pitchFamily="34" charset="-120"/>
              </a:rPr>
              <a:t>14</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247242" cy="274320"/>
          </a:xfrm>
          <a:prstGeom prst="roundRect">
            <a:avLst>
              <a:gd name="adj" fmla="val 46667"/>
            </a:avLst>
          </a:prstGeom>
          <a:solidFill>
            <a:srgbClr val="ECE2D0"/>
          </a:solidFill>
          <a:ln w="12700">
            <a:solidFill>
              <a:srgbClr val="ECE2D0"/>
            </a:solidFill>
            <a:prstDash val="solid"/>
          </a:ln>
        </p:spPr>
      </p:sp>
      <p:sp>
        <p:nvSpPr>
          <p:cNvPr id="3" name="Text 1"/>
          <p:cNvSpPr txBox="1"/>
          <p:nvPr/>
        </p:nvSpPr>
        <p:spPr>
          <a:xfrm>
            <a:off x="548640" y="384048"/>
            <a:ext cx="1247242" cy="274320"/>
          </a:xfrm>
          <a:prstGeom prst="rect">
            <a:avLst/>
          </a:prstGeom>
          <a:noFill/>
          <a:ln/>
        </p:spPr>
        <p:txBody>
          <a:bodyPr wrap="square" lIns="0" tIns="0" rIns="0" bIns="0" rtlCol="0" anchor="ctr"/>
          <a:lstStyle/>
          <a:p>
            <a:pPr algn="ctr" indent="0" marL="0">
              <a:buNone/>
            </a:pPr>
            <a:r>
              <a:rPr lang="en-US" sz="1050" b="1" spc="120" kern="0" dirty="0">
                <a:solidFill>
                  <a:srgbClr val="6D2E46"/>
                </a:solidFill>
                <a:latin typeface="Calibri" pitchFamily="34" charset="0"/>
                <a:ea typeface="Calibri" pitchFamily="34" charset="-122"/>
                <a:cs typeface="Calibri" pitchFamily="34" charset="-120"/>
              </a:rPr>
              <a:t>MARKET BASKET</a:t>
            </a:r>
            <a:endParaRPr lang="en-US" sz="1050" dirty="0"/>
          </a:p>
        </p:txBody>
      </p:sp>
      <p:sp>
        <p:nvSpPr>
          <p:cNvPr id="4" name="Text 2"/>
          <p:cNvSpPr txBox="1"/>
          <p:nvPr/>
        </p:nvSpPr>
        <p:spPr>
          <a:xfrm>
            <a:off x="548640" y="749808"/>
            <a:ext cx="11064240" cy="658368"/>
          </a:xfrm>
          <a:prstGeom prst="rect">
            <a:avLst/>
          </a:prstGeom>
          <a:noFill/>
          <a:ln/>
        </p:spPr>
        <p:txBody>
          <a:bodyPr wrap="square" lIns="0" tIns="0" rIns="0" bIns="0" rtlCol="0" anchor="ctr"/>
          <a:lstStyle/>
          <a:p>
            <a:pPr indent="0" marL="0">
              <a:buNone/>
            </a:pPr>
            <a:r>
              <a:rPr lang="en-US" sz="3200" b="1" dirty="0">
                <a:solidFill>
                  <a:srgbClr val="2B2124"/>
                </a:solidFill>
                <a:latin typeface="Cambria" pitchFamily="34" charset="0"/>
                <a:ea typeface="Cambria" pitchFamily="34" charset="-122"/>
                <a:cs typeface="Cambria" pitchFamily="34" charset="-120"/>
              </a:rPr>
              <a:t>What gets bought together</a:t>
            </a:r>
            <a:endParaRPr lang="en-US" sz="3200" dirty="0"/>
          </a:p>
        </p:txBody>
      </p:sp>
      <p:sp>
        <p:nvSpPr>
          <p:cNvPr id="5" name="Text 3"/>
          <p:cNvSpPr txBox="1"/>
          <p:nvPr/>
        </p:nvSpPr>
        <p:spPr>
          <a:xfrm>
            <a:off x="548640" y="1389888"/>
            <a:ext cx="11064240" cy="365760"/>
          </a:xfrm>
          <a:prstGeom prst="rect">
            <a:avLst/>
          </a:prstGeom>
          <a:noFill/>
          <a:ln/>
        </p:spPr>
        <p:txBody>
          <a:bodyPr wrap="square" lIns="0" tIns="0" rIns="0" bIns="0" rtlCol="0" anchor="t"/>
          <a:lstStyle/>
          <a:p>
            <a:pPr indent="0" marL="0">
              <a:buNone/>
            </a:pPr>
            <a:r>
              <a:rPr lang="en-US" sz="1400" dirty="0">
                <a:solidFill>
                  <a:srgbClr val="6B5C60"/>
                </a:solidFill>
                <a:latin typeface="Calibri" pitchFamily="34" charset="0"/>
                <a:ea typeface="Calibri" pitchFamily="34" charset="-122"/>
                <a:cs typeface="Calibri" pitchFamily="34" charset="-120"/>
              </a:rPr>
              <a:t>Pairwise association rules across 5,736 customer baskets — minimum 1% support, 10% confidence, lift above 1.</a:t>
            </a:r>
            <a:endParaRPr lang="en-US" sz="1400" dirty="0"/>
          </a:p>
        </p:txBody>
      </p:sp>
      <p:sp>
        <p:nvSpPr>
          <p:cNvPr id="6" name="Shape 4"/>
          <p:cNvSpPr/>
          <p:nvPr/>
        </p:nvSpPr>
        <p:spPr>
          <a:xfrm>
            <a:off x="548640" y="2011680"/>
            <a:ext cx="6675120" cy="2606040"/>
          </a:xfrm>
          <a:prstGeom prst="roundRect">
            <a:avLst>
              <a:gd name="adj" fmla="val 3509"/>
            </a:avLst>
          </a:prstGeom>
          <a:solidFill>
            <a:srgbClr val="F7F2EA"/>
          </a:solidFill>
          <a:ln w="12700">
            <a:solidFill>
              <a:srgbClr val="ECE2D0"/>
            </a:solidFill>
            <a:prstDash val="solid"/>
          </a:ln>
          <a:effectLst>
            <a:outerShdw sx="100000" sy="100000" kx="0" ky="0" algn="bl" rotWithShape="0" blurRad="101600" dist="12700" dir="5400000">
              <a:srgbClr val="000000">
                <a:alpha val="8000"/>
              </a:srgbClr>
            </a:outerShdw>
          </a:effectLst>
        </p:spPr>
      </p:sp>
      <p:sp>
        <p:nvSpPr>
          <p:cNvPr id="7" name="Text 5"/>
          <p:cNvSpPr txBox="1"/>
          <p:nvPr/>
        </p:nvSpPr>
        <p:spPr>
          <a:xfrm>
            <a:off x="822960" y="2157984"/>
            <a:ext cx="3657600" cy="274320"/>
          </a:xfrm>
          <a:prstGeom prst="rect">
            <a:avLst/>
          </a:prstGeom>
          <a:noFill/>
          <a:ln/>
        </p:spPr>
        <p:txBody>
          <a:bodyPr wrap="square" lIns="0" tIns="0" rIns="0" bIns="0" rtlCol="0" anchor="ctr"/>
          <a:lstStyle/>
          <a:p>
            <a:pPr indent="0" marL="0">
              <a:buNone/>
            </a:pPr>
            <a:r>
              <a:rPr lang="en-US" sz="1300" b="1" dirty="0">
                <a:solidFill>
                  <a:srgbClr val="6D2E46"/>
                </a:solidFill>
                <a:latin typeface="Calibri" pitchFamily="34" charset="0"/>
                <a:ea typeface="Calibri" pitchFamily="34" charset="-122"/>
                <a:cs typeface="Calibri" pitchFamily="34" charset="-120"/>
              </a:rPr>
              <a:t>Strongest product pairs</a:t>
            </a:r>
            <a:endParaRPr lang="en-US" sz="1300" dirty="0"/>
          </a:p>
        </p:txBody>
      </p:sp>
      <p:sp>
        <p:nvSpPr>
          <p:cNvPr id="8" name="Text 6"/>
          <p:cNvSpPr txBox="1"/>
          <p:nvPr/>
        </p:nvSpPr>
        <p:spPr>
          <a:xfrm>
            <a:off x="822960" y="2514600"/>
            <a:ext cx="3749040" cy="237744"/>
          </a:xfrm>
          <a:prstGeom prst="rect">
            <a:avLst/>
          </a:prstGeom>
          <a:noFill/>
          <a:ln/>
        </p:spPr>
        <p:txBody>
          <a:bodyPr wrap="square" lIns="0" tIns="0" rIns="0" bIns="0" rtlCol="0" anchor="ctr"/>
          <a:lstStyle/>
          <a:p>
            <a:pPr algn="l" indent="0" marL="0">
              <a:buNone/>
            </a:pPr>
            <a:r>
              <a:rPr lang="en-US" sz="950" b="1" spc="80" kern="0" dirty="0">
                <a:solidFill>
                  <a:srgbClr val="6B5C60"/>
                </a:solidFill>
                <a:latin typeface="Calibri" pitchFamily="34" charset="0"/>
                <a:ea typeface="Calibri" pitchFamily="34" charset="-122"/>
                <a:cs typeface="Calibri" pitchFamily="34" charset="-120"/>
              </a:rPr>
              <a:t>Rule</a:t>
            </a:r>
            <a:endParaRPr lang="en-US" sz="950" dirty="0"/>
          </a:p>
        </p:txBody>
      </p:sp>
      <p:sp>
        <p:nvSpPr>
          <p:cNvPr id="9" name="Text 7"/>
          <p:cNvSpPr txBox="1"/>
          <p:nvPr/>
        </p:nvSpPr>
        <p:spPr>
          <a:xfrm>
            <a:off x="4617720" y="2514600"/>
            <a:ext cx="1188720" cy="237744"/>
          </a:xfrm>
          <a:prstGeom prst="rect">
            <a:avLst/>
          </a:prstGeom>
          <a:noFill/>
          <a:ln/>
        </p:spPr>
        <p:txBody>
          <a:bodyPr wrap="square" lIns="0" tIns="0" rIns="0" bIns="0" rtlCol="0" anchor="ctr"/>
          <a:lstStyle/>
          <a:p>
            <a:pPr algn="r" indent="0" marL="0">
              <a:buNone/>
            </a:pPr>
            <a:r>
              <a:rPr lang="en-US" sz="950" b="1" spc="80" kern="0" dirty="0">
                <a:solidFill>
                  <a:srgbClr val="6B5C60"/>
                </a:solidFill>
                <a:latin typeface="Calibri" pitchFamily="34" charset="0"/>
                <a:ea typeface="Calibri" pitchFamily="34" charset="-122"/>
                <a:cs typeface="Calibri" pitchFamily="34" charset="-120"/>
              </a:rPr>
              <a:t>Confidence</a:t>
            </a:r>
            <a:endParaRPr lang="en-US" sz="950" dirty="0"/>
          </a:p>
        </p:txBody>
      </p:sp>
      <p:sp>
        <p:nvSpPr>
          <p:cNvPr id="10" name="Text 8"/>
          <p:cNvSpPr txBox="1"/>
          <p:nvPr/>
        </p:nvSpPr>
        <p:spPr>
          <a:xfrm>
            <a:off x="5852160" y="2514600"/>
            <a:ext cx="1097280" cy="237744"/>
          </a:xfrm>
          <a:prstGeom prst="rect">
            <a:avLst/>
          </a:prstGeom>
          <a:noFill/>
          <a:ln/>
        </p:spPr>
        <p:txBody>
          <a:bodyPr wrap="square" lIns="0" tIns="0" rIns="0" bIns="0" rtlCol="0" anchor="ctr"/>
          <a:lstStyle/>
          <a:p>
            <a:pPr algn="r" indent="0" marL="0">
              <a:buNone/>
            </a:pPr>
            <a:r>
              <a:rPr lang="en-US" sz="950" b="1" spc="80" kern="0" dirty="0">
                <a:solidFill>
                  <a:srgbClr val="6B5C60"/>
                </a:solidFill>
                <a:latin typeface="Calibri" pitchFamily="34" charset="0"/>
                <a:ea typeface="Calibri" pitchFamily="34" charset="-122"/>
                <a:cs typeface="Calibri" pitchFamily="34" charset="-120"/>
              </a:rPr>
              <a:t>Lift</a:t>
            </a:r>
            <a:endParaRPr lang="en-US" sz="950" dirty="0"/>
          </a:p>
        </p:txBody>
      </p:sp>
      <p:sp>
        <p:nvSpPr>
          <p:cNvPr id="11" name="Text 9"/>
          <p:cNvSpPr txBox="1"/>
          <p:nvPr/>
        </p:nvSpPr>
        <p:spPr>
          <a:xfrm>
            <a:off x="822960" y="2816352"/>
            <a:ext cx="3749040" cy="310896"/>
          </a:xfrm>
          <a:prstGeom prst="rect">
            <a:avLst/>
          </a:prstGeom>
          <a:noFill/>
          <a:ln/>
        </p:spPr>
        <p:txBody>
          <a:bodyPr wrap="square" lIns="0" tIns="0" rIns="0" bIns="0" rtlCol="0" anchor="ctr"/>
          <a:lstStyle/>
          <a:p>
            <a:pPr indent="0" marL="0">
              <a:buNone/>
            </a:pPr>
            <a:r>
              <a:rPr lang="en-US" sz="1100" dirty="0">
                <a:solidFill>
                  <a:srgbClr val="2B2124"/>
                </a:solidFill>
                <a:latin typeface="Calibri" pitchFamily="34" charset="0"/>
                <a:ea typeface="Calibri" pitchFamily="34" charset="-122"/>
                <a:cs typeface="Calibri" pitchFamily="34" charset="-120"/>
              </a:rPr>
              <a:t>French Blue Door Sign 7  →  Sign 3</a:t>
            </a:r>
            <a:endParaRPr lang="en-US" sz="1100" dirty="0"/>
          </a:p>
        </p:txBody>
      </p:sp>
      <p:sp>
        <p:nvSpPr>
          <p:cNvPr id="12" name="Text 10"/>
          <p:cNvSpPr txBox="1"/>
          <p:nvPr/>
        </p:nvSpPr>
        <p:spPr>
          <a:xfrm>
            <a:off x="4617720" y="2816352"/>
            <a:ext cx="1188720" cy="310896"/>
          </a:xfrm>
          <a:prstGeom prst="rect">
            <a:avLst/>
          </a:prstGeom>
          <a:noFill/>
          <a:ln/>
        </p:spPr>
        <p:txBody>
          <a:bodyPr wrap="square" lIns="0" tIns="0" rIns="0" bIns="0" rtlCol="0" anchor="ctr"/>
          <a:lstStyle/>
          <a:p>
            <a:pPr algn="r" indent="0" marL="0">
              <a:buNone/>
            </a:pPr>
            <a:r>
              <a:rPr lang="en-US" sz="1150" b="1" dirty="0">
                <a:solidFill>
                  <a:srgbClr val="2B2124"/>
                </a:solidFill>
                <a:latin typeface="Calibri" pitchFamily="34" charset="0"/>
                <a:ea typeface="Calibri" pitchFamily="34" charset="-122"/>
                <a:cs typeface="Calibri" pitchFamily="34" charset="-120"/>
              </a:rPr>
              <a:t>84.5%</a:t>
            </a:r>
            <a:endParaRPr lang="en-US" sz="1150" dirty="0"/>
          </a:p>
        </p:txBody>
      </p:sp>
      <p:sp>
        <p:nvSpPr>
          <p:cNvPr id="13" name="Text 11"/>
          <p:cNvSpPr txBox="1"/>
          <p:nvPr/>
        </p:nvSpPr>
        <p:spPr>
          <a:xfrm>
            <a:off x="5852160" y="2816352"/>
            <a:ext cx="1097280" cy="310896"/>
          </a:xfrm>
          <a:prstGeom prst="rect">
            <a:avLst/>
          </a:prstGeom>
          <a:noFill/>
          <a:ln/>
        </p:spPr>
        <p:txBody>
          <a:bodyPr wrap="square" lIns="0" tIns="0" rIns="0" bIns="0" rtlCol="0" anchor="ctr"/>
          <a:lstStyle/>
          <a:p>
            <a:pPr algn="r" indent="0" marL="0">
              <a:buNone/>
            </a:pPr>
            <a:r>
              <a:rPr lang="en-US" sz="1150" b="1" dirty="0">
                <a:solidFill>
                  <a:srgbClr val="6D2E46"/>
                </a:solidFill>
                <a:latin typeface="Calibri" pitchFamily="34" charset="0"/>
                <a:ea typeface="Calibri" pitchFamily="34" charset="-122"/>
                <a:cs typeface="Calibri" pitchFamily="34" charset="-120"/>
              </a:rPr>
              <a:t>52.7×</a:t>
            </a:r>
            <a:endParaRPr lang="en-US" sz="1150" dirty="0"/>
          </a:p>
        </p:txBody>
      </p:sp>
      <p:sp>
        <p:nvSpPr>
          <p:cNvPr id="14" name="Shape 12"/>
          <p:cNvSpPr/>
          <p:nvPr/>
        </p:nvSpPr>
        <p:spPr>
          <a:xfrm>
            <a:off x="822960" y="3182112"/>
            <a:ext cx="6126480" cy="0"/>
          </a:xfrm>
          <a:prstGeom prst="line">
            <a:avLst/>
          </a:prstGeom>
          <a:noFill/>
          <a:ln w="12700">
            <a:solidFill>
              <a:srgbClr val="E0D6C8"/>
            </a:solidFill>
            <a:prstDash val="solid"/>
          </a:ln>
        </p:spPr>
      </p:sp>
      <p:sp>
        <p:nvSpPr>
          <p:cNvPr id="15" name="Text 13"/>
          <p:cNvSpPr txBox="1"/>
          <p:nvPr/>
        </p:nvSpPr>
        <p:spPr>
          <a:xfrm>
            <a:off x="822960" y="3236976"/>
            <a:ext cx="3749040" cy="310896"/>
          </a:xfrm>
          <a:prstGeom prst="rect">
            <a:avLst/>
          </a:prstGeom>
          <a:noFill/>
          <a:ln/>
        </p:spPr>
        <p:txBody>
          <a:bodyPr wrap="square" lIns="0" tIns="0" rIns="0" bIns="0" rtlCol="0" anchor="ctr"/>
          <a:lstStyle/>
          <a:p>
            <a:pPr indent="0" marL="0">
              <a:buNone/>
            </a:pPr>
            <a:r>
              <a:rPr lang="en-US" sz="1100" dirty="0">
                <a:solidFill>
                  <a:srgbClr val="2B2124"/>
                </a:solidFill>
                <a:latin typeface="Calibri" pitchFamily="34" charset="0"/>
                <a:ea typeface="Calibri" pitchFamily="34" charset="-122"/>
                <a:cs typeface="Calibri" pitchFamily="34" charset="-120"/>
              </a:rPr>
              <a:t>French Blue Door Sign 7  →  Sign 8</a:t>
            </a:r>
            <a:endParaRPr lang="en-US" sz="1100" dirty="0"/>
          </a:p>
        </p:txBody>
      </p:sp>
      <p:sp>
        <p:nvSpPr>
          <p:cNvPr id="16" name="Text 14"/>
          <p:cNvSpPr txBox="1"/>
          <p:nvPr/>
        </p:nvSpPr>
        <p:spPr>
          <a:xfrm>
            <a:off x="4617720" y="3236976"/>
            <a:ext cx="1188720" cy="310896"/>
          </a:xfrm>
          <a:prstGeom prst="rect">
            <a:avLst/>
          </a:prstGeom>
          <a:noFill/>
          <a:ln/>
        </p:spPr>
        <p:txBody>
          <a:bodyPr wrap="square" lIns="0" tIns="0" rIns="0" bIns="0" rtlCol="0" anchor="ctr"/>
          <a:lstStyle/>
          <a:p>
            <a:pPr algn="r" indent="0" marL="0">
              <a:buNone/>
            </a:pPr>
            <a:r>
              <a:rPr lang="en-US" sz="1150" b="1" dirty="0">
                <a:solidFill>
                  <a:srgbClr val="2B2124"/>
                </a:solidFill>
                <a:latin typeface="Calibri" pitchFamily="34" charset="0"/>
                <a:ea typeface="Calibri" pitchFamily="34" charset="-122"/>
                <a:cs typeface="Calibri" pitchFamily="34" charset="-120"/>
              </a:rPr>
              <a:t>73.8%</a:t>
            </a:r>
            <a:endParaRPr lang="en-US" sz="1150" dirty="0"/>
          </a:p>
        </p:txBody>
      </p:sp>
      <p:sp>
        <p:nvSpPr>
          <p:cNvPr id="17" name="Text 15"/>
          <p:cNvSpPr txBox="1"/>
          <p:nvPr/>
        </p:nvSpPr>
        <p:spPr>
          <a:xfrm>
            <a:off x="5852160" y="3236976"/>
            <a:ext cx="1097280" cy="310896"/>
          </a:xfrm>
          <a:prstGeom prst="rect">
            <a:avLst/>
          </a:prstGeom>
          <a:noFill/>
          <a:ln/>
        </p:spPr>
        <p:txBody>
          <a:bodyPr wrap="square" lIns="0" tIns="0" rIns="0" bIns="0" rtlCol="0" anchor="ctr"/>
          <a:lstStyle/>
          <a:p>
            <a:pPr algn="r" indent="0" marL="0">
              <a:buNone/>
            </a:pPr>
            <a:r>
              <a:rPr lang="en-US" sz="1150" b="1" dirty="0">
                <a:solidFill>
                  <a:srgbClr val="6D2E46"/>
                </a:solidFill>
                <a:latin typeface="Calibri" pitchFamily="34" charset="0"/>
                <a:ea typeface="Calibri" pitchFamily="34" charset="-122"/>
                <a:cs typeface="Calibri" pitchFamily="34" charset="-120"/>
              </a:rPr>
              <a:t>48.1×</a:t>
            </a:r>
            <a:endParaRPr lang="en-US" sz="1150" dirty="0"/>
          </a:p>
        </p:txBody>
      </p:sp>
      <p:sp>
        <p:nvSpPr>
          <p:cNvPr id="18" name="Shape 16"/>
          <p:cNvSpPr/>
          <p:nvPr/>
        </p:nvSpPr>
        <p:spPr>
          <a:xfrm>
            <a:off x="822960" y="3602736"/>
            <a:ext cx="6126480" cy="0"/>
          </a:xfrm>
          <a:prstGeom prst="line">
            <a:avLst/>
          </a:prstGeom>
          <a:noFill/>
          <a:ln w="12700">
            <a:solidFill>
              <a:srgbClr val="E0D6C8"/>
            </a:solidFill>
            <a:prstDash val="solid"/>
          </a:ln>
        </p:spPr>
      </p:sp>
      <p:sp>
        <p:nvSpPr>
          <p:cNvPr id="19" name="Text 17"/>
          <p:cNvSpPr txBox="1"/>
          <p:nvPr/>
        </p:nvSpPr>
        <p:spPr>
          <a:xfrm>
            <a:off x="822960" y="3657600"/>
            <a:ext cx="3749040" cy="310896"/>
          </a:xfrm>
          <a:prstGeom prst="rect">
            <a:avLst/>
          </a:prstGeom>
          <a:noFill/>
          <a:ln/>
        </p:spPr>
        <p:txBody>
          <a:bodyPr wrap="square" lIns="0" tIns="0" rIns="0" bIns="0" rtlCol="0" anchor="ctr"/>
          <a:lstStyle/>
          <a:p>
            <a:pPr indent="0" marL="0">
              <a:buNone/>
            </a:pPr>
            <a:r>
              <a:rPr lang="en-US" sz="1100" dirty="0">
                <a:solidFill>
                  <a:srgbClr val="2B2124"/>
                </a:solidFill>
                <a:latin typeface="Calibri" pitchFamily="34" charset="0"/>
                <a:ea typeface="Calibri" pitchFamily="34" charset="-122"/>
                <a:cs typeface="Calibri" pitchFamily="34" charset="-120"/>
              </a:rPr>
              <a:t>French Blue Door Sign 0  →  Sign 7</a:t>
            </a:r>
            <a:endParaRPr lang="en-US" sz="1100" dirty="0"/>
          </a:p>
        </p:txBody>
      </p:sp>
      <p:sp>
        <p:nvSpPr>
          <p:cNvPr id="20" name="Text 18"/>
          <p:cNvSpPr txBox="1"/>
          <p:nvPr/>
        </p:nvSpPr>
        <p:spPr>
          <a:xfrm>
            <a:off x="4617720" y="3657600"/>
            <a:ext cx="1188720" cy="310896"/>
          </a:xfrm>
          <a:prstGeom prst="rect">
            <a:avLst/>
          </a:prstGeom>
          <a:noFill/>
          <a:ln/>
        </p:spPr>
        <p:txBody>
          <a:bodyPr wrap="square" lIns="0" tIns="0" rIns="0" bIns="0" rtlCol="0" anchor="ctr"/>
          <a:lstStyle/>
          <a:p>
            <a:pPr algn="r" indent="0" marL="0">
              <a:buNone/>
            </a:pPr>
            <a:r>
              <a:rPr lang="en-US" sz="1150" b="1" dirty="0">
                <a:solidFill>
                  <a:srgbClr val="2B2124"/>
                </a:solidFill>
                <a:latin typeface="Calibri" pitchFamily="34" charset="0"/>
                <a:ea typeface="Calibri" pitchFamily="34" charset="-122"/>
                <a:cs typeface="Calibri" pitchFamily="34" charset="-120"/>
              </a:rPr>
              <a:t>65.9%</a:t>
            </a:r>
            <a:endParaRPr lang="en-US" sz="1150" dirty="0"/>
          </a:p>
        </p:txBody>
      </p:sp>
      <p:sp>
        <p:nvSpPr>
          <p:cNvPr id="21" name="Text 19"/>
          <p:cNvSpPr txBox="1"/>
          <p:nvPr/>
        </p:nvSpPr>
        <p:spPr>
          <a:xfrm>
            <a:off x="5852160" y="3657600"/>
            <a:ext cx="1097280" cy="310896"/>
          </a:xfrm>
          <a:prstGeom prst="rect">
            <a:avLst/>
          </a:prstGeom>
          <a:noFill/>
          <a:ln/>
        </p:spPr>
        <p:txBody>
          <a:bodyPr wrap="square" lIns="0" tIns="0" rIns="0" bIns="0" rtlCol="0" anchor="ctr"/>
          <a:lstStyle/>
          <a:p>
            <a:pPr algn="r" indent="0" marL="0">
              <a:buNone/>
            </a:pPr>
            <a:r>
              <a:rPr lang="en-US" sz="1150" b="1" dirty="0">
                <a:solidFill>
                  <a:srgbClr val="6D2E46"/>
                </a:solidFill>
                <a:latin typeface="Calibri" pitchFamily="34" charset="0"/>
                <a:ea typeface="Calibri" pitchFamily="34" charset="-122"/>
                <a:cs typeface="Calibri" pitchFamily="34" charset="-120"/>
              </a:rPr>
              <a:t>45.0×</a:t>
            </a:r>
            <a:endParaRPr lang="en-US" sz="1150" dirty="0"/>
          </a:p>
        </p:txBody>
      </p:sp>
      <p:sp>
        <p:nvSpPr>
          <p:cNvPr id="22" name="Shape 20"/>
          <p:cNvSpPr/>
          <p:nvPr/>
        </p:nvSpPr>
        <p:spPr>
          <a:xfrm>
            <a:off x="822960" y="4023360"/>
            <a:ext cx="6126480" cy="0"/>
          </a:xfrm>
          <a:prstGeom prst="line">
            <a:avLst/>
          </a:prstGeom>
          <a:noFill/>
          <a:ln w="12700">
            <a:solidFill>
              <a:srgbClr val="E0D6C8"/>
            </a:solidFill>
            <a:prstDash val="solid"/>
          </a:ln>
        </p:spPr>
      </p:sp>
      <p:sp>
        <p:nvSpPr>
          <p:cNvPr id="23" name="Text 21"/>
          <p:cNvSpPr txBox="1"/>
          <p:nvPr/>
        </p:nvSpPr>
        <p:spPr>
          <a:xfrm>
            <a:off x="822960" y="4078224"/>
            <a:ext cx="3749040" cy="310896"/>
          </a:xfrm>
          <a:prstGeom prst="rect">
            <a:avLst/>
          </a:prstGeom>
          <a:noFill/>
          <a:ln/>
        </p:spPr>
        <p:txBody>
          <a:bodyPr wrap="square" lIns="0" tIns="0" rIns="0" bIns="0" rtlCol="0" anchor="ctr"/>
          <a:lstStyle/>
          <a:p>
            <a:pPr indent="0" marL="0">
              <a:buNone/>
            </a:pPr>
            <a:r>
              <a:rPr lang="en-US" sz="1100" dirty="0">
                <a:solidFill>
                  <a:srgbClr val="2B2124"/>
                </a:solidFill>
                <a:latin typeface="Calibri" pitchFamily="34" charset="0"/>
                <a:ea typeface="Calibri" pitchFamily="34" charset="-122"/>
                <a:cs typeface="Calibri" pitchFamily="34" charset="-120"/>
              </a:rPr>
              <a:t>Party Pizza Dish blue  →  Pizza Dish pink</a:t>
            </a:r>
            <a:endParaRPr lang="en-US" sz="1100" dirty="0"/>
          </a:p>
        </p:txBody>
      </p:sp>
      <p:sp>
        <p:nvSpPr>
          <p:cNvPr id="24" name="Text 22"/>
          <p:cNvSpPr txBox="1"/>
          <p:nvPr/>
        </p:nvSpPr>
        <p:spPr>
          <a:xfrm>
            <a:off x="4617720" y="4078224"/>
            <a:ext cx="1188720" cy="310896"/>
          </a:xfrm>
          <a:prstGeom prst="rect">
            <a:avLst/>
          </a:prstGeom>
          <a:noFill/>
          <a:ln/>
        </p:spPr>
        <p:txBody>
          <a:bodyPr wrap="square" lIns="0" tIns="0" rIns="0" bIns="0" rtlCol="0" anchor="ctr"/>
          <a:lstStyle/>
          <a:p>
            <a:pPr algn="r" indent="0" marL="0">
              <a:buNone/>
            </a:pPr>
            <a:r>
              <a:rPr lang="en-US" sz="1150" b="1" dirty="0">
                <a:solidFill>
                  <a:srgbClr val="2B2124"/>
                </a:solidFill>
                <a:latin typeface="Calibri" pitchFamily="34" charset="0"/>
                <a:ea typeface="Calibri" pitchFamily="34" charset="-122"/>
                <a:cs typeface="Calibri" pitchFamily="34" charset="-120"/>
              </a:rPr>
              <a:t>50.0%</a:t>
            </a:r>
            <a:endParaRPr lang="en-US" sz="1150" dirty="0"/>
          </a:p>
        </p:txBody>
      </p:sp>
      <p:sp>
        <p:nvSpPr>
          <p:cNvPr id="25" name="Text 23"/>
          <p:cNvSpPr txBox="1"/>
          <p:nvPr/>
        </p:nvSpPr>
        <p:spPr>
          <a:xfrm>
            <a:off x="5852160" y="4078224"/>
            <a:ext cx="1097280" cy="310896"/>
          </a:xfrm>
          <a:prstGeom prst="rect">
            <a:avLst/>
          </a:prstGeom>
          <a:noFill/>
          <a:ln/>
        </p:spPr>
        <p:txBody>
          <a:bodyPr wrap="square" lIns="0" tIns="0" rIns="0" bIns="0" rtlCol="0" anchor="ctr"/>
          <a:lstStyle/>
          <a:p>
            <a:pPr algn="r" indent="0" marL="0">
              <a:buNone/>
            </a:pPr>
            <a:r>
              <a:rPr lang="en-US" sz="1150" b="1" dirty="0">
                <a:solidFill>
                  <a:srgbClr val="6D2E46"/>
                </a:solidFill>
                <a:latin typeface="Calibri" pitchFamily="34" charset="0"/>
                <a:ea typeface="Calibri" pitchFamily="34" charset="-122"/>
                <a:cs typeface="Calibri" pitchFamily="34" charset="-120"/>
              </a:rPr>
              <a:t>44.1×</a:t>
            </a:r>
            <a:endParaRPr lang="en-US" sz="1150" dirty="0"/>
          </a:p>
        </p:txBody>
      </p:sp>
      <p:sp>
        <p:nvSpPr>
          <p:cNvPr id="26" name="Shape 24"/>
          <p:cNvSpPr/>
          <p:nvPr/>
        </p:nvSpPr>
        <p:spPr>
          <a:xfrm>
            <a:off x="7452360" y="2011680"/>
            <a:ext cx="4160520" cy="2606040"/>
          </a:xfrm>
          <a:prstGeom prst="roundRect">
            <a:avLst>
              <a:gd name="adj" fmla="val 3509"/>
            </a:avLst>
          </a:prstGeom>
          <a:solidFill>
            <a:srgbClr val="6D2E46"/>
          </a:solidFill>
          <a:ln w="12700">
            <a:solidFill>
              <a:srgbClr val="6D2E46"/>
            </a:solidFill>
            <a:prstDash val="solid"/>
          </a:ln>
          <a:effectLst>
            <a:outerShdw sx="100000" sy="100000" kx="0" ky="0" algn="bl" rotWithShape="0" blurRad="101600" dist="12700" dir="5400000">
              <a:srgbClr val="000000">
                <a:alpha val="8000"/>
              </a:srgbClr>
            </a:outerShdw>
          </a:effectLst>
        </p:spPr>
      </p:sp>
      <p:sp>
        <p:nvSpPr>
          <p:cNvPr id="27" name="Text 25"/>
          <p:cNvSpPr txBox="1"/>
          <p:nvPr/>
        </p:nvSpPr>
        <p:spPr>
          <a:xfrm>
            <a:off x="7726680" y="2157984"/>
            <a:ext cx="3657600" cy="274320"/>
          </a:xfrm>
          <a:prstGeom prst="rect">
            <a:avLst/>
          </a:prstGeom>
          <a:noFill/>
          <a:ln/>
        </p:spPr>
        <p:txBody>
          <a:bodyPr wrap="square" lIns="0" tIns="0" rIns="0" bIns="0" rtlCol="0" anchor="ctr"/>
          <a:lstStyle/>
          <a:p>
            <a:pPr indent="0" marL="0">
              <a:buNone/>
            </a:pPr>
            <a:r>
              <a:rPr lang="en-US" sz="1300" b="1" dirty="0">
                <a:solidFill>
                  <a:srgbClr val="C08A2E"/>
                </a:solidFill>
                <a:latin typeface="Calibri" pitchFamily="34" charset="0"/>
                <a:ea typeface="Calibri" pitchFamily="34" charset="-122"/>
                <a:cs typeface="Calibri" pitchFamily="34" charset="-120"/>
              </a:rPr>
              <a:t>Scale of the analysis</a:t>
            </a:r>
            <a:endParaRPr lang="en-US" sz="1300" dirty="0"/>
          </a:p>
        </p:txBody>
      </p:sp>
      <p:sp>
        <p:nvSpPr>
          <p:cNvPr id="28" name="Text 26"/>
          <p:cNvSpPr txBox="1"/>
          <p:nvPr/>
        </p:nvSpPr>
        <p:spPr>
          <a:xfrm>
            <a:off x="7726680" y="2578608"/>
            <a:ext cx="1463040" cy="310896"/>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2,224</a:t>
            </a:r>
            <a:endParaRPr lang="en-US" sz="1700" dirty="0"/>
          </a:p>
        </p:txBody>
      </p:sp>
      <p:sp>
        <p:nvSpPr>
          <p:cNvPr id="29" name="Text 27"/>
          <p:cNvSpPr txBox="1"/>
          <p:nvPr/>
        </p:nvSpPr>
        <p:spPr>
          <a:xfrm>
            <a:off x="9098280" y="2578608"/>
            <a:ext cx="2286000" cy="365760"/>
          </a:xfrm>
          <a:prstGeom prst="rect">
            <a:avLst/>
          </a:prstGeom>
          <a:noFill/>
          <a:ln/>
        </p:spPr>
        <p:txBody>
          <a:bodyPr wrap="square" lIns="0" tIns="0" rIns="0" bIns="0" rtlCol="0" anchor="ctr"/>
          <a:lstStyle/>
          <a:p>
            <a:pPr algn="r" indent="0" marL="0">
              <a:buNone/>
            </a:pPr>
            <a:r>
              <a:rPr lang="en-US" sz="1050" dirty="0">
                <a:solidFill>
                  <a:srgbClr val="D3ABB1"/>
                </a:solidFill>
                <a:latin typeface="Calibri" pitchFamily="34" charset="0"/>
                <a:ea typeface="Calibri" pitchFamily="34" charset="-122"/>
                <a:cs typeface="Calibri" pitchFamily="34" charset="-120"/>
              </a:rPr>
              <a:t>products above the support floor</a:t>
            </a:r>
            <a:endParaRPr lang="en-US" sz="1050" dirty="0"/>
          </a:p>
        </p:txBody>
      </p:sp>
      <p:sp>
        <p:nvSpPr>
          <p:cNvPr id="30" name="Text 28"/>
          <p:cNvSpPr txBox="1"/>
          <p:nvPr/>
        </p:nvSpPr>
        <p:spPr>
          <a:xfrm>
            <a:off x="7726680" y="3236976"/>
            <a:ext cx="1463040" cy="310896"/>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122,750</a:t>
            </a:r>
            <a:endParaRPr lang="en-US" sz="1700" dirty="0"/>
          </a:p>
        </p:txBody>
      </p:sp>
      <p:sp>
        <p:nvSpPr>
          <p:cNvPr id="31" name="Text 29"/>
          <p:cNvSpPr txBox="1"/>
          <p:nvPr/>
        </p:nvSpPr>
        <p:spPr>
          <a:xfrm>
            <a:off x="9098280" y="3236976"/>
            <a:ext cx="2286000" cy="365760"/>
          </a:xfrm>
          <a:prstGeom prst="rect">
            <a:avLst/>
          </a:prstGeom>
          <a:noFill/>
          <a:ln/>
        </p:spPr>
        <p:txBody>
          <a:bodyPr wrap="square" lIns="0" tIns="0" rIns="0" bIns="0" rtlCol="0" anchor="ctr"/>
          <a:lstStyle/>
          <a:p>
            <a:pPr algn="r" indent="0" marL="0">
              <a:buNone/>
            </a:pPr>
            <a:r>
              <a:rPr lang="en-US" sz="1050" dirty="0">
                <a:solidFill>
                  <a:srgbClr val="D3ABB1"/>
                </a:solidFill>
                <a:latin typeface="Calibri" pitchFamily="34" charset="0"/>
                <a:ea typeface="Calibri" pitchFamily="34" charset="-122"/>
                <a:cs typeface="Calibri" pitchFamily="34" charset="-120"/>
              </a:rPr>
              <a:t>rules generated</a:t>
            </a:r>
            <a:endParaRPr lang="en-US" sz="1050" dirty="0"/>
          </a:p>
        </p:txBody>
      </p:sp>
      <p:sp>
        <p:nvSpPr>
          <p:cNvPr id="32" name="Text 30"/>
          <p:cNvSpPr txBox="1"/>
          <p:nvPr/>
        </p:nvSpPr>
        <p:spPr>
          <a:xfrm>
            <a:off x="7726680" y="3895344"/>
            <a:ext cx="1463040" cy="310896"/>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52.7×</a:t>
            </a:r>
            <a:endParaRPr lang="en-US" sz="1700" dirty="0"/>
          </a:p>
        </p:txBody>
      </p:sp>
      <p:sp>
        <p:nvSpPr>
          <p:cNvPr id="33" name="Text 31"/>
          <p:cNvSpPr txBox="1"/>
          <p:nvPr/>
        </p:nvSpPr>
        <p:spPr>
          <a:xfrm>
            <a:off x="9098280" y="3895344"/>
            <a:ext cx="2286000" cy="365760"/>
          </a:xfrm>
          <a:prstGeom prst="rect">
            <a:avLst/>
          </a:prstGeom>
          <a:noFill/>
          <a:ln/>
        </p:spPr>
        <p:txBody>
          <a:bodyPr wrap="square" lIns="0" tIns="0" rIns="0" bIns="0" rtlCol="0" anchor="ctr"/>
          <a:lstStyle/>
          <a:p>
            <a:pPr algn="r" indent="0" marL="0">
              <a:buNone/>
            </a:pPr>
            <a:r>
              <a:rPr lang="en-US" sz="1050" dirty="0">
                <a:solidFill>
                  <a:srgbClr val="D3ABB1"/>
                </a:solidFill>
                <a:latin typeface="Calibri" pitchFamily="34" charset="0"/>
                <a:ea typeface="Calibri" pitchFamily="34" charset="-122"/>
                <a:cs typeface="Calibri" pitchFamily="34" charset="-120"/>
              </a:rPr>
              <a:t>highest lift observed</a:t>
            </a:r>
            <a:endParaRPr lang="en-US" sz="1050" dirty="0"/>
          </a:p>
        </p:txBody>
      </p:sp>
      <p:sp>
        <p:nvSpPr>
          <p:cNvPr id="34" name="Shape 32"/>
          <p:cNvSpPr/>
          <p:nvPr/>
        </p:nvSpPr>
        <p:spPr>
          <a:xfrm>
            <a:off x="548640" y="4846320"/>
            <a:ext cx="11064240" cy="1170432"/>
          </a:xfrm>
          <a:prstGeom prst="roundRect">
            <a:avLst>
              <a:gd name="adj" fmla="val 7813"/>
            </a:avLst>
          </a:prstGeom>
          <a:solidFill>
            <a:srgbClr val="F7F2EA"/>
          </a:solidFill>
          <a:ln w="12700">
            <a:solidFill>
              <a:srgbClr val="ECE2D0"/>
            </a:solidFill>
            <a:prstDash val="solid"/>
          </a:ln>
          <a:effectLst>
            <a:outerShdw sx="100000" sy="100000" kx="0" ky="0" algn="bl" rotWithShape="0" blurRad="101600" dist="12700" dir="5400000">
              <a:srgbClr val="000000">
                <a:alpha val="8000"/>
              </a:srgbClr>
            </a:outerShdw>
          </a:effectLst>
        </p:spPr>
      </p:sp>
      <p:sp>
        <p:nvSpPr>
          <p:cNvPr id="35" name="Text 33"/>
          <p:cNvSpPr txBox="1"/>
          <p:nvPr/>
        </p:nvSpPr>
        <p:spPr>
          <a:xfrm>
            <a:off x="822960" y="4974336"/>
            <a:ext cx="3657600" cy="256032"/>
          </a:xfrm>
          <a:prstGeom prst="rect">
            <a:avLst/>
          </a:prstGeom>
          <a:noFill/>
          <a:ln/>
        </p:spPr>
        <p:txBody>
          <a:bodyPr wrap="square" lIns="0" tIns="0" rIns="0" bIns="0" rtlCol="0" anchor="ctr"/>
          <a:lstStyle/>
          <a:p>
            <a:pPr indent="0" marL="0">
              <a:buNone/>
            </a:pPr>
            <a:r>
              <a:rPr lang="en-US" sz="1250" b="1" dirty="0">
                <a:solidFill>
                  <a:srgbClr val="6D2E46"/>
                </a:solidFill>
                <a:latin typeface="Calibri" pitchFamily="34" charset="0"/>
                <a:ea typeface="Calibri" pitchFamily="34" charset="-122"/>
                <a:cs typeface="Calibri" pitchFamily="34" charset="-120"/>
              </a:rPr>
              <a:t>Read this carefully</a:t>
            </a:r>
            <a:endParaRPr lang="en-US" sz="1250" dirty="0"/>
          </a:p>
        </p:txBody>
      </p:sp>
      <p:sp>
        <p:nvSpPr>
          <p:cNvPr id="36" name="Text 34"/>
          <p:cNvSpPr txBox="1"/>
          <p:nvPr/>
        </p:nvSpPr>
        <p:spPr>
          <a:xfrm>
            <a:off x="822960" y="5257800"/>
            <a:ext cx="10515600" cy="713232"/>
          </a:xfrm>
          <a:prstGeom prst="rect">
            <a:avLst/>
          </a:prstGeom>
          <a:noFill/>
          <a:ln/>
        </p:spPr>
        <p:txBody>
          <a:bodyPr wrap="square" lIns="0" tIns="0" rIns="0" bIns="0" rtlCol="0" anchor="ctr"/>
          <a:lstStyle/>
          <a:p>
            <a:pPr indent="0" marL="0">
              <a:buNone/>
            </a:pPr>
            <a:r>
              <a:rPr lang="en-US" sz="1100" dirty="0">
                <a:solidFill>
                  <a:srgbClr val="6B5C60"/>
                </a:solidFill>
                <a:latin typeface="Calibri" pitchFamily="34" charset="0"/>
                <a:ea typeface="Calibri" pitchFamily="34" charset="-122"/>
                <a:cs typeface="Calibri" pitchFamily="34" charset="-120"/>
              </a:rPr>
              <a:t>The top rules pair colour and number variants of the same product family, and baskets are built from a customer's lifetime set of products rather than a single cart — so these measure affinity over time, not same-basket co-purchase. The actionable reading is set completion: customers who buy one variant reliably return for the rest, which makes bundles and “complete the set” prompts the obvious merchandising move.</a:t>
            </a:r>
            <a:endParaRPr lang="en-US" sz="1100" dirty="0"/>
          </a:p>
        </p:txBody>
      </p:sp>
      <p:sp>
        <p:nvSpPr>
          <p:cNvPr id="38" name="Text 35"/>
          <p:cNvSpPr txBox="1"/>
          <p:nvPr/>
        </p:nvSpPr>
        <p:spPr>
          <a:xfrm>
            <a:off x="548640" y="6236208"/>
            <a:ext cx="5486400" cy="274320"/>
          </a:xfrm>
          <a:prstGeom prst="rect">
            <a:avLst/>
          </a:prstGeom>
          <a:noFill/>
          <a:ln/>
        </p:spPr>
        <p:txBody>
          <a:bodyPr wrap="square" lIns="0" tIns="0" rIns="0" bIns="0" rtlCol="0" anchor="ctr"/>
          <a:lstStyle/>
          <a:p>
            <a:pPr indent="0" marL="0">
              <a:buNone/>
            </a:pPr>
            <a:r>
              <a:rPr lang="en-US" sz="950" dirty="0">
                <a:solidFill>
                  <a:srgbClr val="A9989C"/>
                </a:solidFill>
                <a:latin typeface="Calibri" pitchFamily="34" charset="0"/>
                <a:ea typeface="Calibri" pitchFamily="34" charset="-122"/>
                <a:cs typeface="Calibri" pitchFamily="34" charset="-120"/>
              </a:rPr>
              <a:t>Customer 360  ·  Online Retail II</a:t>
            </a:r>
            <a:endParaRPr lang="en-US" sz="950" dirty="0"/>
          </a:p>
        </p:txBody>
      </p:sp>
      <p:sp>
        <p:nvSpPr>
          <p:cNvPr id="39" name="Text 36"/>
          <p:cNvSpPr txBox="1"/>
          <p:nvPr/>
        </p:nvSpPr>
        <p:spPr>
          <a:xfrm>
            <a:off x="10515600" y="6236208"/>
            <a:ext cx="1097280" cy="274320"/>
          </a:xfrm>
          <a:prstGeom prst="rect">
            <a:avLst/>
          </a:prstGeom>
          <a:noFill/>
          <a:ln/>
        </p:spPr>
        <p:txBody>
          <a:bodyPr wrap="square" lIns="0" tIns="0" rIns="0" bIns="0" rtlCol="0" anchor="ctr"/>
          <a:lstStyle/>
          <a:p>
            <a:pPr algn="r" indent="0" marL="0">
              <a:buNone/>
            </a:pPr>
            <a:r>
              <a:rPr lang="en-US" sz="950" b="1" dirty="0">
                <a:solidFill>
                  <a:srgbClr val="A26769"/>
                </a:solidFill>
                <a:latin typeface="Calibri" pitchFamily="34" charset="0"/>
                <a:ea typeface="Calibri" pitchFamily="34" charset="-122"/>
                <a:cs typeface="Calibri" pitchFamily="34" charset="-120"/>
              </a:rPr>
              <a:t>15</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086307" cy="274320"/>
          </a:xfrm>
          <a:prstGeom prst="roundRect">
            <a:avLst>
              <a:gd name="adj" fmla="val 46667"/>
            </a:avLst>
          </a:prstGeom>
          <a:solidFill>
            <a:srgbClr val="ECE2D0"/>
          </a:solidFill>
          <a:ln w="12700">
            <a:solidFill>
              <a:srgbClr val="ECE2D0"/>
            </a:solidFill>
            <a:prstDash val="solid"/>
          </a:ln>
        </p:spPr>
      </p:sp>
      <p:sp>
        <p:nvSpPr>
          <p:cNvPr id="3" name="Text 1"/>
          <p:cNvSpPr txBox="1"/>
          <p:nvPr/>
        </p:nvSpPr>
        <p:spPr>
          <a:xfrm>
            <a:off x="548640" y="384048"/>
            <a:ext cx="1086307" cy="274320"/>
          </a:xfrm>
          <a:prstGeom prst="rect">
            <a:avLst/>
          </a:prstGeom>
          <a:noFill/>
          <a:ln/>
        </p:spPr>
        <p:txBody>
          <a:bodyPr wrap="square" lIns="0" tIns="0" rIns="0" bIns="0" rtlCol="0" anchor="ctr"/>
          <a:lstStyle/>
          <a:p>
            <a:pPr algn="ctr" indent="0" marL="0">
              <a:buNone/>
            </a:pPr>
            <a:r>
              <a:rPr lang="en-US" sz="1050" b="1" spc="120" kern="0" dirty="0">
                <a:solidFill>
                  <a:srgbClr val="6D2E46"/>
                </a:solidFill>
                <a:latin typeface="Calibri" pitchFamily="34" charset="0"/>
                <a:ea typeface="Calibri" pitchFamily="34" charset="-122"/>
                <a:cs typeface="Calibri" pitchFamily="34" charset="-120"/>
              </a:rPr>
              <a:t>ENGINEERING</a:t>
            </a:r>
            <a:endParaRPr lang="en-US" sz="1050" dirty="0"/>
          </a:p>
        </p:txBody>
      </p:sp>
      <p:sp>
        <p:nvSpPr>
          <p:cNvPr id="4" name="Text 2"/>
          <p:cNvSpPr txBox="1"/>
          <p:nvPr/>
        </p:nvSpPr>
        <p:spPr>
          <a:xfrm>
            <a:off x="548640" y="749808"/>
            <a:ext cx="11064240" cy="658368"/>
          </a:xfrm>
          <a:prstGeom prst="rect">
            <a:avLst/>
          </a:prstGeom>
          <a:noFill/>
          <a:ln/>
        </p:spPr>
        <p:txBody>
          <a:bodyPr wrap="square" lIns="0" tIns="0" rIns="0" bIns="0" rtlCol="0" anchor="ctr"/>
          <a:lstStyle/>
          <a:p>
            <a:pPr indent="0" marL="0">
              <a:buNone/>
            </a:pPr>
            <a:r>
              <a:rPr lang="en-US" sz="3200" b="1" dirty="0">
                <a:solidFill>
                  <a:srgbClr val="2B2124"/>
                </a:solidFill>
                <a:latin typeface="Cambria" pitchFamily="34" charset="0"/>
                <a:ea typeface="Cambria" pitchFamily="34" charset="-122"/>
                <a:cs typeface="Cambria" pitchFamily="34" charset="-120"/>
              </a:rPr>
              <a:t>Built to be run again, not just once</a:t>
            </a:r>
            <a:endParaRPr lang="en-US" sz="3200" dirty="0"/>
          </a:p>
        </p:txBody>
      </p:sp>
      <p:sp>
        <p:nvSpPr>
          <p:cNvPr id="5" name="Text 3"/>
          <p:cNvSpPr txBox="1"/>
          <p:nvPr/>
        </p:nvSpPr>
        <p:spPr>
          <a:xfrm>
            <a:off x="548640" y="1389888"/>
            <a:ext cx="11064240" cy="365760"/>
          </a:xfrm>
          <a:prstGeom prst="rect">
            <a:avLst/>
          </a:prstGeom>
          <a:noFill/>
          <a:ln/>
        </p:spPr>
        <p:txBody>
          <a:bodyPr wrap="square" lIns="0" tIns="0" rIns="0" bIns="0" rtlCol="0" anchor="t"/>
          <a:lstStyle/>
          <a:p>
            <a:pPr indent="0" marL="0">
              <a:buNone/>
            </a:pPr>
            <a:r>
              <a:rPr lang="en-US" sz="1400" dirty="0">
                <a:solidFill>
                  <a:srgbClr val="6B5C60"/>
                </a:solidFill>
                <a:latin typeface="Calibri" pitchFamily="34" charset="0"/>
                <a:ea typeface="Calibri" pitchFamily="34" charset="-122"/>
                <a:cs typeface="Calibri" pitchFamily="34" charset="-120"/>
              </a:rPr>
              <a:t>The parts that separate an analysis from something a team can operate.</a:t>
            </a:r>
            <a:endParaRPr lang="en-US" sz="1400" dirty="0"/>
          </a:p>
        </p:txBody>
      </p:sp>
      <p:sp>
        <p:nvSpPr>
          <p:cNvPr id="6" name="Shape 4"/>
          <p:cNvSpPr/>
          <p:nvPr/>
        </p:nvSpPr>
        <p:spPr>
          <a:xfrm>
            <a:off x="548640" y="2057400"/>
            <a:ext cx="3611880" cy="1691640"/>
          </a:xfrm>
          <a:prstGeom prst="roundRect">
            <a:avLst>
              <a:gd name="adj" fmla="val 5405"/>
            </a:avLst>
          </a:prstGeom>
          <a:solidFill>
            <a:srgbClr val="6D2E46"/>
          </a:solidFill>
          <a:ln w="12700">
            <a:solidFill>
              <a:srgbClr val="6D2E46"/>
            </a:solidFill>
            <a:prstDash val="solid"/>
          </a:ln>
          <a:effectLst>
            <a:outerShdw sx="100000" sy="100000" kx="0" ky="0" algn="bl" rotWithShape="0" blurRad="101600" dist="12700" dir="5400000">
              <a:srgbClr val="000000">
                <a:alpha val="8000"/>
              </a:srgbClr>
            </a:outerShdw>
          </a:effectLst>
        </p:spPr>
      </p:sp>
      <p:sp>
        <p:nvSpPr>
          <p:cNvPr id="7" name="Shape 5"/>
          <p:cNvSpPr/>
          <p:nvPr/>
        </p:nvSpPr>
        <p:spPr>
          <a:xfrm>
            <a:off x="804672" y="2313432"/>
            <a:ext cx="146304" cy="146304"/>
          </a:xfrm>
          <a:prstGeom prst="ellipse">
            <a:avLst/>
          </a:prstGeom>
          <a:solidFill>
            <a:srgbClr val="C08A2E"/>
          </a:solidFill>
          <a:ln w="12700">
            <a:solidFill>
              <a:srgbClr val="C08A2E"/>
            </a:solidFill>
            <a:prstDash val="solid"/>
          </a:ln>
        </p:spPr>
      </p:sp>
      <p:sp>
        <p:nvSpPr>
          <p:cNvPr id="8" name="Text 6"/>
          <p:cNvSpPr txBox="1"/>
          <p:nvPr/>
        </p:nvSpPr>
        <p:spPr>
          <a:xfrm>
            <a:off x="1051560" y="2221992"/>
            <a:ext cx="2880360" cy="32918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Automated tests</a:t>
            </a:r>
            <a:endParaRPr lang="en-US" sz="1400" dirty="0"/>
          </a:p>
        </p:txBody>
      </p:sp>
      <p:sp>
        <p:nvSpPr>
          <p:cNvPr id="9" name="Text 7"/>
          <p:cNvSpPr txBox="1"/>
          <p:nvPr/>
        </p:nvSpPr>
        <p:spPr>
          <a:xfrm>
            <a:off x="804672" y="2660904"/>
            <a:ext cx="3099816" cy="960120"/>
          </a:xfrm>
          <a:prstGeom prst="rect">
            <a:avLst/>
          </a:prstGeom>
          <a:noFill/>
          <a:ln/>
        </p:spPr>
        <p:txBody>
          <a:bodyPr wrap="square" lIns="0" tIns="0" rIns="0" bIns="0" rtlCol="0" anchor="ctr"/>
          <a:lstStyle/>
          <a:p>
            <a:pPr indent="0" marL="0">
              <a:buNone/>
            </a:pPr>
            <a:r>
              <a:rPr lang="en-US" sz="1100" dirty="0">
                <a:solidFill>
                  <a:srgbClr val="ECE2D0"/>
                </a:solidFill>
                <a:latin typeface="Calibri" pitchFamily="34" charset="0"/>
                <a:ea typeface="Calibri" pitchFamily="34" charset="-122"/>
                <a:cs typeface="Calibri" pitchFamily="34" charset="-120"/>
              </a:rPr>
              <a:t>Four unit tests covering null invariants, customer-feature coherence, temporal-leakage boundaries and prediction bounds. All passing.</a:t>
            </a:r>
            <a:endParaRPr lang="en-US" sz="1100" dirty="0"/>
          </a:p>
        </p:txBody>
      </p:sp>
      <p:sp>
        <p:nvSpPr>
          <p:cNvPr id="10" name="Shape 8"/>
          <p:cNvSpPr/>
          <p:nvPr/>
        </p:nvSpPr>
        <p:spPr>
          <a:xfrm>
            <a:off x="4480560" y="2057400"/>
            <a:ext cx="3611880" cy="1691640"/>
          </a:xfrm>
          <a:prstGeom prst="roundRect">
            <a:avLst>
              <a:gd name="adj" fmla="val 5405"/>
            </a:avLst>
          </a:prstGeom>
          <a:solidFill>
            <a:srgbClr val="F7F2EA"/>
          </a:solidFill>
          <a:ln w="12700">
            <a:solidFill>
              <a:srgbClr val="ECE2D0"/>
            </a:solidFill>
            <a:prstDash val="solid"/>
          </a:ln>
          <a:effectLst>
            <a:outerShdw sx="100000" sy="100000" kx="0" ky="0" algn="bl" rotWithShape="0" blurRad="101600" dist="12700" dir="5400000">
              <a:srgbClr val="000000">
                <a:alpha val="8000"/>
              </a:srgbClr>
            </a:outerShdw>
          </a:effectLst>
        </p:spPr>
      </p:sp>
      <p:sp>
        <p:nvSpPr>
          <p:cNvPr id="11" name="Shape 9"/>
          <p:cNvSpPr/>
          <p:nvPr/>
        </p:nvSpPr>
        <p:spPr>
          <a:xfrm>
            <a:off x="4736592" y="2313432"/>
            <a:ext cx="146304" cy="146304"/>
          </a:xfrm>
          <a:prstGeom prst="ellipse">
            <a:avLst/>
          </a:prstGeom>
          <a:solidFill>
            <a:srgbClr val="C08A2E"/>
          </a:solidFill>
          <a:ln w="12700">
            <a:solidFill>
              <a:srgbClr val="C08A2E"/>
            </a:solidFill>
            <a:prstDash val="solid"/>
          </a:ln>
        </p:spPr>
      </p:sp>
      <p:sp>
        <p:nvSpPr>
          <p:cNvPr id="12" name="Text 10"/>
          <p:cNvSpPr txBox="1"/>
          <p:nvPr/>
        </p:nvSpPr>
        <p:spPr>
          <a:xfrm>
            <a:off x="4983480" y="2221992"/>
            <a:ext cx="2880360" cy="329184"/>
          </a:xfrm>
          <a:prstGeom prst="rect">
            <a:avLst/>
          </a:prstGeom>
          <a:noFill/>
          <a:ln/>
        </p:spPr>
        <p:txBody>
          <a:bodyPr wrap="square" lIns="0" tIns="0" rIns="0" bIns="0" rtlCol="0" anchor="ctr"/>
          <a:lstStyle/>
          <a:p>
            <a:pPr indent="0" marL="0">
              <a:buNone/>
            </a:pPr>
            <a:r>
              <a:rPr lang="en-US" sz="1400" b="1" dirty="0">
                <a:solidFill>
                  <a:srgbClr val="2B2124"/>
                </a:solidFill>
                <a:latin typeface="Calibri" pitchFamily="34" charset="0"/>
                <a:ea typeface="Calibri" pitchFamily="34" charset="-122"/>
                <a:cs typeface="Calibri" pitchFamily="34" charset="-120"/>
              </a:rPr>
              <a:t>Explainability</a:t>
            </a:r>
            <a:endParaRPr lang="en-US" sz="1400" dirty="0"/>
          </a:p>
        </p:txBody>
      </p:sp>
      <p:sp>
        <p:nvSpPr>
          <p:cNvPr id="13" name="Text 11"/>
          <p:cNvSpPr txBox="1"/>
          <p:nvPr/>
        </p:nvSpPr>
        <p:spPr>
          <a:xfrm>
            <a:off x="4736592" y="2660904"/>
            <a:ext cx="3099816" cy="960120"/>
          </a:xfrm>
          <a:prstGeom prst="rect">
            <a:avLst/>
          </a:prstGeom>
          <a:noFill/>
          <a:ln/>
        </p:spPr>
        <p:txBody>
          <a:bodyPr wrap="square" lIns="0" tIns="0" rIns="0" bIns="0" rtlCol="0" anchor="ctr"/>
          <a:lstStyle/>
          <a:p>
            <a:pPr indent="0" marL="0">
              <a:buNone/>
            </a:pPr>
            <a:r>
              <a:rPr lang="en-US" sz="1100" dirty="0">
                <a:solidFill>
                  <a:srgbClr val="6B5C60"/>
                </a:solidFill>
                <a:latin typeface="Calibri" pitchFamily="34" charset="0"/>
                <a:ea typeface="Calibri" pitchFamily="34" charset="-122"/>
                <a:cs typeface="Calibri" pitchFamily="34" charset="-120"/>
              </a:rPr>
              <a:t>Permutation importance on held-out data plus SHAP-ready hooks, so every score can be attributed to drivers.</a:t>
            </a:r>
            <a:endParaRPr lang="en-US" sz="1100" dirty="0"/>
          </a:p>
        </p:txBody>
      </p:sp>
      <p:sp>
        <p:nvSpPr>
          <p:cNvPr id="14" name="Shape 12"/>
          <p:cNvSpPr/>
          <p:nvPr/>
        </p:nvSpPr>
        <p:spPr>
          <a:xfrm>
            <a:off x="8412480" y="2057400"/>
            <a:ext cx="3611880" cy="1691640"/>
          </a:xfrm>
          <a:prstGeom prst="roundRect">
            <a:avLst>
              <a:gd name="adj" fmla="val 5405"/>
            </a:avLst>
          </a:prstGeom>
          <a:solidFill>
            <a:srgbClr val="F7F2EA"/>
          </a:solidFill>
          <a:ln w="12700">
            <a:solidFill>
              <a:srgbClr val="ECE2D0"/>
            </a:solidFill>
            <a:prstDash val="solid"/>
          </a:ln>
          <a:effectLst>
            <a:outerShdw sx="100000" sy="100000" kx="0" ky="0" algn="bl" rotWithShape="0" blurRad="101600" dist="12700" dir="5400000">
              <a:srgbClr val="000000">
                <a:alpha val="8000"/>
              </a:srgbClr>
            </a:outerShdw>
          </a:effectLst>
        </p:spPr>
      </p:sp>
      <p:sp>
        <p:nvSpPr>
          <p:cNvPr id="15" name="Shape 13"/>
          <p:cNvSpPr/>
          <p:nvPr/>
        </p:nvSpPr>
        <p:spPr>
          <a:xfrm>
            <a:off x="8668512" y="2313432"/>
            <a:ext cx="146304" cy="146304"/>
          </a:xfrm>
          <a:prstGeom prst="ellipse">
            <a:avLst/>
          </a:prstGeom>
          <a:solidFill>
            <a:srgbClr val="C08A2E"/>
          </a:solidFill>
          <a:ln w="12700">
            <a:solidFill>
              <a:srgbClr val="C08A2E"/>
            </a:solidFill>
            <a:prstDash val="solid"/>
          </a:ln>
        </p:spPr>
      </p:sp>
      <p:sp>
        <p:nvSpPr>
          <p:cNvPr id="16" name="Text 14"/>
          <p:cNvSpPr txBox="1"/>
          <p:nvPr/>
        </p:nvSpPr>
        <p:spPr>
          <a:xfrm>
            <a:off x="8915400" y="2221992"/>
            <a:ext cx="2880360" cy="329184"/>
          </a:xfrm>
          <a:prstGeom prst="rect">
            <a:avLst/>
          </a:prstGeom>
          <a:noFill/>
          <a:ln/>
        </p:spPr>
        <p:txBody>
          <a:bodyPr wrap="square" lIns="0" tIns="0" rIns="0" bIns="0" rtlCol="0" anchor="ctr"/>
          <a:lstStyle/>
          <a:p>
            <a:pPr indent="0" marL="0">
              <a:buNone/>
            </a:pPr>
            <a:r>
              <a:rPr lang="en-US" sz="1400" b="1" dirty="0">
                <a:solidFill>
                  <a:srgbClr val="2B2124"/>
                </a:solidFill>
                <a:latin typeface="Calibri" pitchFamily="34" charset="0"/>
                <a:ea typeface="Calibri" pitchFamily="34" charset="-122"/>
                <a:cs typeface="Calibri" pitchFamily="34" charset="-120"/>
              </a:rPr>
              <a:t>Logging &amp; monitoring</a:t>
            </a:r>
            <a:endParaRPr lang="en-US" sz="1400" dirty="0"/>
          </a:p>
        </p:txBody>
      </p:sp>
      <p:sp>
        <p:nvSpPr>
          <p:cNvPr id="17" name="Text 15"/>
          <p:cNvSpPr txBox="1"/>
          <p:nvPr/>
        </p:nvSpPr>
        <p:spPr>
          <a:xfrm>
            <a:off x="8668512" y="2660904"/>
            <a:ext cx="3099816" cy="960120"/>
          </a:xfrm>
          <a:prstGeom prst="rect">
            <a:avLst/>
          </a:prstGeom>
          <a:noFill/>
          <a:ln/>
        </p:spPr>
        <p:txBody>
          <a:bodyPr wrap="square" lIns="0" tIns="0" rIns="0" bIns="0" rtlCol="0" anchor="ctr"/>
          <a:lstStyle/>
          <a:p>
            <a:pPr indent="0" marL="0">
              <a:buNone/>
            </a:pPr>
            <a:r>
              <a:rPr lang="en-US" sz="1100" dirty="0">
                <a:solidFill>
                  <a:srgbClr val="6B5C60"/>
                </a:solidFill>
                <a:latin typeface="Calibri" pitchFamily="34" charset="0"/>
                <a:ea typeface="Calibri" pitchFamily="34" charset="-122"/>
                <a:cs typeface="Calibri" pitchFamily="34" charset="-120"/>
              </a:rPr>
              <a:t>Structured pipeline logging and a prediction snapshot: volume, positive rate 37.9%, mean probability 0.43, full distribution captured.</a:t>
            </a:r>
            <a:endParaRPr lang="en-US" sz="1100" dirty="0"/>
          </a:p>
        </p:txBody>
      </p:sp>
      <p:sp>
        <p:nvSpPr>
          <p:cNvPr id="18" name="Shape 16"/>
          <p:cNvSpPr/>
          <p:nvPr/>
        </p:nvSpPr>
        <p:spPr>
          <a:xfrm>
            <a:off x="548640" y="4059936"/>
            <a:ext cx="3611880" cy="1691640"/>
          </a:xfrm>
          <a:prstGeom prst="roundRect">
            <a:avLst>
              <a:gd name="adj" fmla="val 5405"/>
            </a:avLst>
          </a:prstGeom>
          <a:solidFill>
            <a:srgbClr val="F7F2EA"/>
          </a:solidFill>
          <a:ln w="12700">
            <a:solidFill>
              <a:srgbClr val="ECE2D0"/>
            </a:solidFill>
            <a:prstDash val="solid"/>
          </a:ln>
          <a:effectLst>
            <a:outerShdw sx="100000" sy="100000" kx="0" ky="0" algn="bl" rotWithShape="0" blurRad="101600" dist="12700" dir="5400000">
              <a:srgbClr val="000000">
                <a:alpha val="8000"/>
              </a:srgbClr>
            </a:outerShdw>
          </a:effectLst>
        </p:spPr>
      </p:sp>
      <p:sp>
        <p:nvSpPr>
          <p:cNvPr id="19" name="Shape 17"/>
          <p:cNvSpPr/>
          <p:nvPr/>
        </p:nvSpPr>
        <p:spPr>
          <a:xfrm>
            <a:off x="804672" y="4315968"/>
            <a:ext cx="146304" cy="146304"/>
          </a:xfrm>
          <a:prstGeom prst="ellipse">
            <a:avLst/>
          </a:prstGeom>
          <a:solidFill>
            <a:srgbClr val="C08A2E"/>
          </a:solidFill>
          <a:ln w="12700">
            <a:solidFill>
              <a:srgbClr val="C08A2E"/>
            </a:solidFill>
            <a:prstDash val="solid"/>
          </a:ln>
        </p:spPr>
      </p:sp>
      <p:sp>
        <p:nvSpPr>
          <p:cNvPr id="20" name="Text 18"/>
          <p:cNvSpPr txBox="1"/>
          <p:nvPr/>
        </p:nvSpPr>
        <p:spPr>
          <a:xfrm>
            <a:off x="1051560" y="4224528"/>
            <a:ext cx="2880360" cy="329184"/>
          </a:xfrm>
          <a:prstGeom prst="rect">
            <a:avLst/>
          </a:prstGeom>
          <a:noFill/>
          <a:ln/>
        </p:spPr>
        <p:txBody>
          <a:bodyPr wrap="square" lIns="0" tIns="0" rIns="0" bIns="0" rtlCol="0" anchor="ctr"/>
          <a:lstStyle/>
          <a:p>
            <a:pPr indent="0" marL="0">
              <a:buNone/>
            </a:pPr>
            <a:r>
              <a:rPr lang="en-US" sz="1400" b="1" dirty="0">
                <a:solidFill>
                  <a:srgbClr val="2B2124"/>
                </a:solidFill>
                <a:latin typeface="Calibri" pitchFamily="34" charset="0"/>
                <a:ea typeface="Calibri" pitchFamily="34" charset="-122"/>
                <a:cs typeface="Calibri" pitchFamily="34" charset="-120"/>
              </a:rPr>
              <a:t>Reproducibility</a:t>
            </a:r>
            <a:endParaRPr lang="en-US" sz="1400" dirty="0"/>
          </a:p>
        </p:txBody>
      </p:sp>
      <p:sp>
        <p:nvSpPr>
          <p:cNvPr id="21" name="Text 19"/>
          <p:cNvSpPr txBox="1"/>
          <p:nvPr/>
        </p:nvSpPr>
        <p:spPr>
          <a:xfrm>
            <a:off x="804672" y="4663440"/>
            <a:ext cx="3099816" cy="960120"/>
          </a:xfrm>
          <a:prstGeom prst="rect">
            <a:avLst/>
          </a:prstGeom>
          <a:noFill/>
          <a:ln/>
        </p:spPr>
        <p:txBody>
          <a:bodyPr wrap="square" lIns="0" tIns="0" rIns="0" bIns="0" rtlCol="0" anchor="ctr"/>
          <a:lstStyle/>
          <a:p>
            <a:pPr indent="0" marL="0">
              <a:buNone/>
            </a:pPr>
            <a:r>
              <a:rPr lang="en-US" sz="1100" dirty="0">
                <a:solidFill>
                  <a:srgbClr val="6B5C60"/>
                </a:solidFill>
                <a:latin typeface="Calibri" pitchFamily="34" charset="0"/>
                <a:ea typeface="Calibri" pitchFamily="34" charset="-122"/>
                <a:cs typeface="Calibri" pitchFamily="34" charset="-120"/>
              </a:rPr>
              <a:t>Fixed seeds, preprocessing fitted on training data only, complete fitted pipeline persisted with joblib.</a:t>
            </a:r>
            <a:endParaRPr lang="en-US" sz="1100" dirty="0"/>
          </a:p>
        </p:txBody>
      </p:sp>
      <p:sp>
        <p:nvSpPr>
          <p:cNvPr id="22" name="Shape 20"/>
          <p:cNvSpPr/>
          <p:nvPr/>
        </p:nvSpPr>
        <p:spPr>
          <a:xfrm>
            <a:off x="4480560" y="4059936"/>
            <a:ext cx="3611880" cy="1691640"/>
          </a:xfrm>
          <a:prstGeom prst="roundRect">
            <a:avLst>
              <a:gd name="adj" fmla="val 5405"/>
            </a:avLst>
          </a:prstGeom>
          <a:solidFill>
            <a:srgbClr val="F7F2EA"/>
          </a:solidFill>
          <a:ln w="12700">
            <a:solidFill>
              <a:srgbClr val="ECE2D0"/>
            </a:solidFill>
            <a:prstDash val="solid"/>
          </a:ln>
          <a:effectLst>
            <a:outerShdw sx="100000" sy="100000" kx="0" ky="0" algn="bl" rotWithShape="0" blurRad="101600" dist="12700" dir="5400000">
              <a:srgbClr val="000000">
                <a:alpha val="8000"/>
              </a:srgbClr>
            </a:outerShdw>
          </a:effectLst>
        </p:spPr>
      </p:sp>
      <p:sp>
        <p:nvSpPr>
          <p:cNvPr id="23" name="Shape 21"/>
          <p:cNvSpPr/>
          <p:nvPr/>
        </p:nvSpPr>
        <p:spPr>
          <a:xfrm>
            <a:off x="4736592" y="4315968"/>
            <a:ext cx="146304" cy="146304"/>
          </a:xfrm>
          <a:prstGeom prst="ellipse">
            <a:avLst/>
          </a:prstGeom>
          <a:solidFill>
            <a:srgbClr val="C08A2E"/>
          </a:solidFill>
          <a:ln w="12700">
            <a:solidFill>
              <a:srgbClr val="C08A2E"/>
            </a:solidFill>
            <a:prstDash val="solid"/>
          </a:ln>
        </p:spPr>
      </p:sp>
      <p:sp>
        <p:nvSpPr>
          <p:cNvPr id="24" name="Text 22"/>
          <p:cNvSpPr txBox="1"/>
          <p:nvPr/>
        </p:nvSpPr>
        <p:spPr>
          <a:xfrm>
            <a:off x="4983480" y="4224528"/>
            <a:ext cx="2880360" cy="329184"/>
          </a:xfrm>
          <a:prstGeom prst="rect">
            <a:avLst/>
          </a:prstGeom>
          <a:noFill/>
          <a:ln/>
        </p:spPr>
        <p:txBody>
          <a:bodyPr wrap="square" lIns="0" tIns="0" rIns="0" bIns="0" rtlCol="0" anchor="ctr"/>
          <a:lstStyle/>
          <a:p>
            <a:pPr indent="0" marL="0">
              <a:buNone/>
            </a:pPr>
            <a:r>
              <a:rPr lang="en-US" sz="1400" b="1" dirty="0">
                <a:solidFill>
                  <a:srgbClr val="2B2124"/>
                </a:solidFill>
                <a:latin typeface="Calibri" pitchFamily="34" charset="0"/>
                <a:ea typeface="Calibri" pitchFamily="34" charset="-122"/>
                <a:cs typeface="Calibri" pitchFamily="34" charset="-120"/>
              </a:rPr>
              <a:t>Scale path</a:t>
            </a:r>
            <a:endParaRPr lang="en-US" sz="1400" dirty="0"/>
          </a:p>
        </p:txBody>
      </p:sp>
      <p:sp>
        <p:nvSpPr>
          <p:cNvPr id="25" name="Text 23"/>
          <p:cNvSpPr txBox="1"/>
          <p:nvPr/>
        </p:nvSpPr>
        <p:spPr>
          <a:xfrm>
            <a:off x="4736592" y="4663440"/>
            <a:ext cx="3099816" cy="960120"/>
          </a:xfrm>
          <a:prstGeom prst="rect">
            <a:avLst/>
          </a:prstGeom>
          <a:noFill/>
          <a:ln/>
        </p:spPr>
        <p:txBody>
          <a:bodyPr wrap="square" lIns="0" tIns="0" rIns="0" bIns="0" rtlCol="0" anchor="ctr"/>
          <a:lstStyle/>
          <a:p>
            <a:pPr indent="0" marL="0">
              <a:buNone/>
            </a:pPr>
            <a:r>
              <a:rPr lang="en-US" sz="1100" dirty="0">
                <a:solidFill>
                  <a:srgbClr val="6B5C60"/>
                </a:solidFill>
                <a:latin typeface="Calibri" pitchFamily="34" charset="0"/>
                <a:ea typeface="Calibri" pitchFamily="34" charset="-122"/>
                <a:cs typeface="Calibri" pitchFamily="34" charset="-120"/>
              </a:rPr>
              <a:t>A Spark aggregation path sits alongside the pandas pipeline for when the transaction log outgrows a single machine.</a:t>
            </a:r>
            <a:endParaRPr lang="en-US" sz="1100" dirty="0"/>
          </a:p>
        </p:txBody>
      </p:sp>
      <p:sp>
        <p:nvSpPr>
          <p:cNvPr id="26" name="Shape 24"/>
          <p:cNvSpPr/>
          <p:nvPr/>
        </p:nvSpPr>
        <p:spPr>
          <a:xfrm>
            <a:off x="8412480" y="4059936"/>
            <a:ext cx="3611880" cy="1691640"/>
          </a:xfrm>
          <a:prstGeom prst="roundRect">
            <a:avLst>
              <a:gd name="adj" fmla="val 5405"/>
            </a:avLst>
          </a:prstGeom>
          <a:solidFill>
            <a:srgbClr val="F7F2EA"/>
          </a:solidFill>
          <a:ln w="12700">
            <a:solidFill>
              <a:srgbClr val="ECE2D0"/>
            </a:solidFill>
            <a:prstDash val="solid"/>
          </a:ln>
          <a:effectLst>
            <a:outerShdw sx="100000" sy="100000" kx="0" ky="0" algn="bl" rotWithShape="0" blurRad="101600" dist="12700" dir="5400000">
              <a:srgbClr val="000000">
                <a:alpha val="8000"/>
              </a:srgbClr>
            </a:outerShdw>
          </a:effectLst>
        </p:spPr>
      </p:sp>
      <p:sp>
        <p:nvSpPr>
          <p:cNvPr id="27" name="Shape 25"/>
          <p:cNvSpPr/>
          <p:nvPr/>
        </p:nvSpPr>
        <p:spPr>
          <a:xfrm>
            <a:off x="8668512" y="4315968"/>
            <a:ext cx="146304" cy="146304"/>
          </a:xfrm>
          <a:prstGeom prst="ellipse">
            <a:avLst/>
          </a:prstGeom>
          <a:solidFill>
            <a:srgbClr val="C08A2E"/>
          </a:solidFill>
          <a:ln w="12700">
            <a:solidFill>
              <a:srgbClr val="C08A2E"/>
            </a:solidFill>
            <a:prstDash val="solid"/>
          </a:ln>
        </p:spPr>
      </p:sp>
      <p:sp>
        <p:nvSpPr>
          <p:cNvPr id="28" name="Text 26"/>
          <p:cNvSpPr txBox="1"/>
          <p:nvPr/>
        </p:nvSpPr>
        <p:spPr>
          <a:xfrm>
            <a:off x="8915400" y="4224528"/>
            <a:ext cx="2880360" cy="329184"/>
          </a:xfrm>
          <a:prstGeom prst="rect">
            <a:avLst/>
          </a:prstGeom>
          <a:noFill/>
          <a:ln/>
        </p:spPr>
        <p:txBody>
          <a:bodyPr wrap="square" lIns="0" tIns="0" rIns="0" bIns="0" rtlCol="0" anchor="ctr"/>
          <a:lstStyle/>
          <a:p>
            <a:pPr indent="0" marL="0">
              <a:buNone/>
            </a:pPr>
            <a:r>
              <a:rPr lang="en-US" sz="1400" b="1" dirty="0">
                <a:solidFill>
                  <a:srgbClr val="2B2124"/>
                </a:solidFill>
                <a:latin typeface="Calibri" pitchFamily="34" charset="0"/>
                <a:ea typeface="Calibri" pitchFamily="34" charset="-122"/>
                <a:cs typeface="Calibri" pitchFamily="34" charset="-120"/>
              </a:rPr>
              <a:t>Documented data</a:t>
            </a:r>
            <a:endParaRPr lang="en-US" sz="1400" dirty="0"/>
          </a:p>
        </p:txBody>
      </p:sp>
      <p:sp>
        <p:nvSpPr>
          <p:cNvPr id="29" name="Text 27"/>
          <p:cNvSpPr txBox="1"/>
          <p:nvPr/>
        </p:nvSpPr>
        <p:spPr>
          <a:xfrm>
            <a:off x="8668512" y="4663440"/>
            <a:ext cx="3099816" cy="960120"/>
          </a:xfrm>
          <a:prstGeom prst="rect">
            <a:avLst/>
          </a:prstGeom>
          <a:noFill/>
          <a:ln/>
        </p:spPr>
        <p:txBody>
          <a:bodyPr wrap="square" lIns="0" tIns="0" rIns="0" bIns="0" rtlCol="0" anchor="ctr"/>
          <a:lstStyle/>
          <a:p>
            <a:pPr indent="0" marL="0">
              <a:buNone/>
            </a:pPr>
            <a:r>
              <a:rPr lang="en-US" sz="1100" dirty="0">
                <a:solidFill>
                  <a:srgbClr val="6B5C60"/>
                </a:solidFill>
                <a:latin typeface="Calibri" pitchFamily="34" charset="0"/>
                <a:ea typeface="Calibri" pitchFamily="34" charset="-122"/>
                <a:cs typeface="Calibri" pitchFamily="34" charset="-120"/>
              </a:rPr>
              <a:t>A generated data dictionary and a quality report ship with every rebuild of the processed tables.</a:t>
            </a:r>
            <a:endParaRPr lang="en-US" sz="1100" dirty="0"/>
          </a:p>
        </p:txBody>
      </p:sp>
      <p:sp>
        <p:nvSpPr>
          <p:cNvPr id="31" name="Text 28"/>
          <p:cNvSpPr txBox="1"/>
          <p:nvPr/>
        </p:nvSpPr>
        <p:spPr>
          <a:xfrm>
            <a:off x="548640" y="6236208"/>
            <a:ext cx="5486400" cy="274320"/>
          </a:xfrm>
          <a:prstGeom prst="rect">
            <a:avLst/>
          </a:prstGeom>
          <a:noFill/>
          <a:ln/>
        </p:spPr>
        <p:txBody>
          <a:bodyPr wrap="square" lIns="0" tIns="0" rIns="0" bIns="0" rtlCol="0" anchor="ctr"/>
          <a:lstStyle/>
          <a:p>
            <a:pPr indent="0" marL="0">
              <a:buNone/>
            </a:pPr>
            <a:r>
              <a:rPr lang="en-US" sz="950" dirty="0">
                <a:solidFill>
                  <a:srgbClr val="A9989C"/>
                </a:solidFill>
                <a:latin typeface="Calibri" pitchFamily="34" charset="0"/>
                <a:ea typeface="Calibri" pitchFamily="34" charset="-122"/>
                <a:cs typeface="Calibri" pitchFamily="34" charset="-120"/>
              </a:rPr>
              <a:t>Customer 360  ·  Online Retail II</a:t>
            </a:r>
            <a:endParaRPr lang="en-US" sz="950" dirty="0"/>
          </a:p>
        </p:txBody>
      </p:sp>
      <p:sp>
        <p:nvSpPr>
          <p:cNvPr id="32" name="Text 29"/>
          <p:cNvSpPr txBox="1"/>
          <p:nvPr/>
        </p:nvSpPr>
        <p:spPr>
          <a:xfrm>
            <a:off x="10515600" y="6236208"/>
            <a:ext cx="1097280" cy="274320"/>
          </a:xfrm>
          <a:prstGeom prst="rect">
            <a:avLst/>
          </a:prstGeom>
          <a:noFill/>
          <a:ln/>
        </p:spPr>
        <p:txBody>
          <a:bodyPr wrap="square" lIns="0" tIns="0" rIns="0" bIns="0" rtlCol="0" anchor="ctr"/>
          <a:lstStyle/>
          <a:p>
            <a:pPr algn="r" indent="0" marL="0">
              <a:buNone/>
            </a:pPr>
            <a:r>
              <a:rPr lang="en-US" sz="950" b="1" dirty="0">
                <a:solidFill>
                  <a:srgbClr val="A26769"/>
                </a:solidFill>
                <a:latin typeface="Calibri" pitchFamily="34" charset="0"/>
                <a:ea typeface="Calibri" pitchFamily="34" charset="-122"/>
                <a:cs typeface="Calibri" pitchFamily="34" charset="-120"/>
              </a:rPr>
              <a:t>16</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43172B"/>
        </a:solidFill>
      </p:bgPr>
    </p:bg>
    <p:spTree>
      <p:nvGrpSpPr>
        <p:cNvPr id="1" name=""/>
        <p:cNvGrpSpPr/>
        <p:nvPr/>
      </p:nvGrpSpPr>
      <p:grpSpPr>
        <a:xfrm>
          <a:off x="0" y="0"/>
          <a:ext cx="0" cy="0"/>
          <a:chOff x="0" y="0"/>
          <a:chExt cx="0" cy="0"/>
        </a:xfrm>
      </p:grpSpPr>
      <p:sp>
        <p:nvSpPr>
          <p:cNvPr id="2" name="Shape 0"/>
          <p:cNvSpPr/>
          <p:nvPr/>
        </p:nvSpPr>
        <p:spPr>
          <a:xfrm>
            <a:off x="548640" y="384048"/>
            <a:ext cx="1810512" cy="274320"/>
          </a:xfrm>
          <a:prstGeom prst="roundRect">
            <a:avLst>
              <a:gd name="adj" fmla="val 46667"/>
            </a:avLst>
          </a:prstGeom>
          <a:solidFill>
            <a:srgbClr val="C08A2E"/>
          </a:solidFill>
          <a:ln w="12700">
            <a:solidFill>
              <a:srgbClr val="C08A2E"/>
            </a:solidFill>
            <a:prstDash val="solid"/>
          </a:ln>
        </p:spPr>
      </p:sp>
      <p:sp>
        <p:nvSpPr>
          <p:cNvPr id="3" name="Text 1"/>
          <p:cNvSpPr txBox="1"/>
          <p:nvPr/>
        </p:nvSpPr>
        <p:spPr>
          <a:xfrm>
            <a:off x="548640" y="384048"/>
            <a:ext cx="1810512" cy="274320"/>
          </a:xfrm>
          <a:prstGeom prst="rect">
            <a:avLst/>
          </a:prstGeom>
          <a:noFill/>
          <a:ln/>
        </p:spPr>
        <p:txBody>
          <a:bodyPr wrap="square" lIns="0" tIns="0" rIns="0" bIns="0" rtlCol="0" anchor="ctr"/>
          <a:lstStyle/>
          <a:p>
            <a:pPr algn="ctr" indent="0" marL="0">
              <a:buNone/>
            </a:pPr>
            <a:r>
              <a:rPr lang="en-US" sz="1050" b="1" spc="120" kern="0" dirty="0">
                <a:solidFill>
                  <a:srgbClr val="6D2E46"/>
                </a:solidFill>
                <a:latin typeface="Calibri" pitchFamily="34" charset="0"/>
                <a:ea typeface="Calibri" pitchFamily="34" charset="-122"/>
                <a:cs typeface="Calibri" pitchFamily="34" charset="-120"/>
              </a:rPr>
              <a:t>WHERE THIS GOES NEXT</a:t>
            </a:r>
            <a:endParaRPr lang="en-US" sz="1050" dirty="0"/>
          </a:p>
        </p:txBody>
      </p:sp>
      <p:sp>
        <p:nvSpPr>
          <p:cNvPr id="4" name="Text 2"/>
          <p:cNvSpPr txBox="1"/>
          <p:nvPr/>
        </p:nvSpPr>
        <p:spPr>
          <a:xfrm>
            <a:off x="548640" y="749808"/>
            <a:ext cx="11064240" cy="658368"/>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What the analysis says to do</a:t>
            </a:r>
            <a:endParaRPr lang="en-US" sz="3200" dirty="0"/>
          </a:p>
        </p:txBody>
      </p:sp>
      <p:sp>
        <p:nvSpPr>
          <p:cNvPr id="5" name="Text 3"/>
          <p:cNvSpPr txBox="1"/>
          <p:nvPr/>
        </p:nvSpPr>
        <p:spPr>
          <a:xfrm>
            <a:off x="548640" y="1783080"/>
            <a:ext cx="640080" cy="411480"/>
          </a:xfrm>
          <a:prstGeom prst="rect">
            <a:avLst/>
          </a:prstGeom>
          <a:noFill/>
          <a:ln/>
        </p:spPr>
        <p:txBody>
          <a:bodyPr wrap="square" lIns="0" tIns="0" rIns="0" bIns="0" rtlCol="0" anchor="ctr"/>
          <a:lstStyle/>
          <a:p>
            <a:pPr indent="0" marL="0">
              <a:buNone/>
            </a:pPr>
            <a:r>
              <a:rPr lang="en-US" sz="2000" b="1" dirty="0">
                <a:solidFill>
                  <a:srgbClr val="C08A2E"/>
                </a:solidFill>
                <a:latin typeface="Cambria" pitchFamily="34" charset="0"/>
                <a:ea typeface="Cambria" pitchFamily="34" charset="-122"/>
                <a:cs typeface="Cambria" pitchFamily="34" charset="-120"/>
              </a:rPr>
              <a:t>01</a:t>
            </a:r>
            <a:endParaRPr lang="en-US" sz="2000" dirty="0"/>
          </a:p>
        </p:txBody>
      </p:sp>
      <p:sp>
        <p:nvSpPr>
          <p:cNvPr id="6" name="Text 4"/>
          <p:cNvSpPr txBox="1"/>
          <p:nvPr/>
        </p:nvSpPr>
        <p:spPr>
          <a:xfrm>
            <a:off x="1280160" y="1764792"/>
            <a:ext cx="484632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Defend the active core</a:t>
            </a:r>
            <a:endParaRPr lang="en-US" sz="1500" dirty="0"/>
          </a:p>
        </p:txBody>
      </p:sp>
      <p:sp>
        <p:nvSpPr>
          <p:cNvPr id="7" name="Text 5"/>
          <p:cNvSpPr txBox="1"/>
          <p:nvPr/>
        </p:nvSpPr>
        <p:spPr>
          <a:xfrm>
            <a:off x="1280160" y="2084832"/>
            <a:ext cx="4846320" cy="566928"/>
          </a:xfrm>
          <a:prstGeom prst="rect">
            <a:avLst/>
          </a:prstGeom>
          <a:noFill/>
          <a:ln/>
        </p:spPr>
        <p:txBody>
          <a:bodyPr wrap="square" lIns="0" tIns="0" rIns="0" bIns="0" rtlCol="0" anchor="ctr"/>
          <a:lstStyle/>
          <a:p>
            <a:pPr indent="0" marL="0">
              <a:buNone/>
            </a:pPr>
            <a:r>
              <a:rPr lang="en-US" sz="1150" dirty="0">
                <a:solidFill>
                  <a:srgbClr val="D3ABB1"/>
                </a:solidFill>
                <a:latin typeface="Calibri" pitchFamily="34" charset="0"/>
                <a:ea typeface="Calibri" pitchFamily="34" charset="-122"/>
                <a:cs typeface="Calibri" pitchFamily="34" charset="-120"/>
              </a:rPr>
              <a:t>2,316 customers carry the repeat revenue. Recency-triggered contact is the highest-leverage lever available.</a:t>
            </a:r>
            <a:endParaRPr lang="en-US" sz="1150" dirty="0"/>
          </a:p>
        </p:txBody>
      </p:sp>
      <p:sp>
        <p:nvSpPr>
          <p:cNvPr id="8" name="Text 6"/>
          <p:cNvSpPr txBox="1"/>
          <p:nvPr/>
        </p:nvSpPr>
        <p:spPr>
          <a:xfrm>
            <a:off x="548640" y="2679192"/>
            <a:ext cx="640080" cy="411480"/>
          </a:xfrm>
          <a:prstGeom prst="rect">
            <a:avLst/>
          </a:prstGeom>
          <a:noFill/>
          <a:ln/>
        </p:spPr>
        <p:txBody>
          <a:bodyPr wrap="square" lIns="0" tIns="0" rIns="0" bIns="0" rtlCol="0" anchor="ctr"/>
          <a:lstStyle/>
          <a:p>
            <a:pPr indent="0" marL="0">
              <a:buNone/>
            </a:pPr>
            <a:r>
              <a:rPr lang="en-US" sz="2000" b="1" dirty="0">
                <a:solidFill>
                  <a:srgbClr val="C08A2E"/>
                </a:solidFill>
                <a:latin typeface="Cambria" pitchFamily="34" charset="0"/>
                <a:ea typeface="Cambria" pitchFamily="34" charset="-122"/>
                <a:cs typeface="Cambria" pitchFamily="34" charset="-120"/>
              </a:rPr>
              <a:t>02</a:t>
            </a:r>
            <a:endParaRPr lang="en-US" sz="2000" dirty="0"/>
          </a:p>
        </p:txBody>
      </p:sp>
      <p:sp>
        <p:nvSpPr>
          <p:cNvPr id="9" name="Text 7"/>
          <p:cNvSpPr txBox="1"/>
          <p:nvPr/>
        </p:nvSpPr>
        <p:spPr>
          <a:xfrm>
            <a:off x="1280160" y="2660904"/>
            <a:ext cx="484632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Reactivate on silence, not on calendar</a:t>
            </a:r>
            <a:endParaRPr lang="en-US" sz="1500" dirty="0"/>
          </a:p>
        </p:txBody>
      </p:sp>
      <p:sp>
        <p:nvSpPr>
          <p:cNvPr id="10" name="Text 8"/>
          <p:cNvSpPr txBox="1"/>
          <p:nvPr/>
        </p:nvSpPr>
        <p:spPr>
          <a:xfrm>
            <a:off x="1280160" y="2980944"/>
            <a:ext cx="4846320" cy="566928"/>
          </a:xfrm>
          <a:prstGeom prst="rect">
            <a:avLst/>
          </a:prstGeom>
          <a:noFill/>
          <a:ln/>
        </p:spPr>
        <p:txBody>
          <a:bodyPr wrap="square" lIns="0" tIns="0" rIns="0" bIns="0" rtlCol="0" anchor="ctr"/>
          <a:lstStyle/>
          <a:p>
            <a:pPr indent="0" marL="0">
              <a:buNone/>
            </a:pPr>
            <a:r>
              <a:rPr lang="en-US" sz="1150" dirty="0">
                <a:solidFill>
                  <a:srgbClr val="D3ABB1"/>
                </a:solidFill>
                <a:latin typeface="Calibri" pitchFamily="34" charset="0"/>
                <a:ea typeface="Calibri" pitchFamily="34" charset="-122"/>
                <a:cs typeface="Calibri" pitchFamily="34" charset="-120"/>
              </a:rPr>
              <a:t>Days since last order drives 60% of the churn prediction. Trigger outreach off that clock.</a:t>
            </a:r>
            <a:endParaRPr lang="en-US" sz="1150" dirty="0"/>
          </a:p>
        </p:txBody>
      </p:sp>
      <p:sp>
        <p:nvSpPr>
          <p:cNvPr id="11" name="Text 9"/>
          <p:cNvSpPr txBox="1"/>
          <p:nvPr/>
        </p:nvSpPr>
        <p:spPr>
          <a:xfrm>
            <a:off x="548640" y="3575304"/>
            <a:ext cx="640080" cy="411480"/>
          </a:xfrm>
          <a:prstGeom prst="rect">
            <a:avLst/>
          </a:prstGeom>
          <a:noFill/>
          <a:ln/>
        </p:spPr>
        <p:txBody>
          <a:bodyPr wrap="square" lIns="0" tIns="0" rIns="0" bIns="0" rtlCol="0" anchor="ctr"/>
          <a:lstStyle/>
          <a:p>
            <a:pPr indent="0" marL="0">
              <a:buNone/>
            </a:pPr>
            <a:r>
              <a:rPr lang="en-US" sz="2000" b="1" dirty="0">
                <a:solidFill>
                  <a:srgbClr val="C08A2E"/>
                </a:solidFill>
                <a:latin typeface="Cambria" pitchFamily="34" charset="0"/>
                <a:ea typeface="Cambria" pitchFamily="34" charset="-122"/>
                <a:cs typeface="Cambria" pitchFamily="34" charset="-120"/>
              </a:rPr>
              <a:t>03</a:t>
            </a:r>
            <a:endParaRPr lang="en-US" sz="2000" dirty="0"/>
          </a:p>
        </p:txBody>
      </p:sp>
      <p:sp>
        <p:nvSpPr>
          <p:cNvPr id="12" name="Text 10"/>
          <p:cNvSpPr txBox="1"/>
          <p:nvPr/>
        </p:nvSpPr>
        <p:spPr>
          <a:xfrm>
            <a:off x="1280160" y="3557016"/>
            <a:ext cx="484632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Ship the sequence recommender first</a:t>
            </a:r>
            <a:endParaRPr lang="en-US" sz="1500" dirty="0"/>
          </a:p>
        </p:txBody>
      </p:sp>
      <p:sp>
        <p:nvSpPr>
          <p:cNvPr id="13" name="Text 11"/>
          <p:cNvSpPr txBox="1"/>
          <p:nvPr/>
        </p:nvSpPr>
        <p:spPr>
          <a:xfrm>
            <a:off x="1280160" y="3877056"/>
            <a:ext cx="4846320" cy="566928"/>
          </a:xfrm>
          <a:prstGeom prst="rect">
            <a:avLst/>
          </a:prstGeom>
          <a:noFill/>
          <a:ln/>
        </p:spPr>
        <p:txBody>
          <a:bodyPr wrap="square" lIns="0" tIns="0" rIns="0" bIns="0" rtlCol="0" anchor="ctr"/>
          <a:lstStyle/>
          <a:p>
            <a:pPr indent="0" marL="0">
              <a:buNone/>
            </a:pPr>
            <a:r>
              <a:rPr lang="en-US" sz="1150" dirty="0">
                <a:solidFill>
                  <a:srgbClr val="D3ABB1"/>
                </a:solidFill>
                <a:latin typeface="Calibri" pitchFamily="34" charset="0"/>
                <a:ea typeface="Calibri" pitchFamily="34" charset="-122"/>
                <a:cs typeface="Calibri" pitchFamily="34" charset="-120"/>
              </a:rPr>
              <a:t>29.8% Hit Rate@10 against 10.2% for the classical baseline — the clearest performance gap in the project.</a:t>
            </a:r>
            <a:endParaRPr lang="en-US" sz="1150" dirty="0"/>
          </a:p>
        </p:txBody>
      </p:sp>
      <p:sp>
        <p:nvSpPr>
          <p:cNvPr id="14" name="Text 12"/>
          <p:cNvSpPr txBox="1"/>
          <p:nvPr/>
        </p:nvSpPr>
        <p:spPr>
          <a:xfrm>
            <a:off x="548640" y="4471416"/>
            <a:ext cx="640080" cy="411480"/>
          </a:xfrm>
          <a:prstGeom prst="rect">
            <a:avLst/>
          </a:prstGeom>
          <a:noFill/>
          <a:ln/>
        </p:spPr>
        <p:txBody>
          <a:bodyPr wrap="square" lIns="0" tIns="0" rIns="0" bIns="0" rtlCol="0" anchor="ctr"/>
          <a:lstStyle/>
          <a:p>
            <a:pPr indent="0" marL="0">
              <a:buNone/>
            </a:pPr>
            <a:r>
              <a:rPr lang="en-US" sz="2000" b="1" dirty="0">
                <a:solidFill>
                  <a:srgbClr val="C08A2E"/>
                </a:solidFill>
                <a:latin typeface="Cambria" pitchFamily="34" charset="0"/>
                <a:ea typeface="Cambria" pitchFamily="34" charset="-122"/>
                <a:cs typeface="Cambria" pitchFamily="34" charset="-120"/>
              </a:rPr>
              <a:t>04</a:t>
            </a:r>
            <a:endParaRPr lang="en-US" sz="2000" dirty="0"/>
          </a:p>
        </p:txBody>
      </p:sp>
      <p:sp>
        <p:nvSpPr>
          <p:cNvPr id="15" name="Text 13"/>
          <p:cNvSpPr txBox="1"/>
          <p:nvPr/>
        </p:nvSpPr>
        <p:spPr>
          <a:xfrm>
            <a:off x="1280160" y="4453128"/>
            <a:ext cx="484632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Bundle the sets</a:t>
            </a:r>
            <a:endParaRPr lang="en-US" sz="1500" dirty="0"/>
          </a:p>
        </p:txBody>
      </p:sp>
      <p:sp>
        <p:nvSpPr>
          <p:cNvPr id="16" name="Text 14"/>
          <p:cNvSpPr txBox="1"/>
          <p:nvPr/>
        </p:nvSpPr>
        <p:spPr>
          <a:xfrm>
            <a:off x="1280160" y="4773168"/>
            <a:ext cx="4846320" cy="566928"/>
          </a:xfrm>
          <a:prstGeom prst="rect">
            <a:avLst/>
          </a:prstGeom>
          <a:noFill/>
          <a:ln/>
        </p:spPr>
        <p:txBody>
          <a:bodyPr wrap="square" lIns="0" tIns="0" rIns="0" bIns="0" rtlCol="0" anchor="ctr"/>
          <a:lstStyle/>
          <a:p>
            <a:pPr indent="0" marL="0">
              <a:buNone/>
            </a:pPr>
            <a:r>
              <a:rPr lang="en-US" sz="1150" dirty="0">
                <a:solidFill>
                  <a:srgbClr val="D3ABB1"/>
                </a:solidFill>
                <a:latin typeface="Calibri" pitchFamily="34" charset="0"/>
                <a:ea typeface="Calibri" pitchFamily="34" charset="-122"/>
                <a:cs typeface="Calibri" pitchFamily="34" charset="-120"/>
              </a:rPr>
              <a:t>Variant families show confidence up to 84.5%. Buying one variant strongly predicts returning for the rest.</a:t>
            </a:r>
            <a:endParaRPr lang="en-US" sz="1150" dirty="0"/>
          </a:p>
        </p:txBody>
      </p:sp>
      <p:sp>
        <p:nvSpPr>
          <p:cNvPr id="17" name="Text 15"/>
          <p:cNvSpPr txBox="1"/>
          <p:nvPr/>
        </p:nvSpPr>
        <p:spPr>
          <a:xfrm>
            <a:off x="548640" y="5367528"/>
            <a:ext cx="640080" cy="411480"/>
          </a:xfrm>
          <a:prstGeom prst="rect">
            <a:avLst/>
          </a:prstGeom>
          <a:noFill/>
          <a:ln/>
        </p:spPr>
        <p:txBody>
          <a:bodyPr wrap="square" lIns="0" tIns="0" rIns="0" bIns="0" rtlCol="0" anchor="ctr"/>
          <a:lstStyle/>
          <a:p>
            <a:pPr indent="0" marL="0">
              <a:buNone/>
            </a:pPr>
            <a:r>
              <a:rPr lang="en-US" sz="2000" b="1" dirty="0">
                <a:solidFill>
                  <a:srgbClr val="C08A2E"/>
                </a:solidFill>
                <a:latin typeface="Cambria" pitchFamily="34" charset="0"/>
                <a:ea typeface="Cambria" pitchFamily="34" charset="-122"/>
                <a:cs typeface="Cambria" pitchFamily="34" charset="-120"/>
              </a:rPr>
              <a:t>05</a:t>
            </a:r>
            <a:endParaRPr lang="en-US" sz="2000" dirty="0"/>
          </a:p>
        </p:txBody>
      </p:sp>
      <p:sp>
        <p:nvSpPr>
          <p:cNvPr id="18" name="Text 16"/>
          <p:cNvSpPr txBox="1"/>
          <p:nvPr/>
        </p:nvSpPr>
        <p:spPr>
          <a:xfrm>
            <a:off x="1280160" y="5349240"/>
            <a:ext cx="484632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Reduce concentration risk</a:t>
            </a:r>
            <a:endParaRPr lang="en-US" sz="1500" dirty="0"/>
          </a:p>
        </p:txBody>
      </p:sp>
      <p:sp>
        <p:nvSpPr>
          <p:cNvPr id="19" name="Text 17"/>
          <p:cNvSpPr txBox="1"/>
          <p:nvPr/>
        </p:nvSpPr>
        <p:spPr>
          <a:xfrm>
            <a:off x="1280160" y="5669280"/>
            <a:ext cx="4846320" cy="566928"/>
          </a:xfrm>
          <a:prstGeom prst="rect">
            <a:avLst/>
          </a:prstGeom>
          <a:noFill/>
          <a:ln/>
        </p:spPr>
        <p:txBody>
          <a:bodyPr wrap="square" lIns="0" tIns="0" rIns="0" bIns="0" rtlCol="0" anchor="ctr"/>
          <a:lstStyle/>
          <a:p>
            <a:pPr indent="0" marL="0">
              <a:buNone/>
            </a:pPr>
            <a:r>
              <a:rPr lang="en-US" sz="1150" dirty="0">
                <a:solidFill>
                  <a:srgbClr val="D3ABB1"/>
                </a:solidFill>
                <a:latin typeface="Calibri" pitchFamily="34" charset="0"/>
                <a:ea typeface="Calibri" pitchFamily="34" charset="-122"/>
                <a:cs typeface="Calibri" pitchFamily="34" charset="-120"/>
              </a:rPr>
              <a:t>84.8% of revenue is UK-only; EIRE and the Netherlands already convert at high value per account.</a:t>
            </a:r>
            <a:endParaRPr lang="en-US" sz="1150" dirty="0"/>
          </a:p>
        </p:txBody>
      </p:sp>
      <p:sp>
        <p:nvSpPr>
          <p:cNvPr id="20" name="Shape 18"/>
          <p:cNvSpPr/>
          <p:nvPr/>
        </p:nvSpPr>
        <p:spPr>
          <a:xfrm>
            <a:off x="6720840" y="1965960"/>
            <a:ext cx="4892040" cy="1828800"/>
          </a:xfrm>
          <a:prstGeom prst="roundRect">
            <a:avLst>
              <a:gd name="adj" fmla="val 5000"/>
            </a:avLst>
          </a:prstGeom>
          <a:solidFill>
            <a:srgbClr val="C08A2E"/>
          </a:solidFill>
          <a:ln w="12700">
            <a:solidFill>
              <a:srgbClr val="C08A2E"/>
            </a:solidFill>
            <a:prstDash val="solid"/>
          </a:ln>
        </p:spPr>
      </p:sp>
      <p:sp>
        <p:nvSpPr>
          <p:cNvPr id="21" name="Text 19"/>
          <p:cNvSpPr txBox="1"/>
          <p:nvPr/>
        </p:nvSpPr>
        <p:spPr>
          <a:xfrm>
            <a:off x="6995160" y="2148840"/>
            <a:ext cx="4297680" cy="274320"/>
          </a:xfrm>
          <a:prstGeom prst="rect">
            <a:avLst/>
          </a:prstGeom>
          <a:noFill/>
          <a:ln/>
        </p:spPr>
        <p:txBody>
          <a:bodyPr wrap="square" lIns="0" tIns="0" rIns="0" bIns="0" rtlCol="0" anchor="ctr"/>
          <a:lstStyle/>
          <a:p>
            <a:pPr indent="0" marL="0">
              <a:buNone/>
            </a:pPr>
            <a:r>
              <a:rPr lang="en-US" sz="1300" b="1" dirty="0">
                <a:solidFill>
                  <a:srgbClr val="43172B"/>
                </a:solidFill>
                <a:latin typeface="Calibri" pitchFamily="34" charset="0"/>
                <a:ea typeface="Calibri" pitchFamily="34" charset="-122"/>
                <a:cs typeface="Calibri" pitchFamily="34" charset="-120"/>
              </a:rPr>
              <a:t>Next steps</a:t>
            </a:r>
            <a:endParaRPr lang="en-US" sz="1300" dirty="0"/>
          </a:p>
        </p:txBody>
      </p:sp>
      <p:sp>
        <p:nvSpPr>
          <p:cNvPr id="22" name="Text 20"/>
          <p:cNvSpPr txBox="1"/>
          <p:nvPr/>
        </p:nvSpPr>
        <p:spPr>
          <a:xfrm>
            <a:off x="6995160" y="2468880"/>
            <a:ext cx="4297680" cy="1097280"/>
          </a:xfrm>
          <a:prstGeom prst="rect">
            <a:avLst/>
          </a:prstGeom>
          <a:noFill/>
          <a:ln/>
        </p:spPr>
        <p:txBody>
          <a:bodyPr wrap="square" lIns="0" tIns="0" rIns="0" bIns="0" rtlCol="0" anchor="ctr"/>
          <a:lstStyle/>
          <a:p>
            <a:pPr indent="0" marL="0">
              <a:buNone/>
            </a:pPr>
            <a:r>
              <a:rPr lang="en-US" sz="1200" dirty="0">
                <a:solidFill>
                  <a:srgbClr val="4A3411"/>
                </a:solidFill>
                <a:latin typeface="Calibri" pitchFamily="34" charset="0"/>
                <a:ea typeface="Calibri" pitchFamily="34" charset="-122"/>
                <a:cs typeface="Calibri" pitchFamily="34" charset="-120"/>
              </a:rPr>
              <a:t>Scale the neural models on a GPU, add price and promotion features to the churn model, and calibrate the decision threshold against real campaign economics.</a:t>
            </a:r>
            <a:endParaRPr lang="en-US" sz="1200" dirty="0"/>
          </a:p>
        </p:txBody>
      </p:sp>
      <p:sp>
        <p:nvSpPr>
          <p:cNvPr id="23" name="Shape 21"/>
          <p:cNvSpPr/>
          <p:nvPr/>
        </p:nvSpPr>
        <p:spPr>
          <a:xfrm>
            <a:off x="6720840" y="3977640"/>
            <a:ext cx="4892040" cy="1828800"/>
          </a:xfrm>
          <a:prstGeom prst="roundRect">
            <a:avLst>
              <a:gd name="adj" fmla="val 5000"/>
            </a:avLst>
          </a:prstGeom>
          <a:solidFill>
            <a:srgbClr val="5A2539"/>
          </a:solidFill>
          <a:ln w="12700">
            <a:solidFill>
              <a:srgbClr val="5A2539"/>
            </a:solidFill>
            <a:prstDash val="solid"/>
          </a:ln>
        </p:spPr>
      </p:sp>
      <p:sp>
        <p:nvSpPr>
          <p:cNvPr id="24" name="Text 22"/>
          <p:cNvSpPr txBox="1"/>
          <p:nvPr/>
        </p:nvSpPr>
        <p:spPr>
          <a:xfrm>
            <a:off x="6995160" y="4160520"/>
            <a:ext cx="4297680" cy="274320"/>
          </a:xfrm>
          <a:prstGeom prst="rect">
            <a:avLst/>
          </a:prstGeom>
          <a:noFill/>
          <a:ln/>
        </p:spPr>
        <p:txBody>
          <a:bodyPr wrap="square" lIns="0" tIns="0" rIns="0" bIns="0" rtlCol="0" anchor="ctr"/>
          <a:lstStyle/>
          <a:p>
            <a:pPr indent="0" marL="0">
              <a:buNone/>
            </a:pPr>
            <a:r>
              <a:rPr lang="en-US" sz="1300" b="1" dirty="0">
                <a:solidFill>
                  <a:srgbClr val="C08A2E"/>
                </a:solidFill>
                <a:latin typeface="Calibri" pitchFamily="34" charset="0"/>
                <a:ea typeface="Calibri" pitchFamily="34" charset="-122"/>
                <a:cs typeface="Calibri" pitchFamily="34" charset="-120"/>
              </a:rPr>
              <a:t>Known limitations</a:t>
            </a:r>
            <a:endParaRPr lang="en-US" sz="1300" dirty="0"/>
          </a:p>
        </p:txBody>
      </p:sp>
      <p:sp>
        <p:nvSpPr>
          <p:cNvPr id="25" name="Text 23"/>
          <p:cNvSpPr txBox="1"/>
          <p:nvPr/>
        </p:nvSpPr>
        <p:spPr>
          <a:xfrm>
            <a:off x="6995160" y="4480560"/>
            <a:ext cx="4297680" cy="1188720"/>
          </a:xfrm>
          <a:prstGeom prst="rect">
            <a:avLst/>
          </a:prstGeom>
          <a:noFill/>
          <a:ln/>
        </p:spPr>
        <p:txBody>
          <a:bodyPr wrap="square" lIns="0" tIns="0" rIns="0" bIns="0" rtlCol="0" anchor="ctr"/>
          <a:lstStyle/>
          <a:p>
            <a:pPr indent="0" marL="0">
              <a:buNone/>
            </a:pPr>
            <a:r>
              <a:rPr lang="en-US" sz="1200" dirty="0">
                <a:solidFill>
                  <a:srgbClr val="ECE2D0"/>
                </a:solidFill>
                <a:latin typeface="Calibri" pitchFamily="34" charset="0"/>
                <a:ea typeface="Calibri" pitchFamily="34" charset="-122"/>
                <a:cs typeface="Calibri" pitchFamily="34" charset="-120"/>
              </a:rPr>
              <a:t>22.8% of transactions have no customer ID and sit outside every customer model. December 2011 is truncated in the source data. Neural results are from small, CPU-bounded training runs.</a:t>
            </a:r>
            <a:endParaRPr lang="en-US" sz="1200" dirty="0"/>
          </a:p>
        </p:txBody>
      </p:sp>
      <p:sp>
        <p:nvSpPr>
          <p:cNvPr id="27" name="Text 24"/>
          <p:cNvSpPr txBox="1"/>
          <p:nvPr/>
        </p:nvSpPr>
        <p:spPr>
          <a:xfrm>
            <a:off x="548640" y="6236208"/>
            <a:ext cx="5486400" cy="274320"/>
          </a:xfrm>
          <a:prstGeom prst="rect">
            <a:avLst/>
          </a:prstGeom>
          <a:noFill/>
          <a:ln/>
        </p:spPr>
        <p:txBody>
          <a:bodyPr wrap="square" lIns="0" tIns="0" rIns="0" bIns="0" rtlCol="0" anchor="ctr"/>
          <a:lstStyle/>
          <a:p>
            <a:pPr indent="0" marL="0">
              <a:buNone/>
            </a:pPr>
            <a:r>
              <a:rPr lang="en-US" sz="950" dirty="0">
                <a:solidFill>
                  <a:srgbClr val="8B5A6B"/>
                </a:solidFill>
                <a:latin typeface="Calibri" pitchFamily="34" charset="0"/>
                <a:ea typeface="Calibri" pitchFamily="34" charset="-122"/>
                <a:cs typeface="Calibri" pitchFamily="34" charset="-120"/>
              </a:rPr>
              <a:t>Customer 360  ·  Online Retail II</a:t>
            </a:r>
            <a:endParaRPr lang="en-US" sz="950" dirty="0"/>
          </a:p>
        </p:txBody>
      </p:sp>
      <p:sp>
        <p:nvSpPr>
          <p:cNvPr id="28" name="Text 25"/>
          <p:cNvSpPr txBox="1"/>
          <p:nvPr/>
        </p:nvSpPr>
        <p:spPr>
          <a:xfrm>
            <a:off x="10515600" y="6236208"/>
            <a:ext cx="1097280" cy="274320"/>
          </a:xfrm>
          <a:prstGeom prst="rect">
            <a:avLst/>
          </a:prstGeom>
          <a:noFill/>
          <a:ln/>
        </p:spPr>
        <p:txBody>
          <a:bodyPr wrap="square" lIns="0" tIns="0" rIns="0" bIns="0" rtlCol="0" anchor="ctr"/>
          <a:lstStyle/>
          <a:p>
            <a:pPr algn="r" indent="0" marL="0">
              <a:buNone/>
            </a:pPr>
            <a:r>
              <a:rPr lang="en-US" sz="950" b="1" dirty="0">
                <a:solidFill>
                  <a:srgbClr val="C08A2E"/>
                </a:solidFill>
                <a:latin typeface="Calibri" pitchFamily="34" charset="0"/>
                <a:ea typeface="Calibri" pitchFamily="34" charset="-122"/>
                <a:cs typeface="Calibri" pitchFamily="34" charset="-120"/>
              </a:rPr>
              <a:t>17</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360 — Online Retail II</dc:title>
  <dc:subject>PptxGenJS Presentation</dc:subject>
  <dc:creator>Customer 360 Project</dc:creator>
  <cp:lastModifiedBy>Customer 360 Project</cp:lastModifiedBy>
  <cp:revision>1</cp:revision>
  <dcterms:created xsi:type="dcterms:W3CDTF">2026-09-16T16:17:41Z</dcterms:created>
  <dcterms:modified xsi:type="dcterms:W3CDTF">2026-09-16T16:17:41Z</dcterms:modified>
</cp:coreProperties>
</file>